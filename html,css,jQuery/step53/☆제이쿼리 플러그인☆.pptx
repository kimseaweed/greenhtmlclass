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316" r:id="rId2"/>
    <p:sldId id="346" r:id="rId3"/>
    <p:sldId id="347" r:id="rId4"/>
    <p:sldId id="348" r:id="rId5"/>
    <p:sldId id="410" r:id="rId6"/>
    <p:sldId id="405" r:id="rId7"/>
    <p:sldId id="375" r:id="rId8"/>
    <p:sldId id="406" r:id="rId9"/>
    <p:sldId id="407" r:id="rId10"/>
    <p:sldId id="408" r:id="rId11"/>
    <p:sldId id="409" r:id="rId12"/>
    <p:sldId id="326" r:id="rId13"/>
    <p:sldId id="359" r:id="rId14"/>
    <p:sldId id="360" r:id="rId15"/>
    <p:sldId id="383" r:id="rId16"/>
    <p:sldId id="376" r:id="rId17"/>
    <p:sldId id="354" r:id="rId18"/>
    <p:sldId id="350" r:id="rId19"/>
    <p:sldId id="357" r:id="rId20"/>
    <p:sldId id="381" r:id="rId21"/>
    <p:sldId id="358" r:id="rId22"/>
    <p:sldId id="363" r:id="rId23"/>
    <p:sldId id="362" r:id="rId24"/>
    <p:sldId id="361" r:id="rId25"/>
    <p:sldId id="364" r:id="rId26"/>
    <p:sldId id="365" r:id="rId27"/>
    <p:sldId id="351" r:id="rId28"/>
    <p:sldId id="411" r:id="rId29"/>
    <p:sldId id="412" r:id="rId30"/>
    <p:sldId id="355" r:id="rId31"/>
    <p:sldId id="366" r:id="rId32"/>
    <p:sldId id="368" r:id="rId33"/>
    <p:sldId id="367" r:id="rId34"/>
    <p:sldId id="356" r:id="rId35"/>
    <p:sldId id="369" r:id="rId36"/>
    <p:sldId id="370" r:id="rId37"/>
    <p:sldId id="371" r:id="rId38"/>
    <p:sldId id="372" r:id="rId39"/>
    <p:sldId id="373" r:id="rId40"/>
    <p:sldId id="382" r:id="rId41"/>
    <p:sldId id="384" r:id="rId42"/>
    <p:sldId id="385" r:id="rId43"/>
    <p:sldId id="386" r:id="rId44"/>
    <p:sldId id="387" r:id="rId45"/>
    <p:sldId id="388" r:id="rId46"/>
    <p:sldId id="389" r:id="rId47"/>
    <p:sldId id="390" r:id="rId48"/>
    <p:sldId id="391" r:id="rId49"/>
    <p:sldId id="392" r:id="rId50"/>
    <p:sldId id="393" r:id="rId51"/>
    <p:sldId id="394" r:id="rId52"/>
    <p:sldId id="395" r:id="rId53"/>
    <p:sldId id="396" r:id="rId54"/>
    <p:sldId id="397" r:id="rId55"/>
    <p:sldId id="398" r:id="rId56"/>
  </p:sldIdLst>
  <p:sldSz cx="16256000" cy="9652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5684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1pPr>
    <a:lvl2pPr marL="0" marR="0" indent="457200" algn="l" defTabSz="15684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2pPr>
    <a:lvl3pPr marL="0" marR="0" indent="914400" algn="l" defTabSz="15684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3pPr>
    <a:lvl4pPr marL="0" marR="0" indent="1371600" algn="l" defTabSz="15684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4pPr>
    <a:lvl5pPr marL="0" marR="0" indent="1828800" algn="l" defTabSz="15684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5pPr>
    <a:lvl6pPr marL="0" marR="0" indent="0" algn="l" defTabSz="15684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6pPr>
    <a:lvl7pPr marL="0" marR="0" indent="0" algn="l" defTabSz="15684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7pPr>
    <a:lvl8pPr marL="0" marR="0" indent="0" algn="l" defTabSz="15684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8pPr>
    <a:lvl9pPr marL="0" marR="0" indent="0" algn="l" defTabSz="15684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F9F9F9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41" autoAdjust="0"/>
    <p:restoredTop sz="94660"/>
  </p:normalViewPr>
  <p:slideViewPr>
    <p:cSldViewPr>
      <p:cViewPr varScale="1">
        <p:scale>
          <a:sx n="48" d="100"/>
          <a:sy n="48" d="100"/>
        </p:scale>
        <p:origin x="-102" y="-894"/>
      </p:cViewPr>
      <p:guideLst>
        <p:guide orient="horz" pos="3040"/>
        <p:guide pos="5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064"/>
    </p:cViewPr>
  </p:sorterViewPr>
  <p:notesViewPr>
    <p:cSldViewPr>
      <p:cViewPr varScale="1">
        <p:scale>
          <a:sx n="70" d="100"/>
          <a:sy n="70" d="100"/>
        </p:scale>
        <p:origin x="-115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9686E-7ACD-4756-A7C0-6F5C902B1E18}" type="datetimeFigureOut">
              <a:rPr lang="ko-KR" altLang="en-US" smtClean="0"/>
              <a:pPr/>
              <a:t>2019-09-10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71A06-1AED-418A-B51F-7A010DBA55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9608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940254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568450" latinLnBrk="0">
      <a:spcBef>
        <a:spcPts val="500"/>
      </a:spcBef>
      <a:defRPr sz="1600">
        <a:latin typeface="+mj-lt"/>
        <a:ea typeface="+mj-ea"/>
        <a:cs typeface="+mj-cs"/>
        <a:sym typeface="맑은 고딕"/>
      </a:defRPr>
    </a:lvl1pPr>
    <a:lvl2pPr indent="228600" defTabSz="1568450" latinLnBrk="0">
      <a:spcBef>
        <a:spcPts val="500"/>
      </a:spcBef>
      <a:defRPr sz="1600">
        <a:latin typeface="+mj-lt"/>
        <a:ea typeface="+mj-ea"/>
        <a:cs typeface="+mj-cs"/>
        <a:sym typeface="맑은 고딕"/>
      </a:defRPr>
    </a:lvl2pPr>
    <a:lvl3pPr indent="457200" defTabSz="1568450" latinLnBrk="0">
      <a:spcBef>
        <a:spcPts val="500"/>
      </a:spcBef>
      <a:defRPr sz="1600">
        <a:latin typeface="+mj-lt"/>
        <a:ea typeface="+mj-ea"/>
        <a:cs typeface="+mj-cs"/>
        <a:sym typeface="맑은 고딕"/>
      </a:defRPr>
    </a:lvl3pPr>
    <a:lvl4pPr indent="685800" defTabSz="1568450" latinLnBrk="0">
      <a:spcBef>
        <a:spcPts val="500"/>
      </a:spcBef>
      <a:defRPr sz="1600">
        <a:latin typeface="+mj-lt"/>
        <a:ea typeface="+mj-ea"/>
        <a:cs typeface="+mj-cs"/>
        <a:sym typeface="맑은 고딕"/>
      </a:defRPr>
    </a:lvl4pPr>
    <a:lvl5pPr indent="914400" defTabSz="1568450" latinLnBrk="0">
      <a:spcBef>
        <a:spcPts val="500"/>
      </a:spcBef>
      <a:defRPr sz="1600">
        <a:latin typeface="+mj-lt"/>
        <a:ea typeface="+mj-ea"/>
        <a:cs typeface="+mj-cs"/>
        <a:sym typeface="맑은 고딕"/>
      </a:defRPr>
    </a:lvl5pPr>
    <a:lvl6pPr indent="1143000" defTabSz="1568450" latinLnBrk="0">
      <a:spcBef>
        <a:spcPts val="500"/>
      </a:spcBef>
      <a:defRPr sz="1600">
        <a:latin typeface="+mj-lt"/>
        <a:ea typeface="+mj-ea"/>
        <a:cs typeface="+mj-cs"/>
        <a:sym typeface="맑은 고딕"/>
      </a:defRPr>
    </a:lvl6pPr>
    <a:lvl7pPr indent="1371600" defTabSz="1568450" latinLnBrk="0">
      <a:spcBef>
        <a:spcPts val="500"/>
      </a:spcBef>
      <a:defRPr sz="1600">
        <a:latin typeface="+mj-lt"/>
        <a:ea typeface="+mj-ea"/>
        <a:cs typeface="+mj-cs"/>
        <a:sym typeface="맑은 고딕"/>
      </a:defRPr>
    </a:lvl7pPr>
    <a:lvl8pPr indent="1600200" defTabSz="1568450" latinLnBrk="0">
      <a:spcBef>
        <a:spcPts val="500"/>
      </a:spcBef>
      <a:defRPr sz="1600">
        <a:latin typeface="+mj-lt"/>
        <a:ea typeface="+mj-ea"/>
        <a:cs typeface="+mj-cs"/>
        <a:sym typeface="맑은 고딕"/>
      </a:defRPr>
    </a:lvl8pPr>
    <a:lvl9pPr indent="1828800" defTabSz="1568450" latinLnBrk="0">
      <a:spcBef>
        <a:spcPts val="500"/>
      </a:spcBef>
      <a:defRPr sz="1600">
        <a:latin typeface="+mj-lt"/>
        <a:ea typeface="+mj-ea"/>
        <a:cs typeface="+mj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542925" y="685800"/>
            <a:ext cx="577215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812800" y="129587"/>
            <a:ext cx="14630400" cy="2122547"/>
          </a:xfrm>
          <a:prstGeom prst="rect">
            <a:avLst/>
          </a:prstGeom>
          <a:ln w="12700">
            <a:miter lim="400000"/>
          </a:ln>
        </p:spPr>
        <p:txBody>
          <a:bodyPr lIns="73771" tIns="73771" rIns="73771" bIns="73771" anchor="ctr"/>
          <a:lstStyle/>
          <a:p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812800" y="2252133"/>
            <a:ext cx="14630400" cy="7399868"/>
          </a:xfrm>
          <a:prstGeom prst="rect">
            <a:avLst/>
          </a:prstGeom>
          <a:ln w="12700">
            <a:miter lim="400000"/>
          </a:ln>
        </p:spPr>
        <p:txBody>
          <a:bodyPr lIns="73771" tIns="73771" rIns="73771" bIns="73771"/>
          <a:lstStyle/>
          <a:p>
            <a:endParaRPr/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15011543" y="8709071"/>
            <a:ext cx="442770" cy="452345"/>
          </a:xfrm>
          <a:prstGeom prst="rect">
            <a:avLst/>
          </a:prstGeom>
          <a:ln w="12700">
            <a:miter lim="400000"/>
          </a:ln>
        </p:spPr>
        <p:txBody>
          <a:bodyPr wrap="none" lIns="73771" tIns="73771" rIns="73771" bIns="73771" anchor="ctr">
            <a:spAutoFit/>
          </a:bodyPr>
          <a:lstStyle>
            <a:lvl1pPr algn="r">
              <a:defRPr sz="20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5684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0" marR="0" indent="0" algn="ctr" defTabSz="15684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0" marR="0" indent="0" algn="ctr" defTabSz="15684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0" marR="0" indent="0" algn="ctr" defTabSz="15684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0" marR="0" indent="0" algn="ctr" defTabSz="15684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0" marR="0" indent="457200" algn="ctr" defTabSz="15684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0" marR="0" indent="914400" algn="ctr" defTabSz="15684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0" marR="0" indent="1371600" algn="ctr" defTabSz="15684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0" marR="0" indent="1828800" algn="ctr" defTabSz="15684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titleStyle>
    <p:bodyStyle>
      <a:lvl1pPr marL="577850" marR="0" indent="-577850" algn="l" defTabSz="1568450" rtl="0" latinLnBrk="0">
        <a:lnSpc>
          <a:spcPct val="100000"/>
        </a:lnSpc>
        <a:spcBef>
          <a:spcPts val="1300"/>
        </a:spcBef>
        <a:spcAft>
          <a:spcPts val="0"/>
        </a:spcAft>
        <a:buClrTx/>
        <a:buSzPct val="100000"/>
        <a:buFont typeface="Arial"/>
        <a:buChar char="»"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5527675" marR="0" indent="-4943475" algn="l" defTabSz="1568450" rtl="0" latinLnBrk="0">
        <a:lnSpc>
          <a:spcPct val="100000"/>
        </a:lnSpc>
        <a:spcBef>
          <a:spcPts val="1300"/>
        </a:spcBef>
        <a:spcAft>
          <a:spcPts val="0"/>
        </a:spcAft>
        <a:buClrTx/>
        <a:buSzPct val="100000"/>
        <a:buFont typeface="Arial"/>
        <a:buChar char="–"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5756275" marR="0" indent="-4581525" algn="l" defTabSz="1568450" rtl="0" latinLnBrk="0">
        <a:lnSpc>
          <a:spcPct val="100000"/>
        </a:lnSpc>
        <a:spcBef>
          <a:spcPts val="1300"/>
        </a:spcBef>
        <a:spcAft>
          <a:spcPts val="0"/>
        </a:spcAft>
        <a:buClrTx/>
        <a:buSzPct val="100000"/>
        <a:buFont typeface="Arial"/>
        <a:buChar char="•"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7226300" marR="0" indent="-5467350" algn="l" defTabSz="1568450" rtl="0" latinLnBrk="0">
        <a:lnSpc>
          <a:spcPct val="100000"/>
        </a:lnSpc>
        <a:spcBef>
          <a:spcPts val="1300"/>
        </a:spcBef>
        <a:spcAft>
          <a:spcPts val="0"/>
        </a:spcAft>
        <a:buClrTx/>
        <a:buSzPct val="100000"/>
        <a:buFont typeface="Arial"/>
        <a:buChar char="–"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7813675" marR="0" indent="-5467350" algn="l" defTabSz="1568450" rtl="0" latinLnBrk="0">
        <a:lnSpc>
          <a:spcPct val="100000"/>
        </a:lnSpc>
        <a:spcBef>
          <a:spcPts val="1300"/>
        </a:spcBef>
        <a:spcAft>
          <a:spcPts val="0"/>
        </a:spcAft>
        <a:buClrTx/>
        <a:buSzPct val="100000"/>
        <a:buFont typeface="Arial"/>
        <a:buChar char="»"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8270875" marR="0" indent="-5467350" algn="l" defTabSz="1568450" rtl="0" latinLnBrk="0">
        <a:lnSpc>
          <a:spcPct val="100000"/>
        </a:lnSpc>
        <a:spcBef>
          <a:spcPts val="1300"/>
        </a:spcBef>
        <a:spcAft>
          <a:spcPts val="0"/>
        </a:spcAft>
        <a:buClrTx/>
        <a:buSzPct val="100000"/>
        <a:buFont typeface="Arial"/>
        <a:buChar char="•"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8728075" marR="0" indent="-5467350" algn="l" defTabSz="1568450" rtl="0" latinLnBrk="0">
        <a:lnSpc>
          <a:spcPct val="100000"/>
        </a:lnSpc>
        <a:spcBef>
          <a:spcPts val="1300"/>
        </a:spcBef>
        <a:spcAft>
          <a:spcPts val="0"/>
        </a:spcAft>
        <a:buClrTx/>
        <a:buSzPct val="100000"/>
        <a:buFont typeface="Arial"/>
        <a:buChar char="•"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9185275" marR="0" indent="-5467350" algn="l" defTabSz="1568450" rtl="0" latinLnBrk="0">
        <a:lnSpc>
          <a:spcPct val="100000"/>
        </a:lnSpc>
        <a:spcBef>
          <a:spcPts val="1300"/>
        </a:spcBef>
        <a:spcAft>
          <a:spcPts val="0"/>
        </a:spcAft>
        <a:buClrTx/>
        <a:buSzPct val="100000"/>
        <a:buFont typeface="Arial"/>
        <a:buChar char="•"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9642475" marR="0" indent="-5467350" algn="l" defTabSz="1568450" rtl="0" latinLnBrk="0">
        <a:lnSpc>
          <a:spcPct val="100000"/>
        </a:lnSpc>
        <a:spcBef>
          <a:spcPts val="1300"/>
        </a:spcBef>
        <a:spcAft>
          <a:spcPts val="0"/>
        </a:spcAft>
        <a:buClrTx/>
        <a:buSzPct val="100000"/>
        <a:buFont typeface="Arial"/>
        <a:buChar char="•"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bodyStyle>
    <p:otherStyle>
      <a:lvl1pPr marL="0" marR="0" indent="0" algn="r" defTabSz="15684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1pPr>
      <a:lvl2pPr marL="0" marR="0" indent="457200" algn="r" defTabSz="15684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2pPr>
      <a:lvl3pPr marL="0" marR="0" indent="914400" algn="r" defTabSz="15684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3pPr>
      <a:lvl4pPr marL="0" marR="0" indent="1371600" algn="r" defTabSz="15684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4pPr>
      <a:lvl5pPr marL="0" marR="0" indent="1828800" algn="r" defTabSz="15684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5pPr>
      <a:lvl6pPr marL="0" marR="0" indent="0" algn="r" defTabSz="15684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6pPr>
      <a:lvl7pPr marL="0" marR="0" indent="0" algn="r" defTabSz="15684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7pPr>
      <a:lvl8pPr marL="0" marR="0" indent="0" algn="r" defTabSz="15684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8pPr>
      <a:lvl9pPr marL="0" marR="0" indent="0" algn="r" defTabSz="15684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queryrain.com/" TargetMode="External"/><Relationship Id="rId2" Type="http://schemas.openxmlformats.org/officeDocument/2006/relationships/hyperlink" Target="jqueryui.com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odepen.io/" TargetMode="External"/><Relationship Id="rId4" Type="http://schemas.openxmlformats.org/officeDocument/2006/relationships/hyperlink" Target="http://www.htmldrive.net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jqueryui.com/menu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slide" Target="slide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jqueryui.com/dialog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ref/met_win_open.asp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jqueryui.com/accordion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8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jqueryui.com/tooltip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8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jqueryui.com/autocomplete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8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8.jpeg"/><Relationship Id="rId4" Type="http://schemas.openxmlformats.org/officeDocument/2006/relationships/hyperlink" Target="http://jqueryui.com/datepicker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jqueryui.com/spinner/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8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://jqueryui.com/slider/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8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/>
          <p:nvPr/>
        </p:nvSpPr>
        <p:spPr>
          <a:xfrm>
            <a:off x="-12700" y="-12700"/>
            <a:ext cx="16281400" cy="4860925"/>
          </a:xfrm>
          <a:prstGeom prst="rect">
            <a:avLst/>
          </a:prstGeom>
          <a:solidFill>
            <a:srgbClr val="4CA4FD"/>
          </a:solidFill>
          <a:ln>
            <a:solidFill>
              <a:srgbClr val="4CA4FD"/>
            </a:solidFill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lIns="45719" rIns="45719"/>
          <a:lstStyle/>
          <a:p>
            <a:pPr algn="r">
              <a:defRPr sz="2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6" name="Shape 216"/>
          <p:cNvSpPr/>
          <p:nvPr/>
        </p:nvSpPr>
        <p:spPr>
          <a:xfrm>
            <a:off x="1627142" y="2682860"/>
            <a:ext cx="12986793" cy="1085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7542" tIns="57542" rIns="57542" bIns="57542">
            <a:spAutoFit/>
          </a:bodyPr>
          <a:lstStyle>
            <a:lvl1pPr algn="ctr">
              <a:defRPr sz="6300">
                <a:solidFill>
                  <a:srgbClr val="FFFFFF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lvl1pPr>
          </a:lstStyle>
          <a:p>
            <a:r>
              <a:rPr lang="ko-KR" altLang="en-US" dirty="0" smtClean="0"/>
              <a:t>제이쿼리 플러그인</a:t>
            </a:r>
            <a:endParaRPr dirty="0"/>
          </a:p>
        </p:txBody>
      </p:sp>
      <p:sp>
        <p:nvSpPr>
          <p:cNvPr id="5" name="Shape 128"/>
          <p:cNvSpPr/>
          <p:nvPr/>
        </p:nvSpPr>
        <p:spPr>
          <a:xfrm>
            <a:off x="1071216" y="6050136"/>
            <a:ext cx="14257584" cy="21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ko-KR" altLang="en-US" dirty="0" smtClean="0"/>
              <a:t>다양한 기능을 구현해 놓은 제이쿼리 라이브러리 파일로 개발자들이 만들어 놓은 플러그인 무료파일을 다운받아 연동하면 다양한 기능을 쉽고 간단하게 구현가능</a:t>
            </a:r>
            <a:endParaRPr dirty="0"/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14"/>
          <p:cNvSpPr/>
          <p:nvPr/>
        </p:nvSpPr>
        <p:spPr>
          <a:xfrm>
            <a:off x="0" y="0"/>
            <a:ext cx="16281400" cy="4860925"/>
          </a:xfrm>
          <a:prstGeom prst="rect">
            <a:avLst/>
          </a:prstGeom>
          <a:solidFill>
            <a:srgbClr val="4CA4FD"/>
          </a:solidFill>
          <a:ln>
            <a:solidFill>
              <a:srgbClr val="4CA4FD"/>
            </a:solidFill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lIns="45719" rIns="45719"/>
          <a:lstStyle/>
          <a:p>
            <a:pPr algn="r">
              <a:defRPr sz="2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Shape 128"/>
          <p:cNvSpPr/>
          <p:nvPr/>
        </p:nvSpPr>
        <p:spPr>
          <a:xfrm>
            <a:off x="999208" y="2278932"/>
            <a:ext cx="14257584" cy="6579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ko-KR" altLang="en-US" sz="6000" dirty="0" smtClean="0">
                <a:solidFill>
                  <a:schemeClr val="bg1"/>
                </a:solidFill>
              </a:rPr>
              <a:t>대표적인 제이쿼리 플러그인 사이트</a:t>
            </a:r>
            <a:endParaRPr lang="en-US" altLang="ko-KR" sz="6000" dirty="0" smtClean="0">
              <a:solidFill>
                <a:schemeClr val="bg1"/>
              </a:solidFill>
            </a:endParaRPr>
          </a:p>
          <a:p>
            <a:pPr algn="ctr"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endParaRPr lang="en-US" altLang="ko-KR" sz="6000" dirty="0" smtClean="0">
              <a:solidFill>
                <a:schemeClr val="bg1"/>
              </a:solidFill>
            </a:endParaRPr>
          </a:p>
          <a:p>
            <a:pPr algn="ctr"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endParaRPr lang="en-US" altLang="ko-KR" sz="6000" dirty="0" smtClean="0">
              <a:solidFill>
                <a:schemeClr val="bg1"/>
              </a:solidFill>
            </a:endParaRPr>
          </a:p>
          <a:p>
            <a:pPr algn="ctr"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sz="6000" dirty="0" smtClean="0">
                <a:hlinkClick r:id="rId2" action="ppaction://hlinkfile"/>
              </a:rPr>
              <a:t>jqueryui.com/</a:t>
            </a:r>
            <a:endParaRPr lang="en-US" sz="6000" dirty="0" smtClean="0"/>
          </a:p>
          <a:p>
            <a:pPr algn="ctr"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sz="6000" dirty="0" smtClean="0">
                <a:hlinkClick r:id="rId3"/>
              </a:rPr>
              <a:t>http://www.jqueryrain.com</a:t>
            </a:r>
            <a:endParaRPr lang="en-US" sz="6000" dirty="0" smtClean="0"/>
          </a:p>
          <a:p>
            <a:pPr algn="ctr"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sz="6000" dirty="0" smtClean="0">
                <a:hlinkClick r:id="rId4"/>
              </a:rPr>
              <a:t>http://www.htmldrive.net</a:t>
            </a:r>
            <a:endParaRPr lang="en-US" sz="6000" dirty="0" smtClean="0"/>
          </a:p>
          <a:p>
            <a:pPr algn="ctr"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sz="6000" dirty="0" smtClean="0">
                <a:hlinkClick r:id="rId5"/>
              </a:rPr>
              <a:t>https://codepen.io</a:t>
            </a:r>
            <a:endParaRPr sz="60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14"/>
          <p:cNvSpPr/>
          <p:nvPr/>
        </p:nvSpPr>
        <p:spPr>
          <a:xfrm>
            <a:off x="0" y="1"/>
            <a:ext cx="16281400" cy="1873671"/>
          </a:xfrm>
          <a:prstGeom prst="rect">
            <a:avLst/>
          </a:prstGeom>
          <a:solidFill>
            <a:srgbClr val="4CA4FD"/>
          </a:solidFill>
          <a:ln>
            <a:solidFill>
              <a:srgbClr val="4CA4FD"/>
            </a:solidFill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lIns="45719" rIns="45719"/>
          <a:lstStyle/>
          <a:p>
            <a:pPr algn="r">
              <a:defRPr sz="2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Shape 128"/>
          <p:cNvSpPr/>
          <p:nvPr/>
        </p:nvSpPr>
        <p:spPr>
          <a:xfrm>
            <a:off x="1143224" y="505520"/>
            <a:ext cx="14257584" cy="3871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>
              <a:lnSpc>
                <a:spcPct val="150000"/>
              </a:lnSpc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ko-KR" altLang="en-US" sz="6000" dirty="0" smtClean="0">
                <a:solidFill>
                  <a:schemeClr val="bg1"/>
                </a:solidFill>
              </a:rPr>
              <a:t>플러그인 사용방법</a:t>
            </a:r>
            <a:endParaRPr lang="en-US" altLang="ko-KR" sz="6000" dirty="0" smtClean="0"/>
          </a:p>
          <a:p>
            <a:pPr marL="742950" indent="-742950" algn="ctr">
              <a:lnSpc>
                <a:spcPct val="150000"/>
              </a:lnSpc>
              <a:buAutoNum type="arabicParenR"/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altLang="ko-KR" sz="4400" dirty="0" smtClean="0"/>
              <a:t>jQuery </a:t>
            </a:r>
            <a:r>
              <a:rPr lang="ko-KR" altLang="en-US" sz="4400" dirty="0" smtClean="0"/>
              <a:t>기본</a:t>
            </a:r>
            <a:r>
              <a:rPr lang="en-US" altLang="ko-KR" sz="4400" dirty="0" smtClean="0"/>
              <a:t>plug-in </a:t>
            </a:r>
            <a:r>
              <a:rPr lang="ko-KR" altLang="en-US" sz="4400" dirty="0" smtClean="0"/>
              <a:t>연결한다</a:t>
            </a:r>
            <a:r>
              <a:rPr lang="en-US" altLang="ko-KR" sz="4400" dirty="0" smtClean="0"/>
              <a:t>.</a:t>
            </a:r>
          </a:p>
          <a:p>
            <a:pPr marL="742950" indent="-742950" algn="ctr">
              <a:buAutoNum type="arabicParenR"/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altLang="ko-KR" sz="4400" dirty="0" smtClean="0"/>
              <a:t>jQuery </a:t>
            </a:r>
            <a:r>
              <a:rPr lang="en-US" altLang="ko-KR" sz="4400" dirty="0" err="1" smtClean="0"/>
              <a:t>ui</a:t>
            </a:r>
            <a:r>
              <a:rPr lang="en-US" altLang="ko-KR" sz="4400" dirty="0" smtClean="0"/>
              <a:t> plug-in</a:t>
            </a:r>
            <a:r>
              <a:rPr lang="ko-KR" altLang="en-US" sz="4400" dirty="0" smtClean="0"/>
              <a:t>연결한다</a:t>
            </a:r>
            <a:r>
              <a:rPr lang="en-US" altLang="ko-KR" sz="4400" dirty="0" smtClean="0"/>
              <a:t>.</a:t>
            </a:r>
          </a:p>
          <a:p>
            <a:pPr algn="ctr"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altLang="ko-KR" sz="4400" dirty="0" smtClean="0"/>
              <a:t>3)</a:t>
            </a:r>
            <a:r>
              <a:rPr lang="ko-KR" altLang="en-US" sz="4400" dirty="0" err="1" smtClean="0"/>
              <a:t>플러그인에서</a:t>
            </a:r>
            <a:r>
              <a:rPr lang="ko-KR" altLang="en-US" sz="4400" dirty="0" smtClean="0"/>
              <a:t> 제공하는 </a:t>
            </a:r>
            <a:r>
              <a:rPr lang="en-US" altLang="ko-KR" sz="4400" dirty="0" err="1" smtClean="0"/>
              <a:t>css</a:t>
            </a:r>
            <a:r>
              <a:rPr lang="en-US" altLang="ko-KR" sz="4400" dirty="0" smtClean="0"/>
              <a:t> link </a:t>
            </a:r>
            <a:r>
              <a:rPr lang="ko-KR" altLang="en-US" sz="4400" dirty="0" smtClean="0"/>
              <a:t>연결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783184" y="4393952"/>
            <a:ext cx="14905656" cy="4699307"/>
            <a:chOff x="855192" y="4952693"/>
            <a:chExt cx="14905656" cy="4699307"/>
          </a:xfrm>
        </p:grpSpPr>
        <p:pic>
          <p:nvPicPr>
            <p:cNvPr id="1026" name="Picture 2" descr="C:\Users\GREEN\Desktop\제이쿼리플러그인\20170316_155416.png"/>
            <p:cNvPicPr>
              <a:picLocks noChangeAspect="1" noChangeArrowheads="1"/>
            </p:cNvPicPr>
            <p:nvPr/>
          </p:nvPicPr>
          <p:blipFill>
            <a:blip r:embed="rId2" cstate="print"/>
            <a:srcRect r="481"/>
            <a:stretch>
              <a:fillRect/>
            </a:stretch>
          </p:blipFill>
          <p:spPr bwMode="auto">
            <a:xfrm>
              <a:off x="855192" y="4952693"/>
              <a:ext cx="14905656" cy="4699307"/>
            </a:xfrm>
            <a:prstGeom prst="rect">
              <a:avLst/>
            </a:prstGeom>
            <a:noFill/>
          </p:spPr>
        </p:pic>
        <p:sp>
          <p:nvSpPr>
            <p:cNvPr id="5" name="직사각형 4"/>
            <p:cNvSpPr/>
            <p:nvPr/>
          </p:nvSpPr>
          <p:spPr>
            <a:xfrm>
              <a:off x="14464704" y="5618088"/>
              <a:ext cx="432048" cy="43204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bg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15684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14"/>
          <p:cNvSpPr/>
          <p:nvPr/>
        </p:nvSpPr>
        <p:spPr>
          <a:xfrm>
            <a:off x="0" y="0"/>
            <a:ext cx="16281400" cy="4860925"/>
          </a:xfrm>
          <a:prstGeom prst="rect">
            <a:avLst/>
          </a:prstGeom>
          <a:solidFill>
            <a:srgbClr val="4CA4FD"/>
          </a:solidFill>
          <a:ln>
            <a:solidFill>
              <a:srgbClr val="4CA4FD"/>
            </a:solidFill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lIns="45719" rIns="45719"/>
          <a:lstStyle/>
          <a:p>
            <a:pPr algn="r">
              <a:defRPr sz="2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Shape 128"/>
          <p:cNvSpPr/>
          <p:nvPr/>
        </p:nvSpPr>
        <p:spPr>
          <a:xfrm>
            <a:off x="999208" y="2089696"/>
            <a:ext cx="14257584" cy="19628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altLang="ko-KR" sz="6000" dirty="0" smtClean="0">
                <a:solidFill>
                  <a:schemeClr val="bg1"/>
                </a:solidFill>
              </a:rPr>
              <a:t>jQuery UI </a:t>
            </a:r>
            <a:r>
              <a:rPr lang="ko-KR" altLang="en-US" sz="6000" dirty="0" err="1" smtClean="0">
                <a:solidFill>
                  <a:schemeClr val="bg1"/>
                </a:solidFill>
              </a:rPr>
              <a:t>메소드</a:t>
            </a:r>
            <a:r>
              <a:rPr lang="ko-KR" altLang="en-US" sz="6000" dirty="0" smtClean="0">
                <a:solidFill>
                  <a:schemeClr val="bg1"/>
                </a:solidFill>
              </a:rPr>
              <a:t> 사용법</a:t>
            </a:r>
            <a:endParaRPr lang="en-US" altLang="ko-KR" sz="6000" dirty="0" smtClean="0">
              <a:solidFill>
                <a:schemeClr val="bg1"/>
              </a:solidFill>
            </a:endParaRPr>
          </a:p>
          <a:p>
            <a:pPr algn="ctr"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endParaRPr lang="en-US" altLang="ko-KR" sz="6000" dirty="0" smtClean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5192" y="5978128"/>
            <a:ext cx="13953498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15684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4400" b="1" i="0" u="none" strike="noStrike" cap="none" spc="0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210 앱굴림 L" pitchFamily="18" charset="-127"/>
                <a:ea typeface="210 앱굴림 L" pitchFamily="18" charset="-127"/>
                <a:sym typeface="맑은 고딕"/>
              </a:rPr>
              <a:t>$(“</a:t>
            </a:r>
            <a:r>
              <a:rPr kumimoji="0" lang="ko-KR" altLang="en-US" sz="4400" b="1" i="0" u="none" strike="noStrike" cap="none" spc="0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210 앱굴림 L" pitchFamily="18" charset="-127"/>
                <a:ea typeface="210 앱굴림 L" pitchFamily="18" charset="-127"/>
                <a:sym typeface="맑은 고딕"/>
              </a:rPr>
              <a:t>선택자</a:t>
            </a:r>
            <a:r>
              <a:rPr kumimoji="0" lang="en-US" altLang="ko-KR" sz="4400" b="1" i="0" u="none" strike="noStrike" cap="none" spc="0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210 앱굴림 L" pitchFamily="18" charset="-127"/>
                <a:ea typeface="210 앱굴림 L" pitchFamily="18" charset="-127"/>
                <a:sym typeface="맑은 고딕"/>
              </a:rPr>
              <a:t>”).</a:t>
            </a:r>
            <a:r>
              <a:rPr kumimoji="0" lang="ko-KR" altLang="en-US" sz="4400" b="1" i="0" u="none" strike="noStrike" cap="none" spc="0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210 앱굴림 L" pitchFamily="18" charset="-127"/>
                <a:ea typeface="210 앱굴림 L" pitchFamily="18" charset="-127"/>
                <a:sym typeface="맑은 고딕"/>
              </a:rPr>
              <a:t>메소드이름</a:t>
            </a:r>
            <a:r>
              <a:rPr kumimoji="0" lang="en-US" altLang="ko-KR" sz="4400" b="1" i="0" u="none" strike="noStrike" cap="none" spc="0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210 앱굴림 L" pitchFamily="18" charset="-127"/>
                <a:ea typeface="210 앱굴림 L" pitchFamily="18" charset="-127"/>
                <a:sym typeface="맑은 고딕"/>
              </a:rPr>
              <a:t>({</a:t>
            </a:r>
            <a:r>
              <a:rPr kumimoji="0" lang="ko-KR" altLang="en-US" sz="4400" b="1" i="0" u="none" strike="noStrike" cap="none" spc="0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210 앱굴림 L" pitchFamily="18" charset="-127"/>
                <a:ea typeface="210 앱굴림 L" pitchFamily="18" charset="-127"/>
                <a:sym typeface="맑은 고딕"/>
              </a:rPr>
              <a:t>매개변수명</a:t>
            </a:r>
            <a:r>
              <a:rPr kumimoji="0" lang="en-US" altLang="ko-KR" sz="4400" b="1" i="0" u="none" strike="noStrike" cap="none" spc="0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210 앱굴림 L" pitchFamily="18" charset="-127"/>
                <a:ea typeface="210 앱굴림 L" pitchFamily="18" charset="-127"/>
                <a:sym typeface="맑은 고딕"/>
              </a:rPr>
              <a:t>:</a:t>
            </a:r>
            <a:r>
              <a:rPr kumimoji="0" lang="ko-KR" altLang="en-US" sz="4400" b="1" i="0" u="none" strike="noStrike" cap="none" spc="0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210 앱굴림 L" pitchFamily="18" charset="-127"/>
                <a:ea typeface="210 앱굴림 L" pitchFamily="18" charset="-127"/>
                <a:sym typeface="맑은 고딕"/>
              </a:rPr>
              <a:t>값</a:t>
            </a:r>
            <a:r>
              <a:rPr kumimoji="0" lang="en-US" altLang="ko-KR" sz="4400" b="1" i="0" u="none" strike="noStrike" cap="none" spc="0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210 앱굴림 L" pitchFamily="18" charset="-127"/>
                <a:ea typeface="210 앱굴림 L" pitchFamily="18" charset="-127"/>
                <a:sym typeface="맑은 고딕"/>
              </a:rPr>
              <a:t>, </a:t>
            </a:r>
            <a:r>
              <a:rPr kumimoji="0" lang="ko-KR" altLang="en-US" sz="4400" b="1" i="0" u="none" strike="noStrike" cap="none" spc="0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210 앱굴림 L" pitchFamily="18" charset="-127"/>
                <a:ea typeface="210 앱굴림 L" pitchFamily="18" charset="-127"/>
                <a:sym typeface="맑은 고딕"/>
              </a:rPr>
              <a:t>매개변수명</a:t>
            </a:r>
            <a:r>
              <a:rPr kumimoji="0" lang="en-US" altLang="ko-KR" sz="4400" b="1" i="0" u="none" strike="noStrike" cap="none" spc="0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210 앱굴림 L" pitchFamily="18" charset="-127"/>
                <a:ea typeface="210 앱굴림 L" pitchFamily="18" charset="-127"/>
                <a:sym typeface="맑은 고딕"/>
              </a:rPr>
              <a:t>:</a:t>
            </a:r>
            <a:r>
              <a:rPr kumimoji="0" lang="ko-KR" altLang="en-US" sz="4400" b="1" i="0" u="none" strike="noStrike" cap="none" spc="0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210 앱굴림 L" pitchFamily="18" charset="-127"/>
                <a:ea typeface="210 앱굴림 L" pitchFamily="18" charset="-127"/>
                <a:sym typeface="맑은 고딕"/>
              </a:rPr>
              <a:t>값</a:t>
            </a:r>
            <a:r>
              <a:rPr kumimoji="0" lang="en-US" altLang="ko-KR" sz="4400" b="1" i="0" u="none" strike="noStrike" cap="none" spc="0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210 앱굴림 L" pitchFamily="18" charset="-127"/>
                <a:ea typeface="210 앱굴림 L" pitchFamily="18" charset="-127"/>
                <a:sym typeface="맑은 고딕"/>
              </a:rPr>
              <a:t>, …})</a:t>
            </a:r>
            <a:endParaRPr kumimoji="0" lang="ko-KR" altLang="en-US" sz="4400" b="1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210 앱굴림 L" pitchFamily="18" charset="-127"/>
              <a:ea typeface="210 앱굴림 L" pitchFamily="18" charset="-127"/>
              <a:sym typeface="맑은 고딕"/>
            </a:endParaRPr>
          </a:p>
        </p:txBody>
      </p:sp>
      <p:sp>
        <p:nvSpPr>
          <p:cNvPr id="6" name="Shape 128"/>
          <p:cNvSpPr/>
          <p:nvPr/>
        </p:nvSpPr>
        <p:spPr>
          <a:xfrm>
            <a:off x="1071216" y="7562304"/>
            <a:ext cx="13681520" cy="793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ko-KR" altLang="en-US" sz="4400" dirty="0" smtClean="0">
                <a:solidFill>
                  <a:schemeClr val="tx1"/>
                </a:solidFill>
              </a:rPr>
              <a:t>예</a:t>
            </a:r>
            <a:r>
              <a:rPr lang="en-US" altLang="ko-KR" sz="4400" dirty="0" smtClean="0">
                <a:solidFill>
                  <a:schemeClr val="tx1"/>
                </a:solidFill>
              </a:rPr>
              <a:t>1) </a:t>
            </a:r>
            <a:r>
              <a:rPr lang="en-US" altLang="ko-KR" sz="4400" dirty="0" smtClean="0">
                <a:solidFill>
                  <a:srgbClr val="FF0000"/>
                </a:solidFill>
              </a:rPr>
              <a:t>$(</a:t>
            </a:r>
            <a:r>
              <a:rPr lang="ko-KR" altLang="en-US" sz="4400" dirty="0" err="1" smtClean="0">
                <a:solidFill>
                  <a:srgbClr val="FF0000"/>
                </a:solidFill>
              </a:rPr>
              <a:t>선택자</a:t>
            </a:r>
            <a:r>
              <a:rPr lang="en-US" altLang="ko-KR" sz="4400" dirty="0" smtClean="0">
                <a:solidFill>
                  <a:srgbClr val="FF0000"/>
                </a:solidFill>
              </a:rPr>
              <a:t>).menu({</a:t>
            </a:r>
            <a:r>
              <a:rPr lang="ko-KR" altLang="en-US" sz="4400" dirty="0" smtClean="0">
                <a:solidFill>
                  <a:srgbClr val="FF0000"/>
                </a:solidFill>
              </a:rPr>
              <a:t>매개변수</a:t>
            </a:r>
            <a:r>
              <a:rPr lang="en-US" altLang="ko-KR" sz="4400" dirty="0" smtClean="0">
                <a:solidFill>
                  <a:srgbClr val="FF0000"/>
                </a:solidFill>
              </a:rPr>
              <a:t>:</a:t>
            </a:r>
            <a:r>
              <a:rPr lang="ko-KR" altLang="en-US" sz="4400" dirty="0" smtClean="0">
                <a:solidFill>
                  <a:srgbClr val="FF0000"/>
                </a:solidFill>
              </a:rPr>
              <a:t>값</a:t>
            </a:r>
            <a:r>
              <a:rPr lang="en-US" altLang="ko-KR" sz="4400" dirty="0" smtClean="0">
                <a:solidFill>
                  <a:srgbClr val="FF0000"/>
                </a:solidFill>
              </a:rPr>
              <a:t>,..});</a:t>
            </a:r>
            <a:endParaRPr sz="4400" dirty="0">
              <a:solidFill>
                <a:srgbClr val="FF0000"/>
              </a:solidFill>
            </a:endParaRPr>
          </a:p>
        </p:txBody>
      </p:sp>
      <p:sp>
        <p:nvSpPr>
          <p:cNvPr id="7" name="Shape 128"/>
          <p:cNvSpPr/>
          <p:nvPr/>
        </p:nvSpPr>
        <p:spPr>
          <a:xfrm>
            <a:off x="927200" y="8426400"/>
            <a:ext cx="14257584" cy="793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ko-KR" altLang="en-US" sz="4400" dirty="0" smtClean="0">
                <a:solidFill>
                  <a:schemeClr val="tx1"/>
                </a:solidFill>
              </a:rPr>
              <a:t>예</a:t>
            </a:r>
            <a:r>
              <a:rPr lang="en-US" altLang="ko-KR" sz="4400" dirty="0" smtClean="0">
                <a:solidFill>
                  <a:schemeClr val="tx1"/>
                </a:solidFill>
              </a:rPr>
              <a:t>2)  </a:t>
            </a:r>
            <a:r>
              <a:rPr lang="en-US" altLang="ko-KR" sz="4400" dirty="0" smtClean="0">
                <a:solidFill>
                  <a:srgbClr val="FF0000"/>
                </a:solidFill>
              </a:rPr>
              <a:t>$(</a:t>
            </a:r>
            <a:r>
              <a:rPr lang="ko-KR" altLang="en-US" sz="4400" dirty="0" err="1" smtClean="0">
                <a:solidFill>
                  <a:srgbClr val="FF0000"/>
                </a:solidFill>
              </a:rPr>
              <a:t>선택자</a:t>
            </a:r>
            <a:r>
              <a:rPr lang="en-US" altLang="ko-KR" sz="4400" dirty="0" smtClean="0">
                <a:solidFill>
                  <a:srgbClr val="FF0000"/>
                </a:solidFill>
              </a:rPr>
              <a:t>).dialog({</a:t>
            </a:r>
            <a:r>
              <a:rPr lang="ko-KR" altLang="en-US" sz="4400" dirty="0" smtClean="0">
                <a:solidFill>
                  <a:srgbClr val="FF0000"/>
                </a:solidFill>
              </a:rPr>
              <a:t>매개변수</a:t>
            </a:r>
            <a:r>
              <a:rPr lang="en-US" altLang="ko-KR" sz="4400" dirty="0" smtClean="0">
                <a:solidFill>
                  <a:srgbClr val="FF0000"/>
                </a:solidFill>
              </a:rPr>
              <a:t>:</a:t>
            </a:r>
            <a:r>
              <a:rPr lang="ko-KR" altLang="en-US" sz="4400" dirty="0" smtClean="0">
                <a:solidFill>
                  <a:srgbClr val="FF0000"/>
                </a:solidFill>
              </a:rPr>
              <a:t>값</a:t>
            </a:r>
            <a:r>
              <a:rPr lang="en-US" altLang="ko-KR" sz="4400" dirty="0" smtClean="0">
                <a:solidFill>
                  <a:srgbClr val="FF0000"/>
                </a:solidFill>
              </a:rPr>
              <a:t>,..});</a:t>
            </a:r>
            <a:endParaRPr sz="4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/>
          <p:cNvSpPr>
            <a:spLocks noChangeArrowheads="1"/>
          </p:cNvSpPr>
          <p:nvPr/>
        </p:nvSpPr>
        <p:spPr bwMode="auto">
          <a:xfrm>
            <a:off x="0" y="0"/>
            <a:ext cx="1625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defTabSz="914400"/>
            <a:endParaRPr kumimoji="1" lang="ko-KR" altLang="ko-KR" sz="1800">
              <a:solidFill>
                <a:schemeClr val="tx1"/>
              </a:solidFill>
            </a:endParaRPr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0" y="0"/>
            <a:ext cx="1625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defTabSz="914400"/>
            <a:endParaRPr kumimoji="1" lang="ko-KR" altLang="ko-KR" sz="1800">
              <a:solidFill>
                <a:schemeClr val="tx1"/>
              </a:solidFill>
            </a:endParaRP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0" y="0"/>
            <a:ext cx="1625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defTabSz="914400"/>
            <a:endParaRPr kumimoji="1" lang="ko-KR" altLang="ko-KR" sz="1800">
              <a:solidFill>
                <a:schemeClr val="tx1"/>
              </a:solidFill>
            </a:endParaRPr>
          </a:p>
        </p:txBody>
      </p:sp>
      <p:sp>
        <p:nvSpPr>
          <p:cNvPr id="16389" name="Rectangle 4"/>
          <p:cNvSpPr>
            <a:spLocks noChangeArrowheads="1"/>
          </p:cNvSpPr>
          <p:nvPr/>
        </p:nvSpPr>
        <p:spPr bwMode="auto">
          <a:xfrm>
            <a:off x="0" y="0"/>
            <a:ext cx="1625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defTabSz="914400"/>
            <a:endParaRPr kumimoji="1" lang="ko-KR" altLang="ko-KR" sz="1800">
              <a:solidFill>
                <a:schemeClr val="tx1"/>
              </a:solidFill>
            </a:endParaRPr>
          </a:p>
        </p:txBody>
      </p:sp>
      <p:sp>
        <p:nvSpPr>
          <p:cNvPr id="7" name="Shape 99"/>
          <p:cNvSpPr/>
          <p:nvPr/>
        </p:nvSpPr>
        <p:spPr>
          <a:xfrm>
            <a:off x="1484313" y="1111250"/>
            <a:ext cx="13430250" cy="7297738"/>
          </a:xfrm>
          <a:prstGeom prst="rect">
            <a:avLst/>
          </a:prstGeom>
          <a:solidFill>
            <a:srgbClr val="DDDDDD"/>
          </a:solidFill>
          <a:ln w="38100">
            <a:solidFill>
              <a:srgbClr val="FFFFFF"/>
            </a:solidFill>
          </a:ln>
          <a:effectLst>
            <a:outerShdw blurRad="38100" dist="25400" dir="5400000" rotWithShape="0">
              <a:srgbClr val="000000">
                <a:alpha val="34999"/>
              </a:srgbClr>
            </a:outerShdw>
          </a:effectLst>
          <a:extLst>
            <a:ext uri="{C572A759-6A51-4108-AA02-DFA0A04FC94B}"/>
          </a:extLst>
        </p:spPr>
        <p:txBody>
          <a:bodyPr lIns="57542" tIns="57542" rIns="57542" bIns="57542">
            <a:spAutoFit/>
          </a:bodyPr>
          <a:lstStyle/>
          <a:p>
            <a:pPr defTabSz="612775" fontAlgn="auto" latinLnBrk="0" hangingPunct="0">
              <a:spcBef>
                <a:spcPts val="1600"/>
              </a:spcBef>
              <a:spcAft>
                <a:spcPts val="0"/>
              </a:spcAft>
              <a:defRPr sz="48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sz="4000" kern="0" dirty="0" err="1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var</a:t>
            </a:r>
            <a:r>
              <a:rPr lang="en-US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 baby = {                     </a:t>
            </a:r>
          </a:p>
          <a:p>
            <a:pPr defTabSz="612775" fontAlgn="auto" latinLnBrk="0" hangingPunct="0">
              <a:spcBef>
                <a:spcPts val="1600"/>
              </a:spcBef>
              <a:spcAft>
                <a:spcPts val="0"/>
              </a:spcAft>
              <a:defRPr sz="48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	age : “2</a:t>
            </a:r>
            <a:r>
              <a:rPr lang="ko-KR" altLang="en-US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”</a:t>
            </a:r>
            <a:r>
              <a:rPr lang="en-US" altLang="ko-KR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,                   </a:t>
            </a:r>
          </a:p>
          <a:p>
            <a:pPr defTabSz="612775" fontAlgn="auto" latinLnBrk="0" hangingPunct="0">
              <a:spcBef>
                <a:spcPts val="1600"/>
              </a:spcBef>
              <a:spcAft>
                <a:spcPts val="0"/>
              </a:spcAft>
              <a:defRPr sz="48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	</a:t>
            </a:r>
            <a:r>
              <a:rPr lang="en-US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sex : “</a:t>
            </a:r>
            <a:r>
              <a:rPr lang="ko-KR" altLang="en-US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남자”</a:t>
            </a:r>
            <a:r>
              <a:rPr lang="en-US" altLang="ko-KR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,</a:t>
            </a:r>
          </a:p>
          <a:p>
            <a:pPr defTabSz="612775" fontAlgn="auto" latinLnBrk="0" hangingPunct="0">
              <a:spcBef>
                <a:spcPts val="1600"/>
              </a:spcBef>
              <a:spcAft>
                <a:spcPts val="0"/>
              </a:spcAft>
              <a:defRPr sz="48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	</a:t>
            </a:r>
            <a:r>
              <a:rPr lang="en-US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birthday:”5</a:t>
            </a:r>
            <a:r>
              <a:rPr lang="ko-KR" altLang="en-US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월</a:t>
            </a:r>
            <a:r>
              <a:rPr lang="en-US" altLang="ko-KR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1</a:t>
            </a:r>
            <a:r>
              <a:rPr lang="ko-KR" altLang="en-US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일”</a:t>
            </a:r>
            <a:r>
              <a:rPr lang="en-US" altLang="ko-KR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,                    </a:t>
            </a:r>
          </a:p>
          <a:p>
            <a:pPr defTabSz="612775" fontAlgn="auto" latinLnBrk="0" hangingPunct="0">
              <a:spcBef>
                <a:spcPts val="1600"/>
              </a:spcBef>
              <a:spcAft>
                <a:spcPts val="0"/>
              </a:spcAft>
              <a:defRPr sz="48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	</a:t>
            </a:r>
            <a:r>
              <a:rPr lang="en-US" sz="4000" kern="0" dirty="0" err="1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getAge:function</a:t>
            </a:r>
            <a:r>
              <a:rPr lang="en-US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(){     </a:t>
            </a:r>
          </a:p>
          <a:p>
            <a:pPr defTabSz="612775" fontAlgn="auto" latinLnBrk="0" hangingPunct="0">
              <a:spcBef>
                <a:spcPts val="1600"/>
              </a:spcBef>
              <a:spcAft>
                <a:spcPts val="0"/>
              </a:spcAft>
              <a:defRPr sz="48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              return </a:t>
            </a:r>
            <a:r>
              <a:rPr lang="en-US" sz="4000" kern="0" dirty="0" err="1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this.age</a:t>
            </a:r>
            <a:r>
              <a:rPr lang="en-US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+”</a:t>
            </a:r>
            <a:r>
              <a:rPr lang="ko-KR" altLang="en-US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살입니다</a:t>
            </a:r>
            <a:r>
              <a:rPr lang="en-US" altLang="ko-KR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”</a:t>
            </a:r>
            <a:r>
              <a:rPr lang="en-US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;  </a:t>
            </a:r>
          </a:p>
          <a:p>
            <a:pPr defTabSz="612775" fontAlgn="auto" latinLnBrk="0" hangingPunct="0">
              <a:spcBef>
                <a:spcPts val="1600"/>
              </a:spcBef>
              <a:spcAft>
                <a:spcPts val="0"/>
              </a:spcAft>
              <a:defRPr sz="48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                 }                 </a:t>
            </a:r>
          </a:p>
          <a:p>
            <a:pPr defTabSz="612775" fontAlgn="auto" latinLnBrk="0" hangingPunct="0">
              <a:spcBef>
                <a:spcPts val="1600"/>
              </a:spcBef>
              <a:spcAft>
                <a:spcPts val="0"/>
              </a:spcAft>
              <a:defRPr sz="48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 };</a:t>
            </a:r>
          </a:p>
          <a:p>
            <a:pPr defTabSz="612775" fontAlgn="auto" latinLnBrk="0" hangingPunct="0">
              <a:spcBef>
                <a:spcPts val="1600"/>
              </a:spcBef>
              <a:spcAft>
                <a:spcPts val="0"/>
              </a:spcAft>
              <a:defRPr sz="48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sz="4000" kern="0" dirty="0" err="1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document.write</a:t>
            </a:r>
            <a:r>
              <a:rPr lang="en-US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(</a:t>
            </a:r>
            <a:r>
              <a:rPr lang="en-US" sz="4000" kern="0" dirty="0" err="1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baby.age</a:t>
            </a:r>
            <a:r>
              <a:rPr lang="en-US" sz="4000" kern="0" dirty="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rPr>
              <a:t>);</a:t>
            </a:r>
          </a:p>
        </p:txBody>
      </p:sp>
      <p:sp>
        <p:nvSpPr>
          <p:cNvPr id="16391" name="Shape 98"/>
          <p:cNvSpPr>
            <a:spLocks noChangeArrowheads="1"/>
          </p:cNvSpPr>
          <p:nvPr/>
        </p:nvSpPr>
        <p:spPr bwMode="auto">
          <a:xfrm>
            <a:off x="3337428" y="149225"/>
            <a:ext cx="9992309" cy="962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57542" tIns="57542" rIns="57542" bIns="57542">
            <a:spAutoFit/>
          </a:bodyPr>
          <a:lstStyle/>
          <a:p>
            <a:pPr algn="ctr" defTabSz="612775" latinLnBrk="0" hangingPunct="0">
              <a:spcBef>
                <a:spcPts val="1600"/>
              </a:spcBef>
            </a:pPr>
            <a:r>
              <a:rPr lang="ko-KR" altLang="en-US" sz="5500" dirty="0">
                <a:solidFill>
                  <a:srgbClr val="FF0000"/>
                </a:solidFill>
                <a:latin typeface="HY강M" pitchFamily="18" charset="-127"/>
                <a:ea typeface="HY강M" pitchFamily="18" charset="-127"/>
                <a:sym typeface="HY강M" pitchFamily="18" charset="-127"/>
              </a:rPr>
              <a:t>객체</a:t>
            </a:r>
            <a:r>
              <a:rPr lang="ko-KR" altLang="en-US" sz="5500" dirty="0">
                <a:solidFill>
                  <a:srgbClr val="525252"/>
                </a:solidFill>
                <a:latin typeface="HY강M" pitchFamily="18" charset="-127"/>
                <a:ea typeface="HY강M" pitchFamily="18" charset="-127"/>
                <a:sym typeface="HY강M" pitchFamily="18" charset="-127"/>
              </a:rPr>
              <a:t>에 </a:t>
            </a:r>
            <a:r>
              <a:rPr lang="ko-KR" altLang="en-US" sz="5500" dirty="0" smtClean="0">
                <a:solidFill>
                  <a:schemeClr val="accent6">
                    <a:lumMod val="75000"/>
                  </a:schemeClr>
                </a:solidFill>
                <a:latin typeface="HY강M" pitchFamily="18" charset="-127"/>
                <a:ea typeface="HY강M" pitchFamily="18" charset="-127"/>
                <a:sym typeface="HY강M" pitchFamily="18" charset="-127"/>
              </a:rPr>
              <a:t>속성</a:t>
            </a:r>
            <a:r>
              <a:rPr lang="ko-KR" altLang="en-US" sz="5500" dirty="0" smtClean="0">
                <a:solidFill>
                  <a:srgbClr val="525252"/>
                </a:solidFill>
                <a:latin typeface="HY강M" pitchFamily="18" charset="-127"/>
                <a:ea typeface="HY강M" pitchFamily="18" charset="-127"/>
                <a:sym typeface="HY강M" pitchFamily="18" charset="-127"/>
              </a:rPr>
              <a:t>과 </a:t>
            </a:r>
            <a:r>
              <a:rPr lang="ko-KR" altLang="en-US" sz="5500" dirty="0" err="1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  <a:sym typeface="HY강M" pitchFamily="18" charset="-127"/>
              </a:rPr>
              <a:t>메서드</a:t>
            </a:r>
            <a:r>
              <a:rPr lang="ko-KR" altLang="en-US" sz="5500" dirty="0">
                <a:solidFill>
                  <a:srgbClr val="525252"/>
                </a:solidFill>
                <a:latin typeface="HY강M" pitchFamily="18" charset="-127"/>
                <a:ea typeface="HY강M" pitchFamily="18" charset="-127"/>
                <a:sym typeface="HY강M" pitchFamily="18" charset="-127"/>
              </a:rPr>
              <a:t> </a:t>
            </a:r>
            <a:r>
              <a:rPr lang="ko-KR" altLang="en-US" sz="5500" dirty="0" smtClean="0">
                <a:solidFill>
                  <a:srgbClr val="525252"/>
                </a:solidFill>
                <a:latin typeface="HY강M" pitchFamily="18" charset="-127"/>
                <a:ea typeface="HY강M" pitchFamily="18" charset="-127"/>
                <a:sym typeface="HY강M" pitchFamily="18" charset="-127"/>
              </a:rPr>
              <a:t>추가하기</a:t>
            </a:r>
            <a:endParaRPr lang="ko-KR" altLang="en-US" sz="5500" dirty="0">
              <a:solidFill>
                <a:srgbClr val="525252"/>
              </a:solidFill>
              <a:latin typeface="HY강M" pitchFamily="18" charset="-127"/>
              <a:ea typeface="HY강M" pitchFamily="18" charset="-127"/>
              <a:sym typeface="HY강M" pitchFamily="18" charset="-127"/>
            </a:endParaRPr>
          </a:p>
        </p:txBody>
      </p:sp>
      <p:sp>
        <p:nvSpPr>
          <p:cNvPr id="16392" name="Shape 100"/>
          <p:cNvSpPr>
            <a:spLocks noChangeArrowheads="1"/>
          </p:cNvSpPr>
          <p:nvPr/>
        </p:nvSpPr>
        <p:spPr bwMode="auto">
          <a:xfrm>
            <a:off x="2270125" y="8540750"/>
            <a:ext cx="117157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7542" tIns="57542" rIns="57542" bIns="57542">
            <a:spAutoFit/>
          </a:bodyPr>
          <a:lstStyle/>
          <a:p>
            <a:pPr marL="200025" indent="-200025" latinLnBrk="0" hangingPunct="0">
              <a:buSzPct val="100000"/>
              <a:buFontTx/>
              <a:buChar char="•"/>
            </a:pPr>
            <a:r>
              <a:rPr lang="ko-KR" altLang="en-US" sz="2600">
                <a:solidFill>
                  <a:srgbClr val="FA7E23"/>
                </a:solidFill>
                <a:latin typeface="Adobe 고딕 Std B" pitchFamily="34" charset="-127"/>
                <a:ea typeface="Adobe 고딕 Std B" pitchFamily="34" charset="-127"/>
                <a:sym typeface="Adobe 고딕 Std B" pitchFamily="34" charset="-127"/>
              </a:rPr>
              <a:t>여기서 </a:t>
            </a:r>
            <a:r>
              <a:rPr lang="en-US" altLang="ko-KR" sz="2600">
                <a:solidFill>
                  <a:srgbClr val="FA7E23"/>
                </a:solidFill>
                <a:latin typeface="Adobe 고딕 Std B" pitchFamily="34" charset="-127"/>
                <a:ea typeface="Adobe 고딕 Std B" pitchFamily="34" charset="-127"/>
                <a:sym typeface="Adobe 고딕 Std B" pitchFamily="34" charset="-127"/>
              </a:rPr>
              <a:t>this</a:t>
            </a:r>
            <a:r>
              <a:rPr lang="ko-KR" altLang="en-US" sz="2600">
                <a:solidFill>
                  <a:srgbClr val="FA7E23"/>
                </a:solidFill>
                <a:latin typeface="Adobe 고딕 Std B" pitchFamily="34" charset="-127"/>
                <a:ea typeface="Adobe 고딕 Std B" pitchFamily="34" charset="-127"/>
                <a:sym typeface="Adobe 고딕 Std B" pitchFamily="34" charset="-127"/>
              </a:rPr>
              <a:t>는 </a:t>
            </a:r>
            <a:r>
              <a:rPr lang="en-US" altLang="ko-KR" sz="2600">
                <a:solidFill>
                  <a:srgbClr val="FA7E23"/>
                </a:solidFill>
                <a:latin typeface="Adobe 고딕 Std B" pitchFamily="34" charset="-127"/>
                <a:ea typeface="Adobe 고딕 Std B" pitchFamily="34" charset="-127"/>
                <a:sym typeface="Adobe 고딕 Std B" pitchFamily="34" charset="-127"/>
              </a:rPr>
              <a:t>baby</a:t>
            </a:r>
            <a:r>
              <a:rPr lang="ko-KR" altLang="en-US" sz="2600">
                <a:solidFill>
                  <a:srgbClr val="FA7E23"/>
                </a:solidFill>
                <a:latin typeface="Adobe 고딕 Std B" pitchFamily="34" charset="-127"/>
                <a:ea typeface="Adobe 고딕 Std B" pitchFamily="34" charset="-127"/>
                <a:sym typeface="Adobe 고딕 Std B" pitchFamily="34" charset="-127"/>
              </a:rPr>
              <a:t>의 객체가 된다</a:t>
            </a:r>
            <a:r>
              <a:rPr lang="en-US" altLang="ko-KR" sz="2600">
                <a:solidFill>
                  <a:srgbClr val="FA7E23"/>
                </a:solidFill>
                <a:latin typeface="Adobe 고딕 Std B" pitchFamily="34" charset="-127"/>
                <a:ea typeface="Adobe 고딕 Std B" pitchFamily="34" charset="-127"/>
                <a:sym typeface="Adobe 고딕 Std B" pitchFamily="34" charset="-127"/>
              </a:rPr>
              <a:t>.</a:t>
            </a:r>
          </a:p>
          <a:p>
            <a:pPr marL="200025" indent="-200025" latinLnBrk="0" hangingPunct="0">
              <a:buSzPct val="100000"/>
              <a:buFontTx/>
              <a:buChar char="•"/>
            </a:pPr>
            <a:r>
              <a:rPr lang="ko-KR" altLang="en-US" sz="2600">
                <a:solidFill>
                  <a:srgbClr val="FA7E23"/>
                </a:solidFill>
                <a:latin typeface="Adobe 고딕 Std B" pitchFamily="34" charset="-127"/>
                <a:ea typeface="Adobe 고딕 Std B" pitchFamily="34" charset="-127"/>
                <a:sym typeface="Adobe 고딕 Std B" pitchFamily="34" charset="-127"/>
              </a:rPr>
              <a:t>메서드를 호출하면 </a:t>
            </a:r>
            <a:r>
              <a:rPr lang="en-US" altLang="ko-KR" sz="2600">
                <a:solidFill>
                  <a:srgbClr val="FA7E23"/>
                </a:solidFill>
                <a:latin typeface="Adobe 고딕 Std B" pitchFamily="34" charset="-127"/>
                <a:ea typeface="Adobe 고딕 Std B" pitchFamily="34" charset="-127"/>
                <a:sym typeface="Adobe 고딕 Std B" pitchFamily="34" charset="-127"/>
              </a:rPr>
              <a:t>this</a:t>
            </a:r>
            <a:r>
              <a:rPr lang="ko-KR" altLang="en-US" sz="2600">
                <a:solidFill>
                  <a:srgbClr val="FA7E23"/>
                </a:solidFill>
                <a:latin typeface="Adobe 고딕 Std B" pitchFamily="34" charset="-127"/>
                <a:ea typeface="Adobe 고딕 Std B" pitchFamily="34" charset="-127"/>
                <a:sym typeface="Adobe 고딕 Std B" pitchFamily="34" charset="-127"/>
              </a:rPr>
              <a:t>를 통해서 메서드를 가지고 있는 객체가 넘어온다</a:t>
            </a:r>
            <a:r>
              <a:rPr lang="en-US" altLang="ko-KR" sz="2600">
                <a:solidFill>
                  <a:srgbClr val="FA7E23"/>
                </a:solidFill>
                <a:latin typeface="Adobe 고딕 Std B" pitchFamily="34" charset="-127"/>
                <a:ea typeface="Adobe 고딕 Std B" pitchFamily="34" charset="-127"/>
                <a:sym typeface="Adobe 고딕 Std B" pitchFamily="34" charset="-127"/>
              </a:rPr>
              <a:t>.</a:t>
            </a:r>
          </a:p>
        </p:txBody>
      </p:sp>
      <p:pic>
        <p:nvPicPr>
          <p:cNvPr id="9" name="그림 4" descr="babies-0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2296" y="1227740"/>
            <a:ext cx="4032448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72788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14"/>
          <p:cNvSpPr/>
          <p:nvPr/>
        </p:nvSpPr>
        <p:spPr>
          <a:xfrm>
            <a:off x="0" y="0"/>
            <a:ext cx="16281400" cy="4860925"/>
          </a:xfrm>
          <a:prstGeom prst="rect">
            <a:avLst/>
          </a:prstGeom>
          <a:solidFill>
            <a:srgbClr val="4CA4FD"/>
          </a:solidFill>
          <a:ln>
            <a:solidFill>
              <a:srgbClr val="4CA4FD"/>
            </a:solidFill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lIns="45719" rIns="45719"/>
          <a:lstStyle/>
          <a:p>
            <a:pPr algn="r">
              <a:defRPr sz="2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Shape 128"/>
          <p:cNvSpPr/>
          <p:nvPr/>
        </p:nvSpPr>
        <p:spPr>
          <a:xfrm>
            <a:off x="999208" y="2089696"/>
            <a:ext cx="14257584" cy="19628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altLang="ko-KR" sz="6000" dirty="0" smtClean="0">
                <a:solidFill>
                  <a:schemeClr val="bg1"/>
                </a:solidFill>
              </a:rPr>
              <a:t>jQuery UI</a:t>
            </a:r>
            <a:r>
              <a:rPr lang="ko-KR" altLang="en-US" sz="6000" dirty="0" smtClean="0">
                <a:solidFill>
                  <a:schemeClr val="bg1"/>
                </a:solidFill>
              </a:rPr>
              <a:t>의 구성</a:t>
            </a:r>
            <a:endParaRPr lang="en-US" altLang="ko-KR" sz="6000" dirty="0" smtClean="0">
              <a:solidFill>
                <a:schemeClr val="bg1"/>
              </a:solidFill>
            </a:endParaRPr>
          </a:p>
          <a:p>
            <a:pPr algn="ctr"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endParaRPr lang="en-US" altLang="ko-KR" sz="6000" dirty="0" smtClean="0">
              <a:solidFill>
                <a:schemeClr val="bg1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1863304" y="5690096"/>
          <a:ext cx="12889432" cy="259228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380668"/>
                <a:gridCol w="8508764"/>
              </a:tblGrid>
              <a:tr h="6480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 smtClean="0">
                          <a:latin typeface="Adobe 고딕 Std B" pitchFamily="34" charset="-127"/>
                          <a:ea typeface="Adobe 고딕 Std B" pitchFamily="34" charset="-127"/>
                        </a:rPr>
                        <a:t>컴포넌트</a:t>
                      </a:r>
                      <a:endParaRPr lang="ko-KR" altLang="en-US" sz="2500" dirty="0"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 smtClean="0">
                          <a:latin typeface="Adobe 고딕 Std B" pitchFamily="34" charset="-127"/>
                          <a:ea typeface="Adobe 고딕 Std B" pitchFamily="34" charset="-127"/>
                        </a:rPr>
                        <a:t>개요</a:t>
                      </a:r>
                      <a:endParaRPr lang="ko-KR" altLang="en-US" sz="2500" dirty="0"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/>
                </a:tc>
              </a:tr>
              <a:tr h="648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Interaction</a:t>
                      </a:r>
                      <a:endParaRPr lang="ko-KR" altLang="en-US" sz="2500" dirty="0">
                        <a:solidFill>
                          <a:schemeClr val="bg1">
                            <a:lumMod val="50000"/>
                          </a:schemeClr>
                        </a:soli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드래그 </a:t>
                      </a:r>
                      <a:r>
                        <a:rPr lang="ko-KR" altLang="en-US" sz="250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드랍</a:t>
                      </a:r>
                      <a:r>
                        <a:rPr lang="en-US" altLang="ko-KR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, </a:t>
                      </a:r>
                      <a:r>
                        <a:rPr lang="ko-KR" altLang="en-US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크기 조정 등 마우스를 사용한 대화 조작</a:t>
                      </a:r>
                      <a:endParaRPr lang="ko-KR" altLang="en-US" sz="2500" dirty="0">
                        <a:solidFill>
                          <a:schemeClr val="bg1">
                            <a:lumMod val="50000"/>
                          </a:schemeClr>
                        </a:soli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/>
                </a:tc>
              </a:tr>
              <a:tr h="648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Widgets</a:t>
                      </a:r>
                      <a:endParaRPr lang="ko-KR" altLang="en-US" sz="2500" dirty="0">
                        <a:solidFill>
                          <a:schemeClr val="bg1">
                            <a:lumMod val="50000"/>
                          </a:schemeClr>
                        </a:soli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아코디언 패널</a:t>
                      </a:r>
                      <a:r>
                        <a:rPr lang="en-US" altLang="ko-KR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, </a:t>
                      </a:r>
                      <a:r>
                        <a:rPr lang="ko-KR" altLang="en-US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탭</a:t>
                      </a:r>
                      <a:r>
                        <a:rPr lang="en-US" altLang="ko-KR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, </a:t>
                      </a:r>
                      <a:r>
                        <a:rPr lang="ko-KR" altLang="en-US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메뉴</a:t>
                      </a:r>
                      <a:r>
                        <a:rPr lang="en-US" altLang="ko-KR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, </a:t>
                      </a:r>
                      <a:r>
                        <a:rPr lang="ko-KR" altLang="en-US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다이얼로그 등의 정형적인 </a:t>
                      </a:r>
                      <a:r>
                        <a:rPr lang="en-US" altLang="ko-KR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UI </a:t>
                      </a:r>
                      <a:r>
                        <a:rPr lang="ko-KR" altLang="en-US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부품</a:t>
                      </a:r>
                      <a:endParaRPr lang="ko-KR" altLang="en-US" sz="2500" dirty="0">
                        <a:solidFill>
                          <a:schemeClr val="bg1">
                            <a:lumMod val="50000"/>
                          </a:schemeClr>
                        </a:soli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/>
                </a:tc>
              </a:tr>
              <a:tr h="648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Effects</a:t>
                      </a:r>
                      <a:endParaRPr lang="ko-KR" altLang="en-US" sz="2500" dirty="0">
                        <a:solidFill>
                          <a:schemeClr val="bg1">
                            <a:lumMod val="50000"/>
                          </a:schemeClr>
                        </a:soli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jQuery</a:t>
                      </a:r>
                      <a:r>
                        <a:rPr lang="ko-KR" altLang="en-US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효과를 확장</a:t>
                      </a:r>
                      <a:endParaRPr lang="ko-KR" altLang="en-US" sz="2500" dirty="0">
                        <a:solidFill>
                          <a:schemeClr val="bg1">
                            <a:lumMod val="50000"/>
                          </a:schemeClr>
                        </a:soli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14"/>
          <p:cNvSpPr/>
          <p:nvPr/>
        </p:nvSpPr>
        <p:spPr>
          <a:xfrm>
            <a:off x="0" y="0"/>
            <a:ext cx="16281400" cy="4860925"/>
          </a:xfrm>
          <a:prstGeom prst="rect">
            <a:avLst/>
          </a:prstGeom>
          <a:solidFill>
            <a:srgbClr val="4CA4FD"/>
          </a:solidFill>
          <a:ln>
            <a:solidFill>
              <a:srgbClr val="4CA4FD"/>
            </a:solidFill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lIns="45719" rIns="45719"/>
          <a:lstStyle/>
          <a:p>
            <a:pPr algn="r">
              <a:defRPr sz="2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Shape 128"/>
          <p:cNvSpPr/>
          <p:nvPr/>
        </p:nvSpPr>
        <p:spPr>
          <a:xfrm>
            <a:off x="999208" y="2089696"/>
            <a:ext cx="14257584" cy="19628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altLang="ko-KR" sz="6000" dirty="0" smtClean="0">
                <a:solidFill>
                  <a:schemeClr val="bg1"/>
                </a:solidFill>
              </a:rPr>
              <a:t>Widget</a:t>
            </a:r>
            <a:r>
              <a:rPr lang="ko-KR" altLang="en-US" sz="6000" dirty="0" smtClean="0">
                <a:solidFill>
                  <a:schemeClr val="bg1"/>
                </a:solidFill>
              </a:rPr>
              <a:t>에서 수정가능한 항목</a:t>
            </a:r>
            <a:endParaRPr lang="en-US" altLang="ko-KR" sz="6000" dirty="0" smtClean="0">
              <a:solidFill>
                <a:schemeClr val="bg1"/>
              </a:solidFill>
            </a:endParaRPr>
          </a:p>
          <a:p>
            <a:pPr algn="ctr"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endParaRPr lang="en-US" altLang="ko-KR" sz="6000" dirty="0" smtClean="0">
              <a:solidFill>
                <a:schemeClr val="bg1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1647280" y="6482184"/>
          <a:ext cx="13609512" cy="259228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25398"/>
                <a:gridCol w="8984114"/>
              </a:tblGrid>
              <a:tr h="6480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 smtClean="0">
                          <a:latin typeface="Adobe 고딕 Std B" pitchFamily="34" charset="-127"/>
                          <a:ea typeface="Adobe 고딕 Std B" pitchFamily="34" charset="-127"/>
                        </a:rPr>
                        <a:t>수정가능</a:t>
                      </a:r>
                      <a:endParaRPr lang="ko-KR" altLang="en-US" sz="2500" dirty="0"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 smtClean="0">
                          <a:latin typeface="Adobe 고딕 Std B" pitchFamily="34" charset="-127"/>
                          <a:ea typeface="Adobe 고딕 Std B" pitchFamily="34" charset="-127"/>
                        </a:rPr>
                        <a:t>내용</a:t>
                      </a:r>
                      <a:endParaRPr lang="ko-KR" altLang="en-US" sz="2500" dirty="0"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/>
                </a:tc>
              </a:tr>
              <a:tr h="648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Options, property</a:t>
                      </a:r>
                      <a:endParaRPr lang="ko-KR" altLang="en-US" sz="2500" dirty="0">
                        <a:solidFill>
                          <a:schemeClr val="bg1">
                            <a:lumMod val="50000"/>
                          </a:schemeClr>
                        </a:soli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변경할 수 있는 </a:t>
                      </a:r>
                      <a:r>
                        <a:rPr lang="ko-KR" altLang="en-US" sz="2500" dirty="0" err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데이터형의</a:t>
                      </a:r>
                      <a:r>
                        <a:rPr lang="ko-KR" altLang="en-US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 </a:t>
                      </a:r>
                      <a:r>
                        <a:rPr lang="en-US" altLang="ko-KR" sz="25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Type</a:t>
                      </a:r>
                      <a:r>
                        <a:rPr lang="ko-KR" altLang="en-US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을 확인하여 수정</a:t>
                      </a:r>
                      <a:endParaRPr lang="ko-KR" altLang="en-US" sz="2500" dirty="0">
                        <a:solidFill>
                          <a:schemeClr val="bg1">
                            <a:lumMod val="50000"/>
                          </a:schemeClr>
                        </a:soli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/>
                </a:tc>
              </a:tr>
              <a:tr h="648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methods</a:t>
                      </a:r>
                      <a:endParaRPr lang="ko-KR" altLang="en-US" sz="2500" dirty="0">
                        <a:solidFill>
                          <a:schemeClr val="bg1">
                            <a:lumMod val="50000"/>
                          </a:schemeClr>
                        </a:soli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활용할 수 있는 </a:t>
                      </a:r>
                      <a:r>
                        <a:rPr lang="ko-KR" altLang="en-US" sz="250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메소드가</a:t>
                      </a:r>
                      <a:r>
                        <a:rPr lang="ko-KR" altLang="en-US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 무엇이 있는 지 확인하여 사용가능</a:t>
                      </a:r>
                      <a:endParaRPr lang="ko-KR" altLang="en-US" sz="2500" dirty="0">
                        <a:solidFill>
                          <a:schemeClr val="bg1">
                            <a:lumMod val="50000"/>
                          </a:schemeClr>
                        </a:soli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/>
                </a:tc>
              </a:tr>
              <a:tr h="648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Events</a:t>
                      </a:r>
                      <a:endParaRPr lang="ko-KR" altLang="en-US" sz="2500" dirty="0">
                        <a:solidFill>
                          <a:schemeClr val="bg1">
                            <a:lumMod val="50000"/>
                          </a:schemeClr>
                        </a:soli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obe 고딕 Std B" pitchFamily="34" charset="-127"/>
                          <a:ea typeface="Adobe 고딕 Std B" pitchFamily="34" charset="-127"/>
                        </a:rPr>
                        <a:t>사용자가 사용할 수 있는 이벤트가 무엇이 있는지 확인하여 수정</a:t>
                      </a:r>
                      <a:endParaRPr lang="ko-KR" altLang="en-US" sz="2500" dirty="0">
                        <a:solidFill>
                          <a:schemeClr val="bg1">
                            <a:lumMod val="50000"/>
                          </a:schemeClr>
                        </a:solidFill>
                        <a:latin typeface="Adobe 고딕 Std B" pitchFamily="34" charset="-127"/>
                        <a:ea typeface="Adobe 고딕 Std B" pitchFamily="34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Shape 128"/>
          <p:cNvSpPr/>
          <p:nvPr/>
        </p:nvSpPr>
        <p:spPr>
          <a:xfrm>
            <a:off x="1143224" y="5042024"/>
            <a:ext cx="14257584" cy="1224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ko-KR" altLang="en-US" sz="3600" dirty="0" smtClean="0"/>
              <a:t>제이쿼리 </a:t>
            </a:r>
            <a:r>
              <a:rPr lang="en-US" altLang="ko-KR" sz="3600" dirty="0" smtClean="0"/>
              <a:t>UI </a:t>
            </a:r>
            <a:r>
              <a:rPr lang="ko-KR" altLang="en-US" sz="3600" dirty="0" err="1" smtClean="0"/>
              <a:t>위젯에서는</a:t>
            </a:r>
            <a:r>
              <a:rPr lang="ko-KR" altLang="en-US" sz="3600" dirty="0" smtClean="0"/>
              <a:t> </a:t>
            </a:r>
            <a:r>
              <a:rPr lang="ko-KR" altLang="en-US" sz="3600" dirty="0" smtClean="0">
                <a:solidFill>
                  <a:srgbClr val="FF0000"/>
                </a:solidFill>
              </a:rPr>
              <a:t>매개변수</a:t>
            </a:r>
            <a:r>
              <a:rPr lang="ko-KR" altLang="en-US" sz="3600" dirty="0" smtClean="0"/>
              <a:t>를 이용해 </a:t>
            </a:r>
            <a:r>
              <a:rPr lang="ko-KR" altLang="en-US" sz="3600" dirty="0" err="1" smtClean="0"/>
              <a:t>위치라던지</a:t>
            </a:r>
            <a:r>
              <a:rPr lang="en-US" altLang="ko-KR" sz="3600" dirty="0" smtClean="0"/>
              <a:t>, </a:t>
            </a:r>
            <a:r>
              <a:rPr lang="ko-KR" altLang="en-US" sz="3600" dirty="0" smtClean="0"/>
              <a:t>효과 등을 사용자가 원하는 대로 수정 가능하다</a:t>
            </a:r>
            <a:r>
              <a:rPr lang="en-US" altLang="ko-KR" sz="3600" dirty="0" smtClean="0"/>
              <a:t>.</a:t>
            </a:r>
            <a:endParaRPr sz="36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GREEN\Desktop\제이쿼리플러그인\20170316_162441_43.png"/>
          <p:cNvPicPr>
            <a:picLocks noChangeAspect="1" noChangeArrowheads="1"/>
          </p:cNvPicPr>
          <p:nvPr/>
        </p:nvPicPr>
        <p:blipFill>
          <a:blip r:embed="rId3" cstate="print"/>
          <a:srcRect t="20618"/>
          <a:stretch>
            <a:fillRect/>
          </a:stretch>
        </p:blipFill>
        <p:spPr bwMode="auto">
          <a:xfrm>
            <a:off x="4098960" y="3754430"/>
            <a:ext cx="7925580" cy="5385713"/>
          </a:xfrm>
          <a:prstGeom prst="rect">
            <a:avLst/>
          </a:prstGeom>
          <a:noFill/>
        </p:spPr>
      </p:pic>
      <p:grpSp>
        <p:nvGrpSpPr>
          <p:cNvPr id="2" name="그룹 10"/>
          <p:cNvGrpSpPr/>
          <p:nvPr/>
        </p:nvGrpSpPr>
        <p:grpSpPr>
          <a:xfrm>
            <a:off x="1935312" y="246291"/>
            <a:ext cx="9793088" cy="1005798"/>
            <a:chOff x="1935312" y="246291"/>
            <a:chExt cx="9793088" cy="1005798"/>
          </a:xfrm>
        </p:grpSpPr>
        <p:sp>
          <p:nvSpPr>
            <p:cNvPr id="7" name="Shape 238"/>
            <p:cNvSpPr/>
            <p:nvPr/>
          </p:nvSpPr>
          <p:spPr>
            <a:xfrm>
              <a:off x="1935312" y="289496"/>
              <a:ext cx="7056784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01_tab: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10" name="Picture 2" descr="C:\Users\GREEN\Desktop\제이쿼리플러그인\20170316_162441_43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55876" b="89691"/>
            <a:stretch>
              <a:fillRect/>
            </a:stretch>
          </p:blipFill>
          <p:spPr bwMode="auto">
            <a:xfrm>
              <a:off x="6831856" y="246291"/>
              <a:ext cx="4896544" cy="979309"/>
            </a:xfrm>
            <a:prstGeom prst="rect">
              <a:avLst/>
            </a:prstGeom>
            <a:noFill/>
          </p:spPr>
        </p:pic>
      </p:grp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98894" y="1396976"/>
            <a:ext cx="9029700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"/>
          <p:cNvGrpSpPr/>
          <p:nvPr/>
        </p:nvGrpSpPr>
        <p:grpSpPr>
          <a:xfrm>
            <a:off x="1935312" y="246291"/>
            <a:ext cx="9793088" cy="1005798"/>
            <a:chOff x="1935312" y="246291"/>
            <a:chExt cx="9793088" cy="1005798"/>
          </a:xfrm>
        </p:grpSpPr>
        <p:sp>
          <p:nvSpPr>
            <p:cNvPr id="7" name="Shape 238"/>
            <p:cNvSpPr/>
            <p:nvPr/>
          </p:nvSpPr>
          <p:spPr>
            <a:xfrm>
              <a:off x="1935312" y="289496"/>
              <a:ext cx="7056784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01_tab: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10" name="Picture 2" descr="C:\Users\GREEN\Desktop\제이쿼리플러그인\20170316_162441_43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55876" b="89691"/>
            <a:stretch>
              <a:fillRect/>
            </a:stretch>
          </p:blipFill>
          <p:spPr bwMode="auto">
            <a:xfrm>
              <a:off x="6831856" y="246291"/>
              <a:ext cx="4896544" cy="979309"/>
            </a:xfrm>
            <a:prstGeom prst="rect">
              <a:avLst/>
            </a:prstGeom>
            <a:noFill/>
          </p:spPr>
        </p:pic>
      </p:grpSp>
      <p:pic>
        <p:nvPicPr>
          <p:cNvPr id="2050" name="Picture 2" descr="C:\Users\GREEN\Desktop\제이쿼리플러그인\20170316_162441_4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23344" y="1209082"/>
            <a:ext cx="12097344" cy="844291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"/>
          <p:cNvGrpSpPr/>
          <p:nvPr/>
        </p:nvGrpSpPr>
        <p:grpSpPr>
          <a:xfrm>
            <a:off x="1935312" y="246291"/>
            <a:ext cx="9793088" cy="1005798"/>
            <a:chOff x="1935312" y="246291"/>
            <a:chExt cx="9793088" cy="1005798"/>
          </a:xfrm>
        </p:grpSpPr>
        <p:sp>
          <p:nvSpPr>
            <p:cNvPr id="7" name="Shape 238"/>
            <p:cNvSpPr/>
            <p:nvPr/>
          </p:nvSpPr>
          <p:spPr>
            <a:xfrm>
              <a:off x="1935312" y="289496"/>
              <a:ext cx="7056784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01_tab: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10" name="Picture 2" descr="C:\Users\GREEN\Desktop\제이쿼리플러그인\20170316_162441_43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55876" b="89691"/>
            <a:stretch>
              <a:fillRect/>
            </a:stretch>
          </p:blipFill>
          <p:spPr bwMode="auto">
            <a:xfrm>
              <a:off x="6831856" y="246291"/>
              <a:ext cx="4896544" cy="979309"/>
            </a:xfrm>
            <a:prstGeom prst="rect">
              <a:avLst/>
            </a:prstGeom>
            <a:noFill/>
          </p:spPr>
        </p:pic>
      </p:grpSp>
      <p:pic>
        <p:nvPicPr>
          <p:cNvPr id="3074" name="Picture 2" descr="C:\Users\GREEN\Desktop\제이쿼리플러그인\20170316_162441_41.png"/>
          <p:cNvPicPr>
            <a:picLocks noChangeAspect="1" noChangeArrowheads="1"/>
          </p:cNvPicPr>
          <p:nvPr/>
        </p:nvPicPr>
        <p:blipFill>
          <a:blip r:embed="rId4" cstate="print"/>
          <a:srcRect t="30222"/>
          <a:stretch>
            <a:fillRect/>
          </a:stretch>
        </p:blipFill>
        <p:spPr bwMode="auto">
          <a:xfrm>
            <a:off x="927200" y="1369616"/>
            <a:ext cx="14329592" cy="800443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"/>
          <p:cNvGrpSpPr/>
          <p:nvPr/>
        </p:nvGrpSpPr>
        <p:grpSpPr>
          <a:xfrm>
            <a:off x="1935312" y="246291"/>
            <a:ext cx="9793088" cy="1005798"/>
            <a:chOff x="1935312" y="246291"/>
            <a:chExt cx="9793088" cy="1005798"/>
          </a:xfrm>
        </p:grpSpPr>
        <p:sp>
          <p:nvSpPr>
            <p:cNvPr id="7" name="Shape 238"/>
            <p:cNvSpPr/>
            <p:nvPr/>
          </p:nvSpPr>
          <p:spPr>
            <a:xfrm>
              <a:off x="1935312" y="289496"/>
              <a:ext cx="7056784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01_tab: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10" name="Picture 2" descr="C:\Users\GREEN\Desktop\제이쿼리플러그인\20170316_162441_43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55876" b="89691"/>
            <a:stretch>
              <a:fillRect/>
            </a:stretch>
          </p:blipFill>
          <p:spPr bwMode="auto">
            <a:xfrm>
              <a:off x="6831856" y="246291"/>
              <a:ext cx="4896544" cy="979309"/>
            </a:xfrm>
            <a:prstGeom prst="rect">
              <a:avLst/>
            </a:prstGeom>
            <a:noFill/>
          </p:spPr>
        </p:pic>
      </p:grpSp>
      <p:pic>
        <p:nvPicPr>
          <p:cNvPr id="4098" name="Picture 2" descr="C:\Users\GREEN\Desktop\제이쿼리플러그인\20170316_162441_40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31256" y="1378987"/>
            <a:ext cx="13897544" cy="8273013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/>
        </p:nvSpPr>
        <p:spPr>
          <a:xfrm>
            <a:off x="567160" y="289496"/>
            <a:ext cx="13393488" cy="962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dirty="0" smtClean="0">
                <a:latin typeface="Adobe 고딕 Std B" pitchFamily="34" charset="-127"/>
                <a:ea typeface="Adobe 고딕 Std B" pitchFamily="34" charset="-127"/>
              </a:rPr>
              <a:t>02_depth menu</a:t>
            </a:r>
            <a:endParaRPr dirty="0"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7" name="Picture 2" descr="C:\Users\GREEN\AppData\Local\Microsoft\Windows\Temporary Internet Files\Content.IE5\Z9CQGH8I\01_explorer_mini[1]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392696" y="217488"/>
            <a:ext cx="1524000" cy="1203960"/>
          </a:xfrm>
          <a:prstGeom prst="rect">
            <a:avLst/>
          </a:prstGeom>
          <a:noFill/>
        </p:spPr>
      </p:pic>
      <p:pic>
        <p:nvPicPr>
          <p:cNvPr id="2" name="Picture 2" descr="C:\Users\GREEN\Desktop\20170316_090954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1176" y="2593752"/>
            <a:ext cx="15274165" cy="548726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GREEN\Desktop\제이쿼리플러그인\20170316_162441_28.png"/>
          <p:cNvPicPr>
            <a:picLocks noChangeAspect="1" noChangeArrowheads="1"/>
          </p:cNvPicPr>
          <p:nvPr/>
        </p:nvPicPr>
        <p:blipFill>
          <a:blip r:embed="rId3" cstate="print"/>
          <a:srcRect t="21720" b="11304"/>
          <a:stretch>
            <a:fillRect/>
          </a:stretch>
        </p:blipFill>
        <p:spPr bwMode="auto">
          <a:xfrm>
            <a:off x="1575272" y="1297608"/>
            <a:ext cx="12241360" cy="7272808"/>
          </a:xfrm>
          <a:prstGeom prst="rect">
            <a:avLst/>
          </a:prstGeom>
          <a:noFill/>
        </p:spPr>
      </p:pic>
      <p:grpSp>
        <p:nvGrpSpPr>
          <p:cNvPr id="9" name="그룹 8"/>
          <p:cNvGrpSpPr/>
          <p:nvPr/>
        </p:nvGrpSpPr>
        <p:grpSpPr>
          <a:xfrm>
            <a:off x="927200" y="289496"/>
            <a:ext cx="13033448" cy="1152128"/>
            <a:chOff x="567160" y="289496"/>
            <a:chExt cx="13033448" cy="1152128"/>
          </a:xfrm>
        </p:grpSpPr>
        <p:sp>
          <p:nvSpPr>
            <p:cNvPr id="238" name="Shape 238"/>
            <p:cNvSpPr/>
            <p:nvPr/>
          </p:nvSpPr>
          <p:spPr>
            <a:xfrm>
              <a:off x="567160" y="289496"/>
              <a:ext cx="7992888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02_depth menu 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6" name="Picture 2" descr="C:\Users\GREEN\Desktop\제이쿼리플러그인\20170316_162441_28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41497" b="87730"/>
            <a:stretch>
              <a:fillRect/>
            </a:stretch>
          </p:blipFill>
          <p:spPr bwMode="auto">
            <a:xfrm>
              <a:off x="7407920" y="289496"/>
              <a:ext cx="6192688" cy="1152128"/>
            </a:xfrm>
            <a:prstGeom prst="rect">
              <a:avLst/>
            </a:prstGeom>
            <a:noFill/>
          </p:spPr>
        </p:pic>
      </p:grpSp>
      <p:sp>
        <p:nvSpPr>
          <p:cNvPr id="8" name="Shape 128"/>
          <p:cNvSpPr/>
          <p:nvPr/>
        </p:nvSpPr>
        <p:spPr>
          <a:xfrm>
            <a:off x="567160" y="8570416"/>
            <a:ext cx="13681520" cy="793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altLang="ko-KR" sz="4400" dirty="0" smtClean="0">
                <a:solidFill>
                  <a:schemeClr val="tx1"/>
                </a:solidFill>
              </a:rPr>
              <a:t>- </a:t>
            </a:r>
            <a:r>
              <a:rPr lang="en-US" altLang="ko-KR" sz="4400" dirty="0" smtClean="0">
                <a:solidFill>
                  <a:srgbClr val="FF0000"/>
                </a:solidFill>
              </a:rPr>
              <a:t>$(</a:t>
            </a:r>
            <a:r>
              <a:rPr lang="ko-KR" altLang="en-US" sz="4400" dirty="0" err="1" smtClean="0">
                <a:solidFill>
                  <a:srgbClr val="FF0000"/>
                </a:solidFill>
              </a:rPr>
              <a:t>선택자</a:t>
            </a:r>
            <a:r>
              <a:rPr lang="en-US" altLang="ko-KR" sz="4400" dirty="0" smtClean="0">
                <a:solidFill>
                  <a:srgbClr val="FF0000"/>
                </a:solidFill>
              </a:rPr>
              <a:t>).menu({</a:t>
            </a:r>
            <a:r>
              <a:rPr lang="ko-KR" altLang="en-US" sz="4400" dirty="0" smtClean="0">
                <a:solidFill>
                  <a:srgbClr val="FF0000"/>
                </a:solidFill>
              </a:rPr>
              <a:t>매개변수</a:t>
            </a:r>
            <a:r>
              <a:rPr lang="en-US" altLang="ko-KR" sz="4400" dirty="0" smtClean="0">
                <a:solidFill>
                  <a:srgbClr val="FF0000"/>
                </a:solidFill>
              </a:rPr>
              <a:t>:</a:t>
            </a:r>
            <a:r>
              <a:rPr lang="ko-KR" altLang="en-US" sz="4400" dirty="0" smtClean="0">
                <a:solidFill>
                  <a:srgbClr val="FF0000"/>
                </a:solidFill>
              </a:rPr>
              <a:t>값</a:t>
            </a:r>
            <a:r>
              <a:rPr lang="en-US" altLang="ko-KR" sz="4400" dirty="0" smtClean="0">
                <a:solidFill>
                  <a:srgbClr val="FF0000"/>
                </a:solidFill>
              </a:rPr>
              <a:t>,..});</a:t>
            </a:r>
            <a:endParaRPr sz="4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GREEN\Desktop\제이쿼리플러그인\20170316_162441_27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801664"/>
            <a:ext cx="16256000" cy="6422663"/>
          </a:xfrm>
          <a:prstGeom prst="rect">
            <a:avLst/>
          </a:prstGeom>
          <a:noFill/>
        </p:spPr>
      </p:pic>
      <p:grpSp>
        <p:nvGrpSpPr>
          <p:cNvPr id="8" name="그룹 7"/>
          <p:cNvGrpSpPr/>
          <p:nvPr/>
        </p:nvGrpSpPr>
        <p:grpSpPr>
          <a:xfrm>
            <a:off x="927200" y="289496"/>
            <a:ext cx="13033448" cy="1152128"/>
            <a:chOff x="567160" y="289496"/>
            <a:chExt cx="13033448" cy="1152128"/>
          </a:xfrm>
        </p:grpSpPr>
        <p:sp>
          <p:nvSpPr>
            <p:cNvPr id="9" name="Shape 238"/>
            <p:cNvSpPr/>
            <p:nvPr/>
          </p:nvSpPr>
          <p:spPr>
            <a:xfrm>
              <a:off x="567160" y="289496"/>
              <a:ext cx="7992888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02_depth menu 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10" name="Picture 2" descr="C:\Users\GREEN\Desktop\제이쿼리플러그인\20170316_162441_28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41497" b="87730"/>
            <a:stretch>
              <a:fillRect/>
            </a:stretch>
          </p:blipFill>
          <p:spPr bwMode="auto">
            <a:xfrm>
              <a:off x="7407920" y="289496"/>
              <a:ext cx="6192688" cy="1152128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GREEN\Desktop\제이쿼리플러그인\20170316_162441_26.png"/>
          <p:cNvPicPr>
            <a:picLocks noChangeAspect="1" noChangeArrowheads="1"/>
          </p:cNvPicPr>
          <p:nvPr/>
        </p:nvPicPr>
        <p:blipFill>
          <a:blip r:embed="rId3" cstate="print"/>
          <a:srcRect t="17146" r="12796"/>
          <a:stretch>
            <a:fillRect/>
          </a:stretch>
        </p:blipFill>
        <p:spPr bwMode="auto">
          <a:xfrm>
            <a:off x="2151336" y="1369616"/>
            <a:ext cx="11752108" cy="8282384"/>
          </a:xfrm>
          <a:prstGeom prst="rect">
            <a:avLst/>
          </a:prstGeom>
          <a:noFill/>
        </p:spPr>
      </p:pic>
      <p:grpSp>
        <p:nvGrpSpPr>
          <p:cNvPr id="8" name="그룹 7"/>
          <p:cNvGrpSpPr/>
          <p:nvPr/>
        </p:nvGrpSpPr>
        <p:grpSpPr>
          <a:xfrm>
            <a:off x="927200" y="289496"/>
            <a:ext cx="13033448" cy="1152128"/>
            <a:chOff x="567160" y="289496"/>
            <a:chExt cx="13033448" cy="1152128"/>
          </a:xfrm>
        </p:grpSpPr>
        <p:sp>
          <p:nvSpPr>
            <p:cNvPr id="9" name="Shape 238"/>
            <p:cNvSpPr/>
            <p:nvPr/>
          </p:nvSpPr>
          <p:spPr>
            <a:xfrm>
              <a:off x="567160" y="289496"/>
              <a:ext cx="7992888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02_depth menu 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10" name="Picture 2" descr="C:\Users\GREEN\Desktop\제이쿼리플러그인\20170316_162441_28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41497" b="87730"/>
            <a:stretch>
              <a:fillRect/>
            </a:stretch>
          </p:blipFill>
          <p:spPr bwMode="auto">
            <a:xfrm>
              <a:off x="7407920" y="289496"/>
              <a:ext cx="6192688" cy="1152128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/>
        </p:nvSpPr>
        <p:spPr>
          <a:xfrm>
            <a:off x="-584968" y="577528"/>
            <a:ext cx="16256000" cy="80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sz="44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※</a:t>
            </a:r>
            <a:r>
              <a:rPr lang="ko-KR" altLang="en-US" sz="4400" dirty="0" err="1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위젯에서</a:t>
            </a:r>
            <a:r>
              <a:rPr lang="ko-KR" altLang="en-US" sz="44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 위치를 제어하려면 </a:t>
            </a:r>
            <a:r>
              <a:rPr lang="en-US" altLang="ko-KR" sz="44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position </a:t>
            </a:r>
            <a:r>
              <a:rPr lang="ko-KR" altLang="en-US" sz="44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매개변수를 활용</a:t>
            </a:r>
            <a:endParaRPr sz="4400" dirty="0">
              <a:solidFill>
                <a:srgbClr val="00B0F0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6" name="Shape 128"/>
          <p:cNvSpPr/>
          <p:nvPr/>
        </p:nvSpPr>
        <p:spPr>
          <a:xfrm>
            <a:off x="279128" y="7360148"/>
            <a:ext cx="16256000" cy="2578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sz="4000" dirty="0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$(“dialog”).dialog({</a:t>
            </a:r>
          </a:p>
          <a:p>
            <a:pPr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sz="4000" dirty="0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     Position:{of:”#</a:t>
            </a:r>
            <a:r>
              <a:rPr lang="en-US" sz="4000" dirty="0" err="1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selector”,at</a:t>
            </a:r>
            <a:r>
              <a:rPr lang="en-US" sz="4000" dirty="0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:”right </a:t>
            </a:r>
            <a:r>
              <a:rPr lang="en-US" sz="4000" dirty="0" err="1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bottom”,my</a:t>
            </a:r>
            <a:r>
              <a:rPr lang="en-US" sz="4000" dirty="0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:”left top”}</a:t>
            </a:r>
          </a:p>
          <a:p>
            <a:pPr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sz="4000" dirty="0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});</a:t>
            </a:r>
          </a:p>
          <a:p>
            <a:pPr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endParaRPr sz="4000" dirty="0">
              <a:solidFill>
                <a:schemeClr val="accent6">
                  <a:lumMod val="75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13869" y="1441624"/>
            <a:ext cx="16142131" cy="5904657"/>
            <a:chOff x="113869" y="1441624"/>
            <a:chExt cx="16142131" cy="5904657"/>
          </a:xfrm>
        </p:grpSpPr>
        <p:pic>
          <p:nvPicPr>
            <p:cNvPr id="8194" name="Picture 2" descr="C:\Users\GREEN\Desktop\제이쿼리플러그인\사용\20170316_162441_54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3869" y="1441624"/>
              <a:ext cx="16142131" cy="5904657"/>
            </a:xfrm>
            <a:prstGeom prst="rect">
              <a:avLst/>
            </a:prstGeom>
            <a:noFill/>
          </p:spPr>
        </p:pic>
        <p:sp>
          <p:nvSpPr>
            <p:cNvPr id="5" name="직사각형 4"/>
            <p:cNvSpPr/>
            <p:nvPr/>
          </p:nvSpPr>
          <p:spPr>
            <a:xfrm>
              <a:off x="567160" y="1585640"/>
              <a:ext cx="432048" cy="43204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bg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15684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</p:grpSp>
      <p:pic>
        <p:nvPicPr>
          <p:cNvPr id="8" name="Picture 2" descr="C:\Users\GREEN\AppData\Local\Microsoft\Windows\Temporary Internet Files\Content.IE5\Z9CQGH8I\01_explorer_mini[1].jpg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732000" y="361504"/>
            <a:ext cx="1524000" cy="120396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14252890" y="0"/>
            <a:ext cx="2003110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15684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15</a:t>
            </a:r>
            <a:r>
              <a:rPr kumimoji="0" lang="ko-KR" altLang="en-US" sz="2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페이지로 이동</a:t>
            </a:r>
            <a:endParaRPr kumimoji="0" lang="ko-KR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/>
        </p:nvSpPr>
        <p:spPr>
          <a:xfrm>
            <a:off x="567160" y="289496"/>
            <a:ext cx="13393488" cy="962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dirty="0" smtClean="0">
                <a:latin typeface="Adobe 고딕 Std B" pitchFamily="34" charset="-127"/>
                <a:ea typeface="Adobe 고딕 Std B" pitchFamily="34" charset="-127"/>
              </a:rPr>
              <a:t>02_depth </a:t>
            </a:r>
            <a:r>
              <a:rPr lang="en-US" altLang="ko-KR" dirty="0" err="1" smtClean="0">
                <a:latin typeface="Adobe 고딕 Std B" pitchFamily="34" charset="-127"/>
                <a:ea typeface="Adobe 고딕 Std B" pitchFamily="34" charset="-127"/>
              </a:rPr>
              <a:t>menu_selfEX</a:t>
            </a:r>
            <a:endParaRPr dirty="0"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2050" name="Picture 2" descr="C:\Users\GREEN\Desktop\06_구현 능력단위\10_프로젝트 완료_능력단위_95일차~105일차\03_클라이언트 최종 보고하기_102일차~105일차\step104_제이쿼리 플러그인\02_제이쿼리 플러그인\01_depth menu\selfEX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47280" y="2305720"/>
            <a:ext cx="13881674" cy="561662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GREEN\AppData\Local\Microsoft\Windows\Temporary Internet Files\Content.IE5\Z9CQGH8I\01_explorer_mini[1]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392696" y="217488"/>
            <a:ext cx="1524000" cy="1203960"/>
          </a:xfrm>
          <a:prstGeom prst="rect">
            <a:avLst/>
          </a:prstGeom>
          <a:noFill/>
        </p:spPr>
      </p:pic>
      <p:pic>
        <p:nvPicPr>
          <p:cNvPr id="3074" name="Picture 2" descr="C:\Users\GREEN\Desktop\20170316_091052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943424" y="1585640"/>
            <a:ext cx="10193338" cy="6954837"/>
          </a:xfrm>
          <a:prstGeom prst="rect">
            <a:avLst/>
          </a:prstGeom>
          <a:noFill/>
        </p:spPr>
      </p:pic>
      <p:sp>
        <p:nvSpPr>
          <p:cNvPr id="5" name="Shape 238"/>
          <p:cNvSpPr/>
          <p:nvPr/>
        </p:nvSpPr>
        <p:spPr>
          <a:xfrm>
            <a:off x="567160" y="361504"/>
            <a:ext cx="7128792" cy="962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dirty="0" smtClean="0">
                <a:latin typeface="Adobe 고딕 Std B" pitchFamily="34" charset="-127"/>
                <a:ea typeface="Adobe 고딕 Std B" pitchFamily="34" charset="-127"/>
              </a:rPr>
              <a:t>03_dialog :</a:t>
            </a:r>
            <a:endParaRPr dirty="0"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6" name="Picture 2" descr="C:\Users\GREEN\Desktop\제이쿼리플러그인\20170316_162441_39.png"/>
          <p:cNvPicPr>
            <a:picLocks noChangeAspect="1" noChangeArrowheads="1"/>
          </p:cNvPicPr>
          <p:nvPr/>
        </p:nvPicPr>
        <p:blipFill>
          <a:blip r:embed="rId6" cstate="print"/>
          <a:srcRect l="2609" b="80881"/>
          <a:stretch>
            <a:fillRect/>
          </a:stretch>
        </p:blipFill>
        <p:spPr bwMode="auto">
          <a:xfrm>
            <a:off x="6039768" y="289496"/>
            <a:ext cx="8064896" cy="129614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/>
        </p:nvSpPr>
        <p:spPr>
          <a:xfrm>
            <a:off x="567160" y="361504"/>
            <a:ext cx="7128792" cy="962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dirty="0" smtClean="0">
                <a:latin typeface="Adobe 고딕 Std B" pitchFamily="34" charset="-127"/>
                <a:ea typeface="Adobe 고딕 Std B" pitchFamily="34" charset="-127"/>
              </a:rPr>
              <a:t>03_dialog :</a:t>
            </a:r>
            <a:endParaRPr dirty="0"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2050" name="Picture 2" descr="C:\Users\GREEN\Desktop\제이쿼리플러그인\20170316_162441_39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609" b="80881"/>
          <a:stretch>
            <a:fillRect/>
          </a:stretch>
        </p:blipFill>
        <p:spPr bwMode="auto">
          <a:xfrm>
            <a:off x="6039768" y="289496"/>
            <a:ext cx="8064896" cy="1296144"/>
          </a:xfrm>
          <a:prstGeom prst="rect">
            <a:avLst/>
          </a:prstGeom>
          <a:noFill/>
        </p:spPr>
      </p:pic>
      <p:sp>
        <p:nvSpPr>
          <p:cNvPr id="8" name="Shape 128"/>
          <p:cNvSpPr/>
          <p:nvPr/>
        </p:nvSpPr>
        <p:spPr>
          <a:xfrm>
            <a:off x="927200" y="6840996"/>
            <a:ext cx="14257584" cy="793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altLang="ko-KR" sz="4400" dirty="0" smtClean="0">
                <a:solidFill>
                  <a:srgbClr val="FF0000"/>
                </a:solidFill>
              </a:rPr>
              <a:t>$(</a:t>
            </a:r>
            <a:r>
              <a:rPr lang="ko-KR" altLang="en-US" sz="4400" dirty="0" err="1" smtClean="0">
                <a:solidFill>
                  <a:srgbClr val="FF0000"/>
                </a:solidFill>
              </a:rPr>
              <a:t>선택자</a:t>
            </a:r>
            <a:r>
              <a:rPr lang="en-US" altLang="ko-KR" sz="4400" dirty="0" smtClean="0">
                <a:solidFill>
                  <a:srgbClr val="FF0000"/>
                </a:solidFill>
              </a:rPr>
              <a:t>).dialog({</a:t>
            </a:r>
            <a:r>
              <a:rPr lang="ko-KR" altLang="en-US" sz="4400" dirty="0" smtClean="0">
                <a:solidFill>
                  <a:srgbClr val="FF0000"/>
                </a:solidFill>
              </a:rPr>
              <a:t>매개변수</a:t>
            </a:r>
            <a:r>
              <a:rPr lang="en-US" altLang="ko-KR" sz="4400" dirty="0" smtClean="0">
                <a:solidFill>
                  <a:srgbClr val="FF0000"/>
                </a:solidFill>
              </a:rPr>
              <a:t>:</a:t>
            </a:r>
            <a:r>
              <a:rPr lang="ko-KR" altLang="en-US" sz="4400" dirty="0" smtClean="0">
                <a:solidFill>
                  <a:srgbClr val="FF0000"/>
                </a:solidFill>
              </a:rPr>
              <a:t>값</a:t>
            </a:r>
            <a:r>
              <a:rPr lang="en-US" altLang="ko-KR" sz="4400" dirty="0" smtClean="0">
                <a:solidFill>
                  <a:srgbClr val="FF0000"/>
                </a:solidFill>
              </a:rPr>
              <a:t>,..});</a:t>
            </a:r>
            <a:endParaRPr sz="4400" dirty="0">
              <a:solidFill>
                <a:srgbClr val="FF0000"/>
              </a:solidFill>
            </a:endParaRPr>
          </a:p>
        </p:txBody>
      </p:sp>
      <p:pic>
        <p:nvPicPr>
          <p:cNvPr id="9" name="Picture 2" descr="C:\Users\GREEN\Desktop\제이쿼리플러그인\20170316_162441_39.png"/>
          <p:cNvPicPr>
            <a:picLocks noChangeAspect="1" noChangeArrowheads="1"/>
          </p:cNvPicPr>
          <p:nvPr/>
        </p:nvPicPr>
        <p:blipFill>
          <a:blip r:embed="rId3" cstate="print"/>
          <a:srcRect t="29741" b="13963"/>
          <a:stretch>
            <a:fillRect/>
          </a:stretch>
        </p:blipFill>
        <p:spPr bwMode="auto">
          <a:xfrm>
            <a:off x="2799408" y="2017688"/>
            <a:ext cx="9999602" cy="460851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/>
        </p:nvSpPr>
        <p:spPr>
          <a:xfrm>
            <a:off x="567160" y="361504"/>
            <a:ext cx="7128792" cy="962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dirty="0" smtClean="0">
                <a:latin typeface="Adobe 고딕 Std B" pitchFamily="34" charset="-127"/>
                <a:ea typeface="Adobe 고딕 Std B" pitchFamily="34" charset="-127"/>
              </a:rPr>
              <a:t>03_dialog :</a:t>
            </a:r>
            <a:endParaRPr dirty="0"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2050" name="Picture 2" descr="C:\Users\GREEN\Desktop\제이쿼리플러그인\20170316_162441_39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609" b="80881"/>
          <a:stretch>
            <a:fillRect/>
          </a:stretch>
        </p:blipFill>
        <p:spPr bwMode="auto">
          <a:xfrm>
            <a:off x="6039768" y="289496"/>
            <a:ext cx="8064896" cy="1296144"/>
          </a:xfrm>
          <a:prstGeom prst="rect">
            <a:avLst/>
          </a:prstGeom>
          <a:noFill/>
        </p:spPr>
      </p:pic>
      <p:pic>
        <p:nvPicPr>
          <p:cNvPr id="5122" name="Picture 2" descr="C:\Users\GREEN\Desktop\제이쿼리플러그인\20170316_162441_38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1456" y="1349500"/>
            <a:ext cx="9374188" cy="83025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/>
        </p:nvSpPr>
        <p:spPr>
          <a:xfrm>
            <a:off x="80912" y="577528"/>
            <a:ext cx="16256000" cy="80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1) </a:t>
            </a:r>
            <a:r>
              <a:rPr lang="ko-KR" altLang="en-US" sz="4500" dirty="0" err="1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위젯에서</a:t>
            </a:r>
            <a:r>
              <a:rPr lang="ko-KR" altLang="en-US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 </a:t>
            </a:r>
            <a:r>
              <a:rPr lang="ko-KR" altLang="en-US" sz="4500" dirty="0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위치</a:t>
            </a:r>
            <a:r>
              <a:rPr lang="ko-KR" altLang="en-US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를 제어하려면 </a:t>
            </a:r>
            <a:r>
              <a:rPr lang="en-US" altLang="ko-KR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position </a:t>
            </a:r>
            <a:r>
              <a:rPr lang="ko-KR" altLang="en-US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매개변수를 활용한다</a:t>
            </a:r>
            <a:r>
              <a:rPr lang="en-US" altLang="ko-KR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.</a:t>
            </a:r>
            <a:endParaRPr sz="4500" dirty="0">
              <a:solidFill>
                <a:srgbClr val="00B0F0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5122" name="Picture 2" descr="C:\Users\GREEN\Desktop\제이쿼리플러그인\20170316_162441_5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51336" y="1585640"/>
            <a:ext cx="11881320" cy="791874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/>
        </p:nvSpPr>
        <p:spPr>
          <a:xfrm>
            <a:off x="80912" y="577528"/>
            <a:ext cx="16256000" cy="80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2) </a:t>
            </a:r>
            <a:r>
              <a:rPr lang="ko-KR" altLang="en-US" sz="4500" dirty="0" err="1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위젯에서</a:t>
            </a:r>
            <a:r>
              <a:rPr lang="ko-KR" altLang="en-US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 위치를 제어하려면 </a:t>
            </a:r>
            <a:r>
              <a:rPr lang="en-US" altLang="ko-KR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position </a:t>
            </a:r>
            <a:r>
              <a:rPr lang="ko-KR" altLang="en-US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매개변수를 활용한다</a:t>
            </a:r>
            <a:r>
              <a:rPr lang="en-US" altLang="ko-KR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.</a:t>
            </a:r>
            <a:endParaRPr sz="4500" dirty="0">
              <a:solidFill>
                <a:srgbClr val="00B0F0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8194" name="Picture 2" descr="C:\Users\GREEN\Desktop\제이쿼리플러그인\사용\20170316_162441_5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3869" y="1441624"/>
            <a:ext cx="16142131" cy="5904657"/>
          </a:xfrm>
          <a:prstGeom prst="rect">
            <a:avLst/>
          </a:prstGeom>
          <a:noFill/>
        </p:spPr>
      </p:pic>
      <p:sp>
        <p:nvSpPr>
          <p:cNvPr id="6" name="Shape 128"/>
          <p:cNvSpPr/>
          <p:nvPr/>
        </p:nvSpPr>
        <p:spPr>
          <a:xfrm>
            <a:off x="279128" y="7360148"/>
            <a:ext cx="16256000" cy="2578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sz="4000" dirty="0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$(“dialog”).dialog({</a:t>
            </a:r>
          </a:p>
          <a:p>
            <a:pPr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sz="4000" dirty="0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     Position:{of:”#</a:t>
            </a:r>
            <a:r>
              <a:rPr lang="en-US" sz="4000" dirty="0" err="1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selector”,at</a:t>
            </a:r>
            <a:r>
              <a:rPr lang="en-US" sz="4000" dirty="0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:”right </a:t>
            </a:r>
            <a:r>
              <a:rPr lang="en-US" sz="4000" dirty="0" err="1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bottom”,my</a:t>
            </a:r>
            <a:r>
              <a:rPr lang="en-US" sz="4000" dirty="0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:”left top”}</a:t>
            </a:r>
          </a:p>
          <a:p>
            <a:pPr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sz="4000" dirty="0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});</a:t>
            </a:r>
          </a:p>
          <a:p>
            <a:pPr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endParaRPr sz="4000" dirty="0">
              <a:solidFill>
                <a:schemeClr val="accent6">
                  <a:lumMod val="75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/>
        </p:nvSpPr>
        <p:spPr>
          <a:xfrm>
            <a:off x="80912" y="577528"/>
            <a:ext cx="16256000" cy="80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1) </a:t>
            </a:r>
            <a:r>
              <a:rPr lang="ko-KR" altLang="en-US" sz="4500" dirty="0" err="1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위젯에서</a:t>
            </a:r>
            <a:r>
              <a:rPr lang="ko-KR" altLang="en-US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 </a:t>
            </a:r>
            <a:r>
              <a:rPr lang="ko-KR" altLang="en-US" sz="4500" dirty="0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위치</a:t>
            </a:r>
            <a:r>
              <a:rPr lang="ko-KR" altLang="en-US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를 제어하려면 </a:t>
            </a:r>
            <a:r>
              <a:rPr lang="en-US" altLang="ko-KR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position </a:t>
            </a:r>
            <a:r>
              <a:rPr lang="ko-KR" altLang="en-US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매개변수를 활용한다</a:t>
            </a:r>
            <a:r>
              <a:rPr lang="en-US" altLang="ko-KR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.</a:t>
            </a:r>
            <a:endParaRPr sz="4500" dirty="0">
              <a:solidFill>
                <a:srgbClr val="00B0F0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5" name="Shape 128"/>
          <p:cNvSpPr/>
          <p:nvPr/>
        </p:nvSpPr>
        <p:spPr>
          <a:xfrm>
            <a:off x="351136" y="1455492"/>
            <a:ext cx="16256000" cy="2578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sz="4000" dirty="0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$(“dialog”).dialog({</a:t>
            </a:r>
          </a:p>
          <a:p>
            <a:pPr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sz="4000" dirty="0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     Position:{of:”#</a:t>
            </a:r>
            <a:r>
              <a:rPr lang="en-US" sz="4000" dirty="0" err="1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selector”,at</a:t>
            </a:r>
            <a:r>
              <a:rPr lang="en-US" sz="4000" dirty="0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:”right </a:t>
            </a:r>
            <a:r>
              <a:rPr lang="en-US" sz="4000" dirty="0" err="1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bottom”,my</a:t>
            </a:r>
            <a:r>
              <a:rPr lang="en-US" sz="4000" dirty="0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:”left top”}</a:t>
            </a:r>
          </a:p>
          <a:p>
            <a:pPr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r>
              <a:rPr lang="en-US" sz="4000" dirty="0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});</a:t>
            </a:r>
          </a:p>
          <a:p>
            <a:pPr>
              <a:defRPr sz="4500">
                <a:solidFill>
                  <a:srgbClr val="4CA4FD"/>
                </a:solidFill>
                <a:latin typeface="Adobe 고딕 Std B"/>
                <a:ea typeface="Adobe 고딕 Std B"/>
                <a:cs typeface="Adobe 고딕 Std B"/>
                <a:sym typeface="Adobe 고딕 Std B"/>
              </a:defRPr>
            </a:pPr>
            <a:endParaRPr sz="4000" dirty="0">
              <a:solidFill>
                <a:schemeClr val="accent6">
                  <a:lumMod val="75000"/>
                </a:schemeClr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7170" name="Picture 2" descr="C:\Users\GREEN\Desktop\제이쿼리플러그인\20170316_162441_52.png"/>
          <p:cNvPicPr>
            <a:picLocks noChangeAspect="1" noChangeArrowheads="1"/>
          </p:cNvPicPr>
          <p:nvPr/>
        </p:nvPicPr>
        <p:blipFill>
          <a:blip r:embed="rId3" cstate="print"/>
          <a:srcRect t="4679" b="3910"/>
          <a:stretch>
            <a:fillRect/>
          </a:stretch>
        </p:blipFill>
        <p:spPr bwMode="auto">
          <a:xfrm>
            <a:off x="3879528" y="3097808"/>
            <a:ext cx="7973372" cy="614341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/>
        </p:nvSpPr>
        <p:spPr>
          <a:xfrm>
            <a:off x="0" y="289496"/>
            <a:ext cx="16256000" cy="1501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2) </a:t>
            </a:r>
            <a:r>
              <a:rPr lang="ko-KR" altLang="en-US" sz="4500" dirty="0" err="1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위젯에서</a:t>
            </a:r>
            <a:r>
              <a:rPr lang="ko-KR" altLang="en-US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 </a:t>
            </a:r>
            <a:r>
              <a:rPr lang="ko-KR" altLang="en-US" sz="4500" dirty="0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효과</a:t>
            </a:r>
            <a:r>
              <a:rPr lang="ko-KR" altLang="en-US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를 제어하려면 </a:t>
            </a:r>
            <a:r>
              <a:rPr lang="en-US" altLang="ko-KR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animate, show, hide </a:t>
            </a:r>
            <a:r>
              <a:rPr lang="ko-KR" altLang="en-US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매개변수를 활용한다</a:t>
            </a:r>
            <a:r>
              <a:rPr lang="en-US" altLang="ko-KR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.</a:t>
            </a:r>
            <a:endParaRPr sz="4500" dirty="0">
              <a:solidFill>
                <a:srgbClr val="00B0F0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6147" name="Picture 3" descr="C:\Users\GREEN\Desktop\제이쿼리플러그인\20170316_162441_5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19288" y="1873671"/>
            <a:ext cx="12817424" cy="712113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/>
        </p:nvSpPr>
        <p:spPr>
          <a:xfrm>
            <a:off x="0" y="289496"/>
            <a:ext cx="16256000" cy="1501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2) </a:t>
            </a:r>
            <a:r>
              <a:rPr lang="ko-KR" altLang="en-US" sz="4500" dirty="0" err="1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위젯에서</a:t>
            </a:r>
            <a:r>
              <a:rPr lang="ko-KR" altLang="en-US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 </a:t>
            </a:r>
            <a:r>
              <a:rPr lang="ko-KR" altLang="en-US" sz="4500" dirty="0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효과</a:t>
            </a:r>
            <a:r>
              <a:rPr lang="ko-KR" altLang="en-US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를 제어하려면 </a:t>
            </a:r>
            <a:r>
              <a:rPr lang="en-US" altLang="ko-KR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animate, show, hide </a:t>
            </a:r>
            <a:r>
              <a:rPr lang="ko-KR" altLang="en-US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매개변수를 활용한다</a:t>
            </a:r>
            <a:r>
              <a:rPr lang="en-US" altLang="ko-KR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.</a:t>
            </a:r>
            <a:endParaRPr sz="4500" dirty="0">
              <a:solidFill>
                <a:srgbClr val="00B0F0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9218" name="Picture 2" descr="C:\Users\GREEN\Desktop\제이쿼리플러그인\20170316_162441_5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19288" y="1616496"/>
            <a:ext cx="12313368" cy="803550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/>
        </p:nvSpPr>
        <p:spPr>
          <a:xfrm>
            <a:off x="0" y="289496"/>
            <a:ext cx="16256000" cy="1501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2) </a:t>
            </a:r>
            <a:r>
              <a:rPr lang="ko-KR" altLang="en-US" sz="4500" dirty="0" err="1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위젯에서</a:t>
            </a:r>
            <a:r>
              <a:rPr lang="ko-KR" altLang="en-US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 </a:t>
            </a:r>
            <a:r>
              <a:rPr lang="ko-KR" altLang="en-US" sz="4500" dirty="0" smtClean="0">
                <a:solidFill>
                  <a:schemeClr val="accent6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</a:rPr>
              <a:t>효과</a:t>
            </a:r>
            <a:r>
              <a:rPr lang="ko-KR" altLang="en-US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를 제어하려면 </a:t>
            </a:r>
            <a:r>
              <a:rPr lang="en-US" altLang="ko-KR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animate, show, hide </a:t>
            </a:r>
            <a:r>
              <a:rPr lang="ko-KR" altLang="en-US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매개변수를 활용한다</a:t>
            </a:r>
            <a:r>
              <a:rPr lang="en-US" altLang="ko-KR" sz="4500" dirty="0" smtClean="0">
                <a:solidFill>
                  <a:srgbClr val="00B0F0"/>
                </a:solidFill>
                <a:latin typeface="Adobe 고딕 Std B" pitchFamily="34" charset="-127"/>
                <a:ea typeface="Adobe 고딕 Std B" pitchFamily="34" charset="-127"/>
              </a:rPr>
              <a:t>.</a:t>
            </a:r>
            <a:endParaRPr sz="4500" dirty="0">
              <a:solidFill>
                <a:srgbClr val="00B0F0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10242" name="Picture 2" descr="C:\Users\GREEN\Desktop\제이쿼리플러그인\20170316_162441_48.png"/>
          <p:cNvPicPr>
            <a:picLocks noChangeAspect="1" noChangeArrowheads="1"/>
          </p:cNvPicPr>
          <p:nvPr/>
        </p:nvPicPr>
        <p:blipFill>
          <a:blip r:embed="rId3" cstate="print"/>
          <a:srcRect t="3495" r="19937"/>
          <a:stretch>
            <a:fillRect/>
          </a:stretch>
        </p:blipFill>
        <p:spPr bwMode="auto">
          <a:xfrm>
            <a:off x="999208" y="1699356"/>
            <a:ext cx="6975872" cy="7952644"/>
          </a:xfrm>
          <a:prstGeom prst="rect">
            <a:avLst/>
          </a:prstGeom>
          <a:noFill/>
        </p:spPr>
      </p:pic>
      <p:pic>
        <p:nvPicPr>
          <p:cNvPr id="10243" name="Picture 3" descr="C:\Users\GREEN\Desktop\제이쿼리플러그인\20170316_162441_49.png"/>
          <p:cNvPicPr>
            <a:picLocks noChangeAspect="1" noChangeArrowheads="1"/>
          </p:cNvPicPr>
          <p:nvPr/>
        </p:nvPicPr>
        <p:blipFill>
          <a:blip r:embed="rId4" cstate="print"/>
          <a:srcRect t="41903" r="30357" b="1515"/>
          <a:stretch>
            <a:fillRect/>
          </a:stretch>
        </p:blipFill>
        <p:spPr bwMode="auto">
          <a:xfrm>
            <a:off x="5967760" y="2089696"/>
            <a:ext cx="9577064" cy="691276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GREEN\Desktop\06_구현 능력단위\10_프로젝트 완료_능력단위_95일차~105일차\03_클라이언트 최종 보고하기_102일차~105일차\step104_제이쿼리 플러그인\02_제이쿼리 플러그인\02_dialog\selEX_01.png"/>
          <p:cNvPicPr>
            <a:picLocks noChangeAspect="1" noChangeArrowheads="1"/>
          </p:cNvPicPr>
          <p:nvPr/>
        </p:nvPicPr>
        <p:blipFill>
          <a:blip r:embed="rId3" cstate="print"/>
          <a:srcRect t="1401" r="87295" b="91594"/>
          <a:stretch>
            <a:fillRect/>
          </a:stretch>
        </p:blipFill>
        <p:spPr bwMode="auto">
          <a:xfrm>
            <a:off x="1935312" y="2665760"/>
            <a:ext cx="4536504" cy="1440160"/>
          </a:xfrm>
          <a:prstGeom prst="rect">
            <a:avLst/>
          </a:prstGeom>
          <a:noFill/>
        </p:spPr>
      </p:pic>
      <p:pic>
        <p:nvPicPr>
          <p:cNvPr id="4099" name="Picture 3" descr="C:\Users\GREEN\Desktop\06_구현 능력단위\10_프로젝트 완료_능력단위_95일차~105일차\03_클라이언트 최종 보고하기_102일차~105일차\step104_제이쿼리 플러그인\02_제이쿼리 플러그인\02_dialog\selfEX_02.png"/>
          <p:cNvPicPr>
            <a:picLocks noChangeAspect="1" noChangeArrowheads="1"/>
          </p:cNvPicPr>
          <p:nvPr/>
        </p:nvPicPr>
        <p:blipFill>
          <a:blip r:embed="rId4" cstate="print"/>
          <a:srcRect l="17855" t="19424" r="18911" b="21009"/>
          <a:stretch>
            <a:fillRect/>
          </a:stretch>
        </p:blipFill>
        <p:spPr bwMode="auto">
          <a:xfrm>
            <a:off x="8128000" y="1729656"/>
            <a:ext cx="6192688" cy="3312368"/>
          </a:xfrm>
          <a:prstGeom prst="rect">
            <a:avLst/>
          </a:prstGeom>
          <a:noFill/>
        </p:spPr>
      </p:pic>
      <p:pic>
        <p:nvPicPr>
          <p:cNvPr id="4100" name="Picture 4" descr="C:\Users\GREEN\Desktop\06_구현 능력단위\10_프로젝트 완료_능력단위_95일차~105일차\03_클라이언트 최종 보고하기_102일차~105일차\step104_제이쿼리 플러그인\02_제이쿼리 플러그인\02_dialog\selfEX_03.png"/>
          <p:cNvPicPr>
            <a:picLocks noChangeAspect="1" noChangeArrowheads="1"/>
          </p:cNvPicPr>
          <p:nvPr/>
        </p:nvPicPr>
        <p:blipFill>
          <a:blip r:embed="rId5" cstate="print"/>
          <a:srcRect l="17412" t="20477" r="15211" b="20650"/>
          <a:stretch>
            <a:fillRect/>
          </a:stretch>
        </p:blipFill>
        <p:spPr bwMode="auto">
          <a:xfrm>
            <a:off x="1287240" y="5258048"/>
            <a:ext cx="6408712" cy="3456384"/>
          </a:xfrm>
          <a:prstGeom prst="rect">
            <a:avLst/>
          </a:prstGeom>
          <a:noFill/>
        </p:spPr>
      </p:pic>
      <p:pic>
        <p:nvPicPr>
          <p:cNvPr id="4101" name="Picture 5" descr="C:\Users\GREEN\Desktop\06_구현 능력단위\10_프로젝트 완료_능력단위_95일차~105일차\03_클라이언트 최종 보고하기_102일차~105일차\step104_제이쿼리 플러그인\02_제이쿼리 플러그인\02_dialog\selfEX_04.png"/>
          <p:cNvPicPr>
            <a:picLocks noChangeAspect="1" noChangeArrowheads="1"/>
          </p:cNvPicPr>
          <p:nvPr/>
        </p:nvPicPr>
        <p:blipFill>
          <a:blip r:embed="rId6" cstate="print"/>
          <a:srcRect l="14957" t="21022" r="20818" b="15912"/>
          <a:stretch>
            <a:fillRect/>
          </a:stretch>
        </p:blipFill>
        <p:spPr bwMode="auto">
          <a:xfrm>
            <a:off x="8128000" y="5258048"/>
            <a:ext cx="6183784" cy="3456384"/>
          </a:xfrm>
          <a:prstGeom prst="rect">
            <a:avLst/>
          </a:prstGeom>
          <a:noFill/>
        </p:spPr>
      </p:pic>
      <p:sp>
        <p:nvSpPr>
          <p:cNvPr id="8" name="Shape 238"/>
          <p:cNvSpPr/>
          <p:nvPr/>
        </p:nvSpPr>
        <p:spPr>
          <a:xfrm>
            <a:off x="567160" y="289496"/>
            <a:ext cx="13393488" cy="962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dirty="0" smtClean="0">
                <a:latin typeface="Adobe 고딕 Std B" pitchFamily="34" charset="-127"/>
                <a:ea typeface="Adobe 고딕 Std B" pitchFamily="34" charset="-127"/>
              </a:rPr>
              <a:t>03_dialog_selfEX</a:t>
            </a:r>
            <a:endParaRPr dirty="0">
              <a:latin typeface="Adobe 고딕 Std B" pitchFamily="34" charset="-127"/>
              <a:ea typeface="Adobe 고딕 Std B" pitchFamily="34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2580560" y="7275893"/>
            <a:ext cx="11017224" cy="783191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ko-KR" sz="4000" dirty="0" smtClean="0"/>
              <a:t>     window.open(</a:t>
            </a:r>
            <a:r>
              <a:rPr lang="en-US" altLang="ko-KR" sz="4000" i="1" dirty="0" smtClean="0"/>
              <a:t>URL, name</a:t>
            </a:r>
            <a:r>
              <a:rPr lang="en-US" altLang="ko-KR" sz="4000" i="1" dirty="0"/>
              <a:t>, </a:t>
            </a:r>
            <a:r>
              <a:rPr lang="en-US" altLang="ko-KR" sz="4000" i="1" dirty="0" smtClean="0"/>
              <a:t> properties</a:t>
            </a:r>
            <a:r>
              <a:rPr lang="en-US" altLang="ko-KR" sz="4000" dirty="0" smtClean="0"/>
              <a:t>)</a:t>
            </a:r>
            <a:endParaRPr kumimoji="0" lang="ko-KR" altLang="en-US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8" name="Shape 238"/>
          <p:cNvSpPr/>
          <p:nvPr/>
        </p:nvSpPr>
        <p:spPr>
          <a:xfrm>
            <a:off x="1961960" y="937568"/>
            <a:ext cx="11593288" cy="962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dirty="0" smtClean="0">
                <a:latin typeface="Adobe 고딕 Std B" pitchFamily="34" charset="-127"/>
                <a:ea typeface="Adobe 고딕 Std B" pitchFamily="34" charset="-127"/>
              </a:rPr>
              <a:t>Window.open()  </a:t>
            </a:r>
            <a:r>
              <a:rPr lang="ko-KR" altLang="en-US" dirty="0" smtClean="0">
                <a:latin typeface="Adobe 고딕 Std B" pitchFamily="34" charset="-127"/>
                <a:ea typeface="Adobe 고딕 Std B" pitchFamily="34" charset="-127"/>
              </a:rPr>
              <a:t>메소드 활용법</a:t>
            </a:r>
            <a:endParaRPr dirty="0"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1026" name="Picture 2" descr="C:\Users\GREEN\Desktop\step72_JQ12_dialog,accordian,툴팁\unit01_dialog_1H\참고\location객체 새창으로 페이지 열기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5" t="25776" r="24866" b="59223"/>
          <a:stretch/>
        </p:blipFill>
        <p:spPr bwMode="auto">
          <a:xfrm>
            <a:off x="1961960" y="3457848"/>
            <a:ext cx="12254425" cy="3693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4243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38"/>
          <p:cNvSpPr/>
          <p:nvPr/>
        </p:nvSpPr>
        <p:spPr>
          <a:xfrm>
            <a:off x="567160" y="289496"/>
            <a:ext cx="13393488" cy="962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dirty="0" smtClean="0">
                <a:latin typeface="Adobe 고딕 Std B" pitchFamily="34" charset="-127"/>
                <a:ea typeface="Adobe 고딕 Std B" pitchFamily="34" charset="-127"/>
              </a:rPr>
              <a:t>Window.open </a:t>
            </a:r>
            <a:r>
              <a:rPr lang="ko-KR" altLang="en-US" dirty="0" smtClean="0">
                <a:latin typeface="Adobe 고딕 Std B" pitchFamily="34" charset="-127"/>
                <a:ea typeface="Adobe 고딕 Std B" pitchFamily="34" charset="-127"/>
              </a:rPr>
              <a:t>메소드 활용법</a:t>
            </a:r>
            <a:endParaRPr dirty="0"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4" name="Picture 2" descr="C:\Users\GREEN\AppData\Local\Microsoft\Windows\Temporary Internet Files\Content.IE5\Z9CQGH8I\01_explorer_mini[1]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392696" y="217488"/>
            <a:ext cx="1524000" cy="1203960"/>
          </a:xfrm>
          <a:prstGeom prst="rect">
            <a:avLst/>
          </a:prstGeom>
          <a:noFill/>
        </p:spPr>
      </p:pic>
      <p:sp>
        <p:nvSpPr>
          <p:cNvPr id="2" name="TextBox 1">
            <a:hlinkClick r:id="rId3"/>
          </p:cNvPr>
          <p:cNvSpPr txBox="1"/>
          <p:nvPr/>
        </p:nvSpPr>
        <p:spPr>
          <a:xfrm>
            <a:off x="12896134" y="401461"/>
            <a:ext cx="1496562" cy="738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ctr" defTabSz="15684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210 앱굴림 L" pitchFamily="18" charset="-127"/>
                <a:ea typeface="210 앱굴림 L" pitchFamily="18" charset="-127"/>
                <a:sym typeface="맑은 고딕"/>
              </a:rPr>
              <a:t>W3school</a:t>
            </a:r>
          </a:p>
          <a:p>
            <a:pPr marL="0" marR="0" indent="0" algn="ctr" defTabSz="15684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210 앱굴림 L" pitchFamily="18" charset="-127"/>
                <a:ea typeface="210 앱굴림 L" pitchFamily="18" charset="-127"/>
                <a:sym typeface="맑은 고딕"/>
              </a:rPr>
              <a:t>예제 </a:t>
            </a:r>
            <a:r>
              <a:rPr kumimoji="0" lang="ko-KR" alt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210 앱굴림 L" pitchFamily="18" charset="-127"/>
                <a:ea typeface="210 앱굴림 L" pitchFamily="18" charset="-127"/>
                <a:sym typeface="맑은 고딕"/>
              </a:rPr>
              <a:t>바로가기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210 앱굴림 L" pitchFamily="18" charset="-127"/>
              <a:ea typeface="210 앱굴림 L" pitchFamily="18" charset="-127"/>
              <a:sym typeface="맑은 고딕"/>
            </a:endParaRPr>
          </a:p>
        </p:txBody>
      </p:sp>
      <p:sp>
        <p:nvSpPr>
          <p:cNvPr id="3" name="모서리가 둥근 직사각형 2"/>
          <p:cNvSpPr/>
          <p:nvPr/>
        </p:nvSpPr>
        <p:spPr>
          <a:xfrm>
            <a:off x="1215232" y="2593752"/>
            <a:ext cx="14185576" cy="2442267"/>
          </a:xfrm>
          <a:prstGeom prst="roundRect">
            <a:avLst>
              <a:gd name="adj" fmla="val 9686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ko-KR" sz="3600" dirty="0">
                <a:latin typeface="210 앱굴림 L" pitchFamily="18" charset="-127"/>
                <a:ea typeface="210 앱굴림 L" pitchFamily="18" charset="-127"/>
              </a:rPr>
              <a:t>window.open</a:t>
            </a:r>
            <a:r>
              <a:rPr lang="en-US" altLang="ko-KR" sz="3600" dirty="0" smtClean="0">
                <a:latin typeface="210 앱굴림 L" pitchFamily="18" charset="-127"/>
                <a:ea typeface="210 앱굴림 L" pitchFamily="18" charset="-127"/>
              </a:rPr>
              <a:t>(“</a:t>
            </a:r>
            <a:r>
              <a:rPr lang="en-US" altLang="ko-KR" sz="3600" dirty="0" err="1" smtClean="0">
                <a:latin typeface="210 앱굴림 L" pitchFamily="18" charset="-127"/>
                <a:ea typeface="210 앱굴림 L" pitchFamily="18" charset="-127"/>
              </a:rPr>
              <a:t>url</a:t>
            </a:r>
            <a:r>
              <a:rPr lang="en-US" altLang="ko-KR" sz="3600" dirty="0" smtClean="0">
                <a:latin typeface="210 앱굴림 L" pitchFamily="18" charset="-127"/>
                <a:ea typeface="210 앱굴림 L" pitchFamily="18" charset="-127"/>
              </a:rPr>
              <a:t>",</a:t>
            </a:r>
            <a:r>
              <a:rPr lang="en-US" altLang="ko-KR" sz="3600" dirty="0">
                <a:latin typeface="210 앱굴림 L" pitchFamily="18" charset="-127"/>
                <a:ea typeface="210 앱굴림 L" pitchFamily="18" charset="-127"/>
              </a:rPr>
              <a:t> </a:t>
            </a:r>
            <a:r>
              <a:rPr lang="en-US" altLang="ko-KR" sz="3600" dirty="0" smtClean="0">
                <a:latin typeface="210 앱굴림 L" pitchFamily="18" charset="-127"/>
                <a:ea typeface="210 앱굴림 L" pitchFamily="18" charset="-127"/>
              </a:rPr>
              <a:t>“name",</a:t>
            </a:r>
            <a:r>
              <a:rPr lang="en-US" altLang="ko-KR" sz="3600" dirty="0">
                <a:latin typeface="210 앱굴림 L" pitchFamily="18" charset="-127"/>
                <a:ea typeface="210 앱굴림 L" pitchFamily="18" charset="-127"/>
              </a:rPr>
              <a:t> </a:t>
            </a:r>
            <a:r>
              <a:rPr lang="en-US" altLang="ko-KR" sz="3600" dirty="0" smtClean="0">
                <a:latin typeface="210 앱굴림 L" pitchFamily="18" charset="-127"/>
                <a:ea typeface="210 앱굴림 L" pitchFamily="18" charset="-127"/>
              </a:rPr>
              <a:t>“properties");</a:t>
            </a:r>
          </a:p>
          <a:p>
            <a:r>
              <a:rPr lang="en-US" altLang="ko-KR" sz="3600" dirty="0">
                <a:latin typeface="210 앱굴림 L" pitchFamily="18" charset="-127"/>
                <a:ea typeface="210 앱굴림 L" pitchFamily="18" charset="-127"/>
              </a:rPr>
              <a:t>window.open</a:t>
            </a:r>
            <a:r>
              <a:rPr lang="en-US" altLang="ko-KR" sz="3600" dirty="0" smtClean="0">
                <a:latin typeface="210 앱굴림 L" pitchFamily="18" charset="-127"/>
                <a:ea typeface="210 앱굴림 L" pitchFamily="18" charset="-127"/>
              </a:rPr>
              <a:t>(“ ",</a:t>
            </a:r>
            <a:r>
              <a:rPr lang="en-US" altLang="ko-KR" sz="3600" dirty="0">
                <a:latin typeface="210 앱굴림 L" pitchFamily="18" charset="-127"/>
                <a:ea typeface="210 앱굴림 L" pitchFamily="18" charset="-127"/>
              </a:rPr>
              <a:t> </a:t>
            </a:r>
            <a:r>
              <a:rPr lang="en-US" altLang="ko-KR" sz="3600" dirty="0" smtClean="0">
                <a:latin typeface="210 앱굴림 L" pitchFamily="18" charset="-127"/>
                <a:ea typeface="210 앱굴림 L" pitchFamily="18" charset="-127"/>
              </a:rPr>
              <a:t>“ ",</a:t>
            </a:r>
            <a:r>
              <a:rPr lang="en-US" altLang="ko-KR" sz="3600" dirty="0">
                <a:latin typeface="210 앱굴림 L" pitchFamily="18" charset="-127"/>
                <a:ea typeface="210 앱굴림 L" pitchFamily="18" charset="-127"/>
              </a:rPr>
              <a:t> "width=200,height=100</a:t>
            </a:r>
            <a:r>
              <a:rPr lang="en-US" altLang="ko-KR" sz="3600" dirty="0" smtClean="0">
                <a:latin typeface="210 앱굴림 L" pitchFamily="18" charset="-127"/>
                <a:ea typeface="210 앱굴림 L" pitchFamily="18" charset="-127"/>
              </a:rPr>
              <a:t>");</a:t>
            </a:r>
          </a:p>
          <a:p>
            <a:r>
              <a:rPr lang="en-US" altLang="ko-KR" sz="3600" dirty="0">
                <a:latin typeface="210 앱굴림 L" pitchFamily="18" charset="-127"/>
                <a:ea typeface="210 앱굴림 L" pitchFamily="18" charset="-127"/>
              </a:rPr>
              <a:t>window.open</a:t>
            </a:r>
            <a:r>
              <a:rPr lang="en-US" altLang="ko-KR" sz="3600" dirty="0" smtClean="0">
                <a:latin typeface="210 앱굴림 L" pitchFamily="18" charset="-127"/>
                <a:ea typeface="210 앱굴림 L" pitchFamily="18" charset="-127"/>
              </a:rPr>
              <a:t>(“ ",</a:t>
            </a:r>
            <a:r>
              <a:rPr lang="en-US" altLang="ko-KR" sz="3600" dirty="0">
                <a:latin typeface="210 앱굴림 L" pitchFamily="18" charset="-127"/>
                <a:ea typeface="210 앱굴림 L" pitchFamily="18" charset="-127"/>
              </a:rPr>
              <a:t> "_self</a:t>
            </a:r>
            <a:r>
              <a:rPr lang="en-US" altLang="ko-KR" sz="3600" dirty="0" smtClean="0">
                <a:latin typeface="210 앱굴림 L" pitchFamily="18" charset="-127"/>
                <a:ea typeface="210 앱굴림 L" pitchFamily="18" charset="-127"/>
              </a:rPr>
              <a:t>");</a:t>
            </a:r>
          </a:p>
          <a:p>
            <a:r>
              <a:rPr lang="en-US" altLang="ko-KR" sz="3600" dirty="0">
                <a:latin typeface="210 앱굴림 L" pitchFamily="18" charset="-127"/>
                <a:ea typeface="210 앱굴림 L" pitchFamily="18" charset="-127"/>
              </a:rPr>
              <a:t>window.open</a:t>
            </a:r>
            <a:r>
              <a:rPr lang="en-US" altLang="ko-KR" sz="3600" dirty="0" smtClean="0">
                <a:latin typeface="210 앱굴림 L" pitchFamily="18" charset="-127"/>
                <a:ea typeface="210 앱굴림 L" pitchFamily="18" charset="-127"/>
              </a:rPr>
              <a:t>(“ ",</a:t>
            </a:r>
            <a:r>
              <a:rPr lang="en-US" altLang="ko-KR" sz="3600" dirty="0">
                <a:latin typeface="210 앱굴림 L" pitchFamily="18" charset="-127"/>
                <a:ea typeface="210 앱굴림 L" pitchFamily="18" charset="-127"/>
              </a:rPr>
              <a:t> </a:t>
            </a:r>
            <a:r>
              <a:rPr lang="en-US" altLang="ko-KR" sz="3600" dirty="0">
                <a:latin typeface="210 앱굴림 L" pitchFamily="18" charset="-127"/>
                <a:ea typeface="210 앱굴림 L" pitchFamily="18" charset="-127"/>
              </a:rPr>
              <a:t>"_blank</a:t>
            </a:r>
            <a:r>
              <a:rPr lang="en-US" altLang="ko-KR" sz="3600" dirty="0" smtClean="0">
                <a:latin typeface="210 앱굴림 L" pitchFamily="18" charset="-127"/>
                <a:ea typeface="210 앱굴림 L" pitchFamily="18" charset="-127"/>
              </a:rPr>
              <a:t>");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7160" y="5474072"/>
            <a:ext cx="15306578" cy="30469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ko-KR" dirty="0" err="1" smtClean="0">
                <a:latin typeface="210 앱굴림 L" pitchFamily="18" charset="-127"/>
                <a:ea typeface="210 앱굴림 L" pitchFamily="18" charset="-127"/>
              </a:rPr>
              <a:t>Url</a:t>
            </a:r>
            <a:r>
              <a:rPr lang="ko-KR" altLang="en-US" dirty="0" smtClean="0">
                <a:latin typeface="210 앱굴림 L" pitchFamily="18" charset="-127"/>
                <a:ea typeface="210 앱굴림 L" pitchFamily="18" charset="-127"/>
              </a:rPr>
              <a:t>부분이 생략되면 빈 화면이 뜨고</a:t>
            </a:r>
            <a:r>
              <a:rPr lang="en-US" altLang="ko-KR" dirty="0" smtClean="0">
                <a:latin typeface="210 앱굴림 L" pitchFamily="18" charset="-127"/>
                <a:ea typeface="210 앱굴림 L" pitchFamily="18" charset="-127"/>
              </a:rPr>
              <a:t>, </a:t>
            </a:r>
            <a:r>
              <a:rPr lang="ko-KR" altLang="en-US" dirty="0" smtClean="0">
                <a:latin typeface="210 앱굴림 L" pitchFamily="18" charset="-127"/>
                <a:ea typeface="210 앱굴림 L" pitchFamily="18" charset="-127"/>
              </a:rPr>
              <a:t>이름 부분이 생략되면 계속 새 창으로 뜬다</a:t>
            </a:r>
            <a:r>
              <a:rPr lang="en-US" altLang="ko-KR" dirty="0" smtClean="0">
                <a:latin typeface="210 앱굴림 L" pitchFamily="18" charset="-127"/>
                <a:ea typeface="210 앱굴림 L" pitchFamily="18" charset="-127"/>
              </a:rPr>
              <a:t>. </a:t>
            </a:r>
            <a:r>
              <a:rPr lang="ko-KR" altLang="en-US" dirty="0" smtClean="0">
                <a:latin typeface="210 앱굴림 L" pitchFamily="18" charset="-127"/>
                <a:ea typeface="210 앱굴림 L" pitchFamily="18" charset="-127"/>
              </a:rPr>
              <a:t>속성부분에는 </a:t>
            </a:r>
            <a:r>
              <a:rPr lang="en-US" altLang="ko-KR" dirty="0" smtClean="0">
                <a:latin typeface="210 앱굴림 L" pitchFamily="18" charset="-127"/>
                <a:ea typeface="210 앱굴림 L" pitchFamily="18" charset="-127"/>
              </a:rPr>
              <a:t>width, height, top, left </a:t>
            </a:r>
            <a:r>
              <a:rPr lang="ko-KR" altLang="en-US" dirty="0" smtClean="0">
                <a:latin typeface="210 앱굴림 L" pitchFamily="18" charset="-127"/>
                <a:ea typeface="210 앱굴림 L" pitchFamily="18" charset="-127"/>
              </a:rPr>
              <a:t>등의 속성값이 들어간다</a:t>
            </a:r>
            <a:r>
              <a:rPr lang="en-US" altLang="ko-KR" dirty="0" smtClean="0">
                <a:latin typeface="210 앱굴림 L" pitchFamily="18" charset="-127"/>
                <a:ea typeface="210 앱굴림 L" pitchFamily="18" charset="-127"/>
              </a:rPr>
              <a:t>. </a:t>
            </a:r>
            <a:r>
              <a:rPr lang="ko-KR" altLang="en-US" dirty="0" smtClean="0">
                <a:latin typeface="210 앱굴림 L" pitchFamily="18" charset="-127"/>
                <a:ea typeface="210 앱굴림 L" pitchFamily="18" charset="-127"/>
              </a:rPr>
              <a:t>부모창안에서 </a:t>
            </a:r>
            <a:r>
              <a:rPr lang="en-US" altLang="ko-KR" dirty="0" err="1" smtClean="0">
                <a:latin typeface="210 앱굴림 L" pitchFamily="18" charset="-127"/>
                <a:ea typeface="210 앱굴림 L" pitchFamily="18" charset="-127"/>
              </a:rPr>
              <a:t>url</a:t>
            </a:r>
            <a:r>
              <a:rPr lang="ko-KR" altLang="en-US" dirty="0" smtClean="0">
                <a:latin typeface="210 앱굴림 L" pitchFamily="18" charset="-127"/>
                <a:ea typeface="210 앱굴림 L" pitchFamily="18" charset="-127"/>
              </a:rPr>
              <a:t>로 이동하고 싶다면 </a:t>
            </a:r>
            <a:r>
              <a:rPr lang="en-US" altLang="ko-KR" dirty="0" smtClean="0">
                <a:latin typeface="210 앱굴림 L" pitchFamily="18" charset="-127"/>
                <a:ea typeface="210 앱굴림 L" pitchFamily="18" charset="-127"/>
              </a:rPr>
              <a:t>_self</a:t>
            </a:r>
            <a:r>
              <a:rPr lang="ko-KR" altLang="en-US" dirty="0" smtClean="0">
                <a:latin typeface="210 앱굴림 L" pitchFamily="18" charset="-127"/>
                <a:ea typeface="210 앱굴림 L" pitchFamily="18" charset="-127"/>
              </a:rPr>
              <a:t>를 사용한다</a:t>
            </a:r>
            <a:r>
              <a:rPr lang="en-US" altLang="ko-KR" dirty="0" smtClean="0">
                <a:latin typeface="210 앱굴림 L" pitchFamily="18" charset="-127"/>
                <a:ea typeface="210 앱굴림 L" pitchFamily="18" charset="-127"/>
              </a:rPr>
              <a:t>. </a:t>
            </a:r>
          </a:p>
          <a:p>
            <a:r>
              <a:rPr lang="en-US" altLang="ko-KR" dirty="0" smtClean="0">
                <a:latin typeface="210 앱굴림 L" pitchFamily="18" charset="-127"/>
                <a:ea typeface="210 앱굴림 L" pitchFamily="18" charset="-127"/>
              </a:rPr>
              <a:t>Default</a:t>
            </a:r>
            <a:r>
              <a:rPr lang="ko-KR" altLang="en-US" dirty="0" smtClean="0">
                <a:latin typeface="210 앱굴림 L" pitchFamily="18" charset="-127"/>
                <a:ea typeface="210 앱굴림 L" pitchFamily="18" charset="-127"/>
              </a:rPr>
              <a:t>값은 </a:t>
            </a:r>
            <a:r>
              <a:rPr lang="en-US" altLang="ko-KR" dirty="0" smtClean="0">
                <a:latin typeface="210 앱굴림 L" pitchFamily="18" charset="-127"/>
                <a:ea typeface="210 앱굴림 L" pitchFamily="18" charset="-127"/>
              </a:rPr>
              <a:t>_blank</a:t>
            </a:r>
            <a:r>
              <a:rPr lang="ko-KR" altLang="en-US" dirty="0" smtClean="0">
                <a:latin typeface="210 앱굴림 L" pitchFamily="18" charset="-127"/>
                <a:ea typeface="210 앱굴림 L" pitchFamily="18" charset="-127"/>
              </a:rPr>
              <a:t>이다</a:t>
            </a:r>
            <a:r>
              <a:rPr lang="en-US" altLang="ko-KR" dirty="0" smtClean="0">
                <a:latin typeface="210 앱굴림 L" pitchFamily="18" charset="-127"/>
                <a:ea typeface="210 앱굴림 L" pitchFamily="18" charset="-127"/>
              </a:rPr>
              <a:t>.</a:t>
            </a:r>
          </a:p>
          <a:p>
            <a:endParaRPr kumimoji="0" lang="en-US" altLang="ko-KR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210 앱굴림 L" pitchFamily="18" charset="-127"/>
              <a:ea typeface="210 앱굴림 L" pitchFamily="18" charset="-127"/>
              <a:sym typeface="맑은 고딕"/>
            </a:endParaRPr>
          </a:p>
          <a:p>
            <a:r>
              <a:rPr lang="ko-KR" altLang="en-US" dirty="0" smtClean="0">
                <a:solidFill>
                  <a:srgbClr val="C00000"/>
                </a:solidFill>
                <a:latin typeface="210 앱굴림 L" pitchFamily="18" charset="-127"/>
                <a:ea typeface="210 앱굴림 L" pitchFamily="18" charset="-127"/>
              </a:rPr>
              <a:t>해당 윈도우 창을 닫는 버튼을 구현</a:t>
            </a:r>
            <a:r>
              <a:rPr lang="ko-KR" altLang="en-US" dirty="0" smtClean="0">
                <a:latin typeface="210 앱굴림 L" pitchFamily="18" charset="-127"/>
                <a:ea typeface="210 앱굴림 L" pitchFamily="18" charset="-127"/>
              </a:rPr>
              <a:t>하고 싶으면 변수에 담은 후 </a:t>
            </a:r>
            <a:r>
              <a:rPr lang="ko-KR" altLang="en-US" dirty="0" err="1" smtClean="0">
                <a:solidFill>
                  <a:srgbClr val="C00000"/>
                </a:solidFill>
                <a:latin typeface="210 앱굴림 L" pitchFamily="18" charset="-127"/>
                <a:ea typeface="210 앱굴림 L" pitchFamily="18" charset="-127"/>
              </a:rPr>
              <a:t>변수명</a:t>
            </a:r>
            <a:r>
              <a:rPr lang="en-US" altLang="ko-KR" dirty="0" smtClean="0">
                <a:solidFill>
                  <a:srgbClr val="C00000"/>
                </a:solidFill>
                <a:latin typeface="210 앱굴림 L" pitchFamily="18" charset="-127"/>
                <a:ea typeface="210 앱굴림 L" pitchFamily="18" charset="-127"/>
              </a:rPr>
              <a:t>.close()</a:t>
            </a:r>
            <a:r>
              <a:rPr lang="ko-KR" altLang="en-US" dirty="0" smtClean="0">
                <a:latin typeface="210 앱굴림 L" pitchFamily="18" charset="-127"/>
                <a:ea typeface="210 앱굴림 L" pitchFamily="18" charset="-127"/>
              </a:rPr>
              <a:t>를 사용한다</a:t>
            </a:r>
            <a:r>
              <a:rPr lang="en-US" altLang="ko-KR" dirty="0" smtClean="0">
                <a:latin typeface="210 앱굴림 L" pitchFamily="18" charset="-127"/>
                <a:ea typeface="210 앱굴림 L" pitchFamily="18" charset="-127"/>
              </a:rPr>
              <a:t>.</a:t>
            </a:r>
            <a:endParaRPr kumimoji="0" lang="ko-KR" alt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210 앱굴림 L" pitchFamily="18" charset="-127"/>
              <a:ea typeface="210 앱굴림 L" pitchFamily="18" charset="-127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760824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/>
        </p:nvSpPr>
        <p:spPr>
          <a:xfrm>
            <a:off x="567160" y="289496"/>
            <a:ext cx="13393488" cy="962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dirty="0" smtClean="0">
                <a:latin typeface="Adobe 고딕 Std B" pitchFamily="34" charset="-127"/>
                <a:ea typeface="Adobe 고딕 Std B" pitchFamily="34" charset="-127"/>
              </a:rPr>
              <a:t>04_accordian</a:t>
            </a:r>
            <a:endParaRPr dirty="0"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7" name="Picture 2" descr="C:\Users\GREEN\AppData\Local\Microsoft\Windows\Temporary Internet Files\Content.IE5\Z9CQGH8I\01_explorer_mini[1]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392696" y="217488"/>
            <a:ext cx="1524000" cy="1203960"/>
          </a:xfrm>
          <a:prstGeom prst="rect">
            <a:avLst/>
          </a:prstGeom>
          <a:noFill/>
        </p:spPr>
      </p:pic>
      <p:pic>
        <p:nvPicPr>
          <p:cNvPr id="5122" name="Picture 2" descr="C:\Users\GREEN\Desktop\20170316_091405.png"/>
          <p:cNvPicPr>
            <a:picLocks noChangeAspect="1" noChangeArrowheads="1"/>
          </p:cNvPicPr>
          <p:nvPr/>
        </p:nvPicPr>
        <p:blipFill>
          <a:blip r:embed="rId5" cstate="print"/>
          <a:srcRect b="10145"/>
          <a:stretch>
            <a:fillRect/>
          </a:stretch>
        </p:blipFill>
        <p:spPr bwMode="auto">
          <a:xfrm>
            <a:off x="495152" y="1585640"/>
            <a:ext cx="15265696" cy="705678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/>
        </p:nvSpPr>
        <p:spPr>
          <a:xfrm>
            <a:off x="567160" y="289496"/>
            <a:ext cx="6192688" cy="962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dirty="0" smtClean="0">
                <a:latin typeface="Adobe 고딕 Std B" pitchFamily="34" charset="-127"/>
                <a:ea typeface="Adobe 고딕 Std B" pitchFamily="34" charset="-127"/>
              </a:rPr>
              <a:t>04_accordian :</a:t>
            </a:r>
            <a:endParaRPr dirty="0"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11266" name="Picture 2" descr="C:\Users\GREEN\Desktop\제이쿼리플러그인\20170316_162441_47.png"/>
          <p:cNvPicPr>
            <a:picLocks noChangeAspect="1" noChangeArrowheads="1"/>
          </p:cNvPicPr>
          <p:nvPr/>
        </p:nvPicPr>
        <p:blipFill>
          <a:blip r:embed="rId3" cstate="print"/>
          <a:srcRect t="29544"/>
          <a:stretch>
            <a:fillRect/>
          </a:stretch>
        </p:blipFill>
        <p:spPr bwMode="auto">
          <a:xfrm>
            <a:off x="1431255" y="1729656"/>
            <a:ext cx="13503535" cy="7416824"/>
          </a:xfrm>
          <a:prstGeom prst="rect">
            <a:avLst/>
          </a:prstGeom>
          <a:noFill/>
        </p:spPr>
      </p:pic>
      <p:pic>
        <p:nvPicPr>
          <p:cNvPr id="6" name="Picture 2" descr="C:\Users\GREEN\Desktop\제이쿼리플러그인\20170316_162441_47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30904" b="87835"/>
          <a:stretch>
            <a:fillRect/>
          </a:stretch>
        </p:blipFill>
        <p:spPr bwMode="auto">
          <a:xfrm>
            <a:off x="6039768" y="361504"/>
            <a:ext cx="7344816" cy="100811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/>
        </p:nvSpPr>
        <p:spPr>
          <a:xfrm>
            <a:off x="567160" y="289496"/>
            <a:ext cx="6192688" cy="962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dirty="0" smtClean="0">
                <a:latin typeface="Adobe 고딕 Std B" pitchFamily="34" charset="-127"/>
                <a:ea typeface="Adobe 고딕 Std B" pitchFamily="34" charset="-127"/>
              </a:rPr>
              <a:t>04_accordian :</a:t>
            </a:r>
            <a:endParaRPr dirty="0"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6" name="Picture 2" descr="C:\Users\GREEN\Desktop\제이쿼리플러그인\20170316_162441_47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30904" b="87835"/>
          <a:stretch>
            <a:fillRect/>
          </a:stretch>
        </p:blipFill>
        <p:spPr bwMode="auto">
          <a:xfrm>
            <a:off x="6039768" y="361504"/>
            <a:ext cx="7344816" cy="1008112"/>
          </a:xfrm>
          <a:prstGeom prst="rect">
            <a:avLst/>
          </a:prstGeom>
          <a:noFill/>
        </p:spPr>
      </p:pic>
      <p:pic>
        <p:nvPicPr>
          <p:cNvPr id="13314" name="Picture 2" descr="C:\Users\GREEN\Desktop\제이쿼리플러그인\20170316_162441_45.png"/>
          <p:cNvPicPr>
            <a:picLocks noChangeAspect="1" noChangeArrowheads="1"/>
          </p:cNvPicPr>
          <p:nvPr/>
        </p:nvPicPr>
        <p:blipFill>
          <a:blip r:embed="rId4" cstate="print"/>
          <a:srcRect t="33338" r="18695"/>
          <a:stretch>
            <a:fillRect/>
          </a:stretch>
        </p:blipFill>
        <p:spPr bwMode="auto">
          <a:xfrm>
            <a:off x="3319077" y="1873672"/>
            <a:ext cx="12936923" cy="6945307"/>
          </a:xfrm>
          <a:prstGeom prst="rect">
            <a:avLst/>
          </a:prstGeom>
          <a:noFill/>
        </p:spPr>
      </p:pic>
      <p:pic>
        <p:nvPicPr>
          <p:cNvPr id="13315" name="Picture 3" descr="C:\Users\GREEN\Desktop\제이쿼리플러그인\20170316_162441_44.png"/>
          <p:cNvPicPr>
            <a:picLocks noChangeAspect="1" noChangeArrowheads="1"/>
          </p:cNvPicPr>
          <p:nvPr/>
        </p:nvPicPr>
        <p:blipFill>
          <a:blip r:embed="rId5" cstate="print"/>
          <a:srcRect l="5377" r="31617"/>
          <a:stretch>
            <a:fillRect/>
          </a:stretch>
        </p:blipFill>
        <p:spPr bwMode="auto">
          <a:xfrm>
            <a:off x="135112" y="2521744"/>
            <a:ext cx="4104456" cy="424847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/>
        </p:nvSpPr>
        <p:spPr>
          <a:xfrm>
            <a:off x="567160" y="289496"/>
            <a:ext cx="6192688" cy="962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dirty="0" smtClean="0">
                <a:latin typeface="Adobe 고딕 Std B" pitchFamily="34" charset="-127"/>
                <a:ea typeface="Adobe 고딕 Std B" pitchFamily="34" charset="-127"/>
              </a:rPr>
              <a:t>04_accordian :</a:t>
            </a:r>
            <a:endParaRPr dirty="0"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6" name="Picture 2" descr="C:\Users\GREEN\Desktop\제이쿼리플러그인\20170316_162441_47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30904" b="87835"/>
          <a:stretch>
            <a:fillRect/>
          </a:stretch>
        </p:blipFill>
        <p:spPr bwMode="auto">
          <a:xfrm>
            <a:off x="6039768" y="361504"/>
            <a:ext cx="7344816" cy="1008112"/>
          </a:xfrm>
          <a:prstGeom prst="rect">
            <a:avLst/>
          </a:prstGeom>
          <a:noFill/>
        </p:spPr>
      </p:pic>
      <p:pic>
        <p:nvPicPr>
          <p:cNvPr id="12290" name="Picture 2" descr="C:\Users\GREEN\Desktop\제이쿼리플러그인\20170316_162441_46.png"/>
          <p:cNvPicPr>
            <a:picLocks noChangeAspect="1" noChangeArrowheads="1"/>
          </p:cNvPicPr>
          <p:nvPr/>
        </p:nvPicPr>
        <p:blipFill>
          <a:blip r:embed="rId4" cstate="print"/>
          <a:srcRect t="12855"/>
          <a:stretch>
            <a:fillRect/>
          </a:stretch>
        </p:blipFill>
        <p:spPr bwMode="auto">
          <a:xfrm>
            <a:off x="1071216" y="1225599"/>
            <a:ext cx="13904907" cy="842640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/>
        </p:nvSpPr>
        <p:spPr>
          <a:xfrm>
            <a:off x="639168" y="145480"/>
            <a:ext cx="13393488" cy="962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dirty="0" smtClean="0">
                <a:latin typeface="Adobe 고딕 Std B" pitchFamily="34" charset="-127"/>
                <a:ea typeface="Adobe 고딕 Std B" pitchFamily="34" charset="-127"/>
              </a:rPr>
              <a:t>04_accordian_selfEX</a:t>
            </a:r>
            <a:endParaRPr dirty="0"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6146" name="Picture 2" descr="C:\Users\GREEN\Desktop\06_구현 능력단위\10_프로젝트 완료_능력단위_95일차~105일차\03_클라이언트 최종 보고하기_102일차~105일차\step104_제이쿼리 플러그인\02_제이쿼리 플러그인\03_accordian\selfEX_03.png"/>
          <p:cNvPicPr>
            <a:picLocks noChangeAspect="1" noChangeArrowheads="1"/>
          </p:cNvPicPr>
          <p:nvPr/>
        </p:nvPicPr>
        <p:blipFill>
          <a:blip r:embed="rId3" cstate="print"/>
          <a:srcRect b="38133"/>
          <a:stretch>
            <a:fillRect/>
          </a:stretch>
        </p:blipFill>
        <p:spPr bwMode="auto">
          <a:xfrm>
            <a:off x="3663504" y="6338168"/>
            <a:ext cx="8712968" cy="2880320"/>
          </a:xfrm>
          <a:prstGeom prst="rect">
            <a:avLst/>
          </a:prstGeom>
          <a:noFill/>
        </p:spPr>
      </p:pic>
      <p:pic>
        <p:nvPicPr>
          <p:cNvPr id="6147" name="Picture 3" descr="C:\Users\GREEN\Desktop\06_구현 능력단위\10_프로젝트 완료_능력단위_95일차~105일차\03_클라이언트 최종 보고하기_102일차~105일차\step104_제이쿼리 플러그인\02_제이쿼리 플러그인\03_accordian\selfEX_01.png"/>
          <p:cNvPicPr>
            <a:picLocks noChangeAspect="1" noChangeArrowheads="1"/>
          </p:cNvPicPr>
          <p:nvPr/>
        </p:nvPicPr>
        <p:blipFill>
          <a:blip r:embed="rId4" cstate="print"/>
          <a:srcRect b="50681"/>
          <a:stretch>
            <a:fillRect/>
          </a:stretch>
        </p:blipFill>
        <p:spPr bwMode="auto">
          <a:xfrm>
            <a:off x="3591496" y="3457848"/>
            <a:ext cx="8851336" cy="2736304"/>
          </a:xfrm>
          <a:prstGeom prst="rect">
            <a:avLst/>
          </a:prstGeom>
          <a:noFill/>
        </p:spPr>
      </p:pic>
      <p:pic>
        <p:nvPicPr>
          <p:cNvPr id="6148" name="Picture 4" descr="C:\Users\GREEN\Desktop\06_구현 능력단위\10_프로젝트 완료_능력단위_95일차~105일차\03_클라이언트 최종 보고하기_102일차~105일차\step104_제이쿼리 플러그인\02_제이쿼리 플러그인\03_accordian\selfEX_02.png"/>
          <p:cNvPicPr>
            <a:picLocks noChangeAspect="1" noChangeArrowheads="1"/>
          </p:cNvPicPr>
          <p:nvPr/>
        </p:nvPicPr>
        <p:blipFill>
          <a:blip r:embed="rId5" cstate="print"/>
          <a:srcRect b="57999"/>
          <a:stretch>
            <a:fillRect/>
          </a:stretch>
        </p:blipFill>
        <p:spPr bwMode="auto">
          <a:xfrm>
            <a:off x="3591496" y="1225600"/>
            <a:ext cx="8856984" cy="208823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/>
        </p:nvSpPr>
        <p:spPr>
          <a:xfrm>
            <a:off x="1287240" y="289496"/>
            <a:ext cx="13393488" cy="962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7542" tIns="57542" rIns="57542" bIns="57542">
            <a:spAutoFit/>
          </a:bodyPr>
          <a:lstStyle/>
          <a:p>
            <a:pPr algn="ctr" defTabSz="612775">
              <a:spcBef>
                <a:spcPts val="1600"/>
              </a:spcBef>
              <a:defRPr sz="5500">
                <a:solidFill>
                  <a:srgbClr val="525252"/>
                </a:solidFill>
                <a:latin typeface="HY강M"/>
                <a:ea typeface="HY강M"/>
                <a:cs typeface="HY강M"/>
                <a:sym typeface="HY강M"/>
              </a:defRPr>
            </a:pPr>
            <a:r>
              <a:rPr lang="en-US" altLang="ko-KR" dirty="0" smtClean="0">
                <a:latin typeface="Adobe 고딕 Std B" pitchFamily="34" charset="-127"/>
                <a:ea typeface="Adobe 고딕 Std B" pitchFamily="34" charset="-127"/>
              </a:rPr>
              <a:t>05_tooltip</a:t>
            </a:r>
            <a:endParaRPr dirty="0"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7" name="Picture 2" descr="C:\Users\GREEN\AppData\Local\Microsoft\Windows\Temporary Internet Files\Content.IE5\Z9CQGH8I\01_explorer_mini[1]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392696" y="217488"/>
            <a:ext cx="1524000" cy="1203960"/>
          </a:xfrm>
          <a:prstGeom prst="rect">
            <a:avLst/>
          </a:prstGeom>
          <a:noFill/>
        </p:spPr>
      </p:pic>
      <p:pic>
        <p:nvPicPr>
          <p:cNvPr id="14338" name="Picture 2" descr="C:\Users\GREEN\Desktop\제이쿼리플러그인\20170316_185029_2.png"/>
          <p:cNvPicPr>
            <a:picLocks noChangeAspect="1" noChangeArrowheads="1"/>
          </p:cNvPicPr>
          <p:nvPr/>
        </p:nvPicPr>
        <p:blipFill>
          <a:blip r:embed="rId5" cstate="print"/>
          <a:srcRect r="33459"/>
          <a:stretch>
            <a:fillRect/>
          </a:stretch>
        </p:blipFill>
        <p:spPr bwMode="auto">
          <a:xfrm>
            <a:off x="1359248" y="1441624"/>
            <a:ext cx="13157317" cy="2088232"/>
          </a:xfrm>
          <a:prstGeom prst="rect">
            <a:avLst/>
          </a:prstGeom>
          <a:noFill/>
        </p:spPr>
      </p:pic>
      <p:pic>
        <p:nvPicPr>
          <p:cNvPr id="14339" name="Picture 3" descr="C:\Users\GREEN\Desktop\제이쿼리플러그인\20170316_185029_1.png"/>
          <p:cNvPicPr>
            <a:picLocks noChangeAspect="1" noChangeArrowheads="1"/>
          </p:cNvPicPr>
          <p:nvPr/>
        </p:nvPicPr>
        <p:blipFill>
          <a:blip r:embed="rId6" cstate="print"/>
          <a:srcRect t="25841"/>
          <a:stretch>
            <a:fillRect/>
          </a:stretch>
        </p:blipFill>
        <p:spPr bwMode="auto">
          <a:xfrm>
            <a:off x="4599608" y="3889896"/>
            <a:ext cx="6385941" cy="516628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GREEN\Desktop\제이쿼리플러그인\20170316_162441_35.png"/>
          <p:cNvPicPr>
            <a:picLocks noChangeAspect="1" noChangeArrowheads="1"/>
          </p:cNvPicPr>
          <p:nvPr/>
        </p:nvPicPr>
        <p:blipFill>
          <a:blip r:embed="rId3" cstate="print"/>
          <a:srcRect t="27450"/>
          <a:stretch>
            <a:fillRect/>
          </a:stretch>
        </p:blipFill>
        <p:spPr bwMode="auto">
          <a:xfrm>
            <a:off x="1215232" y="1657648"/>
            <a:ext cx="13312576" cy="7486237"/>
          </a:xfrm>
          <a:prstGeom prst="rect">
            <a:avLst/>
          </a:prstGeom>
          <a:noFill/>
        </p:spPr>
      </p:pic>
      <p:grpSp>
        <p:nvGrpSpPr>
          <p:cNvPr id="6" name="그룹 5"/>
          <p:cNvGrpSpPr/>
          <p:nvPr/>
        </p:nvGrpSpPr>
        <p:grpSpPr>
          <a:xfrm>
            <a:off x="1935312" y="217488"/>
            <a:ext cx="11089232" cy="1152128"/>
            <a:chOff x="1503264" y="217488"/>
            <a:chExt cx="11089232" cy="1152128"/>
          </a:xfrm>
        </p:grpSpPr>
        <p:sp>
          <p:nvSpPr>
            <p:cNvPr id="7" name="Shape 238"/>
            <p:cNvSpPr/>
            <p:nvPr/>
          </p:nvSpPr>
          <p:spPr>
            <a:xfrm>
              <a:off x="1503264" y="289496"/>
              <a:ext cx="7056784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05_tooltip 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9" name="Picture 2" descr="C:\Users\GREEN\Desktop\제이쿼리플러그인\20170316_162441_35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44681" b="85360"/>
            <a:stretch>
              <a:fillRect/>
            </a:stretch>
          </p:blipFill>
          <p:spPr bwMode="auto">
            <a:xfrm>
              <a:off x="6975872" y="217488"/>
              <a:ext cx="5616624" cy="1152128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Users\GREEN\Desktop\제이쿼리플러그인\20170316_162441_3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9248" y="1247279"/>
            <a:ext cx="13609512" cy="8404721"/>
          </a:xfrm>
          <a:prstGeom prst="rect">
            <a:avLst/>
          </a:prstGeom>
          <a:noFill/>
        </p:spPr>
      </p:pic>
      <p:grpSp>
        <p:nvGrpSpPr>
          <p:cNvPr id="5" name="그룹 4"/>
          <p:cNvGrpSpPr/>
          <p:nvPr/>
        </p:nvGrpSpPr>
        <p:grpSpPr>
          <a:xfrm>
            <a:off x="1935312" y="217488"/>
            <a:ext cx="11089232" cy="1152128"/>
            <a:chOff x="1503264" y="217488"/>
            <a:chExt cx="11089232" cy="1152128"/>
          </a:xfrm>
        </p:grpSpPr>
        <p:sp>
          <p:nvSpPr>
            <p:cNvPr id="6" name="Shape 238"/>
            <p:cNvSpPr/>
            <p:nvPr/>
          </p:nvSpPr>
          <p:spPr>
            <a:xfrm>
              <a:off x="1503264" y="289496"/>
              <a:ext cx="7056784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05_tooltip 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7" name="Picture 2" descr="C:\Users\GREEN\Desktop\제이쿼리플러그인\20170316_162441_35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44681" b="85360"/>
            <a:stretch>
              <a:fillRect/>
            </a:stretch>
          </p:blipFill>
          <p:spPr bwMode="auto">
            <a:xfrm>
              <a:off x="6975872" y="217488"/>
              <a:ext cx="5616624" cy="1152128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Users\GREEN\Desktop\제이쿼리플러그인\20170316_162441_32.png"/>
          <p:cNvPicPr>
            <a:picLocks noChangeAspect="1" noChangeArrowheads="1"/>
          </p:cNvPicPr>
          <p:nvPr/>
        </p:nvPicPr>
        <p:blipFill>
          <a:blip r:embed="rId3" cstate="print"/>
          <a:srcRect l="11387" r="29651" b="20968"/>
          <a:stretch>
            <a:fillRect/>
          </a:stretch>
        </p:blipFill>
        <p:spPr bwMode="auto">
          <a:xfrm>
            <a:off x="0" y="2881784"/>
            <a:ext cx="4239568" cy="3115676"/>
          </a:xfrm>
          <a:prstGeom prst="rect">
            <a:avLst/>
          </a:prstGeom>
          <a:noFill/>
        </p:spPr>
      </p:pic>
      <p:pic>
        <p:nvPicPr>
          <p:cNvPr id="17411" name="Picture 3" descr="C:\Users\GREEN\Desktop\제이쿼리플러그인\20170316_162441_33.png"/>
          <p:cNvPicPr>
            <a:picLocks noChangeAspect="1" noChangeArrowheads="1"/>
          </p:cNvPicPr>
          <p:nvPr/>
        </p:nvPicPr>
        <p:blipFill>
          <a:blip r:embed="rId4" cstate="print"/>
          <a:srcRect l="3451" t="33333" r="25551"/>
          <a:stretch>
            <a:fillRect/>
          </a:stretch>
        </p:blipFill>
        <p:spPr bwMode="auto">
          <a:xfrm>
            <a:off x="4472873" y="2449736"/>
            <a:ext cx="11783127" cy="5400600"/>
          </a:xfrm>
          <a:prstGeom prst="rect">
            <a:avLst/>
          </a:prstGeom>
          <a:noFill/>
        </p:spPr>
      </p:pic>
      <p:grpSp>
        <p:nvGrpSpPr>
          <p:cNvPr id="6" name="그룹 5"/>
          <p:cNvGrpSpPr/>
          <p:nvPr/>
        </p:nvGrpSpPr>
        <p:grpSpPr>
          <a:xfrm>
            <a:off x="1935312" y="217488"/>
            <a:ext cx="11089232" cy="1152128"/>
            <a:chOff x="1503264" y="217488"/>
            <a:chExt cx="11089232" cy="1152128"/>
          </a:xfrm>
        </p:grpSpPr>
        <p:sp>
          <p:nvSpPr>
            <p:cNvPr id="7" name="Shape 238"/>
            <p:cNvSpPr/>
            <p:nvPr/>
          </p:nvSpPr>
          <p:spPr>
            <a:xfrm>
              <a:off x="1503264" y="289496"/>
              <a:ext cx="7056784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05_tooltip 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8" name="Picture 2" descr="C:\Users\GREEN\Desktop\제이쿼리플러그인\20170316_162441_35.png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44681" b="85360"/>
            <a:stretch>
              <a:fillRect/>
            </a:stretch>
          </p:blipFill>
          <p:spPr bwMode="auto">
            <a:xfrm>
              <a:off x="6975872" y="217488"/>
              <a:ext cx="5616624" cy="1152128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C:\Users\GREEN\Desktop\제이쿼리플러그인\20170316_162441_31.png"/>
          <p:cNvPicPr>
            <a:picLocks noChangeAspect="1" noChangeArrowheads="1"/>
          </p:cNvPicPr>
          <p:nvPr/>
        </p:nvPicPr>
        <p:blipFill>
          <a:blip r:embed="rId3" cstate="print"/>
          <a:srcRect r="7112"/>
          <a:stretch>
            <a:fillRect/>
          </a:stretch>
        </p:blipFill>
        <p:spPr bwMode="auto">
          <a:xfrm>
            <a:off x="4599608" y="1801664"/>
            <a:ext cx="11170144" cy="6741476"/>
          </a:xfrm>
          <a:prstGeom prst="rect">
            <a:avLst/>
          </a:prstGeom>
          <a:noFill/>
        </p:spPr>
      </p:pic>
      <p:pic>
        <p:nvPicPr>
          <p:cNvPr id="7" name="Picture 3" descr="C:\Users\GREEN\Desktop\제이쿼리플러그인\20170316_185029_1.png"/>
          <p:cNvPicPr>
            <a:picLocks noChangeAspect="1" noChangeArrowheads="1"/>
          </p:cNvPicPr>
          <p:nvPr/>
        </p:nvPicPr>
        <p:blipFill>
          <a:blip r:embed="rId4" cstate="print"/>
          <a:srcRect t="25841"/>
          <a:stretch>
            <a:fillRect/>
          </a:stretch>
        </p:blipFill>
        <p:spPr bwMode="auto">
          <a:xfrm>
            <a:off x="0" y="2593752"/>
            <a:ext cx="4743624" cy="3837632"/>
          </a:xfrm>
          <a:prstGeom prst="rect">
            <a:avLst/>
          </a:prstGeom>
          <a:noFill/>
        </p:spPr>
      </p:pic>
      <p:grpSp>
        <p:nvGrpSpPr>
          <p:cNvPr id="6" name="그룹 5"/>
          <p:cNvGrpSpPr/>
          <p:nvPr/>
        </p:nvGrpSpPr>
        <p:grpSpPr>
          <a:xfrm>
            <a:off x="1935312" y="217488"/>
            <a:ext cx="11089232" cy="1152128"/>
            <a:chOff x="1503264" y="217488"/>
            <a:chExt cx="11089232" cy="1152128"/>
          </a:xfrm>
        </p:grpSpPr>
        <p:sp>
          <p:nvSpPr>
            <p:cNvPr id="8" name="Shape 238"/>
            <p:cNvSpPr/>
            <p:nvPr/>
          </p:nvSpPr>
          <p:spPr>
            <a:xfrm>
              <a:off x="1503264" y="289496"/>
              <a:ext cx="7056784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05_tooltip 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9" name="Picture 2" descr="C:\Users\GREEN\Desktop\제이쿼리플러그인\20170316_162441_35.png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44681" b="85360"/>
            <a:stretch>
              <a:fillRect/>
            </a:stretch>
          </p:blipFill>
          <p:spPr bwMode="auto">
            <a:xfrm>
              <a:off x="6975872" y="217488"/>
              <a:ext cx="5616624" cy="1152128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5"/>
          <p:cNvGrpSpPr/>
          <p:nvPr/>
        </p:nvGrpSpPr>
        <p:grpSpPr>
          <a:xfrm>
            <a:off x="1935312" y="217488"/>
            <a:ext cx="11089232" cy="1152128"/>
            <a:chOff x="1503264" y="217488"/>
            <a:chExt cx="11089232" cy="1152128"/>
          </a:xfrm>
        </p:grpSpPr>
        <p:sp>
          <p:nvSpPr>
            <p:cNvPr id="8" name="Shape 238"/>
            <p:cNvSpPr/>
            <p:nvPr/>
          </p:nvSpPr>
          <p:spPr>
            <a:xfrm>
              <a:off x="1503264" y="289496"/>
              <a:ext cx="7056784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05_tooltip 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9" name="Picture 2" descr="C:\Users\GREEN\Desktop\제이쿼리플러그인\20170316_162441_35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44681" b="85360"/>
            <a:stretch>
              <a:fillRect/>
            </a:stretch>
          </p:blipFill>
          <p:spPr bwMode="auto">
            <a:xfrm>
              <a:off x="6975872" y="217488"/>
              <a:ext cx="5616624" cy="1152128"/>
            </a:xfrm>
            <a:prstGeom prst="rect">
              <a:avLst/>
            </a:prstGeom>
            <a:noFill/>
          </p:spPr>
        </p:pic>
      </p:grpSp>
      <p:pic>
        <p:nvPicPr>
          <p:cNvPr id="7170" name="Picture 2" descr="C:\Users\GREEN\Desktop\제이쿼리플러그인\20170316_162441_30.png"/>
          <p:cNvPicPr>
            <a:picLocks noChangeAspect="1" noChangeArrowheads="1"/>
          </p:cNvPicPr>
          <p:nvPr/>
        </p:nvPicPr>
        <p:blipFill>
          <a:blip r:embed="rId4" cstate="print"/>
          <a:srcRect l="4574" t="9244" r="18972" b="840"/>
          <a:stretch>
            <a:fillRect/>
          </a:stretch>
        </p:blipFill>
        <p:spPr bwMode="auto">
          <a:xfrm>
            <a:off x="4671616" y="1369616"/>
            <a:ext cx="11584384" cy="7704856"/>
          </a:xfrm>
          <a:prstGeom prst="rect">
            <a:avLst/>
          </a:prstGeom>
          <a:noFill/>
        </p:spPr>
      </p:pic>
      <p:pic>
        <p:nvPicPr>
          <p:cNvPr id="7171" name="Picture 3" descr="C:\Users\GREEN\Desktop\제이쿼리플러그인\20170316_162441_29.png"/>
          <p:cNvPicPr>
            <a:picLocks noChangeAspect="1" noChangeArrowheads="1"/>
          </p:cNvPicPr>
          <p:nvPr/>
        </p:nvPicPr>
        <p:blipFill>
          <a:blip r:embed="rId5" cstate="print"/>
          <a:srcRect r="16659"/>
          <a:stretch>
            <a:fillRect/>
          </a:stretch>
        </p:blipFill>
        <p:spPr bwMode="auto">
          <a:xfrm>
            <a:off x="0" y="2809776"/>
            <a:ext cx="4599608" cy="360577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GREEN\AppData\Local\Microsoft\Windows\Temporary Internet Files\Content.IE5\Z9CQGH8I\01_explorer_mini[1]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392696" y="217488"/>
            <a:ext cx="1524000" cy="1203960"/>
          </a:xfrm>
          <a:prstGeom prst="rect">
            <a:avLst/>
          </a:prstGeom>
          <a:noFill/>
        </p:spPr>
      </p:pic>
      <p:pic>
        <p:nvPicPr>
          <p:cNvPr id="9218" name="Picture 2" descr="C:\Users\GREEN\Desktop\제이쿼리플러그인\20170316_162441_24.png"/>
          <p:cNvPicPr>
            <a:picLocks noChangeAspect="1" noChangeArrowheads="1"/>
          </p:cNvPicPr>
          <p:nvPr/>
        </p:nvPicPr>
        <p:blipFill>
          <a:blip r:embed="rId5" cstate="print"/>
          <a:srcRect t="28350"/>
          <a:stretch>
            <a:fillRect/>
          </a:stretch>
        </p:blipFill>
        <p:spPr bwMode="auto">
          <a:xfrm>
            <a:off x="1791296" y="3099272"/>
            <a:ext cx="12946482" cy="6552728"/>
          </a:xfrm>
          <a:prstGeom prst="rect">
            <a:avLst/>
          </a:prstGeom>
          <a:noFill/>
        </p:spPr>
      </p:pic>
      <p:grpSp>
        <p:nvGrpSpPr>
          <p:cNvPr id="9" name="그룹 8"/>
          <p:cNvGrpSpPr/>
          <p:nvPr/>
        </p:nvGrpSpPr>
        <p:grpSpPr>
          <a:xfrm>
            <a:off x="1647280" y="217488"/>
            <a:ext cx="11953328" cy="1152128"/>
            <a:chOff x="351136" y="217488"/>
            <a:chExt cx="11953328" cy="1152128"/>
          </a:xfrm>
        </p:grpSpPr>
        <p:sp>
          <p:nvSpPr>
            <p:cNvPr id="238" name="Shape 238"/>
            <p:cNvSpPr/>
            <p:nvPr/>
          </p:nvSpPr>
          <p:spPr>
            <a:xfrm>
              <a:off x="351136" y="289496"/>
              <a:ext cx="8064896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06_autocomplete 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8" name="Picture 2" descr="C:\Users\GREEN\Desktop\제이쿼리플러그인\20170316_162441_24.png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53272" b="83462"/>
            <a:stretch>
              <a:fillRect/>
            </a:stretch>
          </p:blipFill>
          <p:spPr bwMode="auto">
            <a:xfrm>
              <a:off x="7695952" y="217488"/>
              <a:ext cx="4608512" cy="1152128"/>
            </a:xfrm>
            <a:prstGeom prst="rect">
              <a:avLst/>
            </a:prstGeom>
            <a:noFill/>
          </p:spPr>
        </p:pic>
      </p:grpSp>
      <p:pic>
        <p:nvPicPr>
          <p:cNvPr id="9220" name="Picture 4" descr="C:\Users\GREEN\Desktop\제이쿼리플러그인\20170316_162441_21.png"/>
          <p:cNvPicPr>
            <a:picLocks noChangeAspect="1" noChangeArrowheads="1"/>
          </p:cNvPicPr>
          <p:nvPr/>
        </p:nvPicPr>
        <p:blipFill>
          <a:blip r:embed="rId6" cstate="print"/>
          <a:srcRect t="10884" b="29252"/>
          <a:stretch>
            <a:fillRect/>
          </a:stretch>
        </p:blipFill>
        <p:spPr bwMode="auto">
          <a:xfrm>
            <a:off x="4887640" y="1441624"/>
            <a:ext cx="5616624" cy="189131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1647280" y="217488"/>
            <a:ext cx="11953328" cy="1152128"/>
            <a:chOff x="351136" y="217488"/>
            <a:chExt cx="11953328" cy="1152128"/>
          </a:xfrm>
        </p:grpSpPr>
        <p:sp>
          <p:nvSpPr>
            <p:cNvPr id="238" name="Shape 238"/>
            <p:cNvSpPr/>
            <p:nvPr/>
          </p:nvSpPr>
          <p:spPr>
            <a:xfrm>
              <a:off x="351136" y="289496"/>
              <a:ext cx="8064896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06_autocomplete 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8" name="Picture 2" descr="C:\Users\GREEN\Desktop\제이쿼리플러그인\20170316_162441_24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53272" b="83462"/>
            <a:stretch>
              <a:fillRect/>
            </a:stretch>
          </p:blipFill>
          <p:spPr bwMode="auto">
            <a:xfrm>
              <a:off x="7695952" y="217488"/>
              <a:ext cx="4608512" cy="1152128"/>
            </a:xfrm>
            <a:prstGeom prst="rect">
              <a:avLst/>
            </a:prstGeom>
            <a:noFill/>
          </p:spPr>
        </p:pic>
      </p:grpSp>
      <p:pic>
        <p:nvPicPr>
          <p:cNvPr id="10242" name="Picture 2" descr="C:\Users\GREEN\Desktop\제이쿼리플러그인\20170316_162441_23.png"/>
          <p:cNvPicPr>
            <a:picLocks noChangeAspect="1" noChangeArrowheads="1"/>
          </p:cNvPicPr>
          <p:nvPr/>
        </p:nvPicPr>
        <p:blipFill>
          <a:blip r:embed="rId4" cstate="print"/>
          <a:srcRect b="42078"/>
          <a:stretch>
            <a:fillRect/>
          </a:stretch>
        </p:blipFill>
        <p:spPr bwMode="auto">
          <a:xfrm>
            <a:off x="63104" y="1225600"/>
            <a:ext cx="16126901" cy="806489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1647280" y="217488"/>
            <a:ext cx="11953328" cy="1152128"/>
            <a:chOff x="351136" y="217488"/>
            <a:chExt cx="11953328" cy="1152128"/>
          </a:xfrm>
        </p:grpSpPr>
        <p:sp>
          <p:nvSpPr>
            <p:cNvPr id="238" name="Shape 238"/>
            <p:cNvSpPr/>
            <p:nvPr/>
          </p:nvSpPr>
          <p:spPr>
            <a:xfrm>
              <a:off x="351136" y="289496"/>
              <a:ext cx="8064896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06_autocomplete 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8" name="Picture 2" descr="C:\Users\GREEN\Desktop\제이쿼리플러그인\20170316_162441_24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53272" b="83462"/>
            <a:stretch>
              <a:fillRect/>
            </a:stretch>
          </p:blipFill>
          <p:spPr bwMode="auto">
            <a:xfrm>
              <a:off x="7695952" y="217488"/>
              <a:ext cx="4608512" cy="1152128"/>
            </a:xfrm>
            <a:prstGeom prst="rect">
              <a:avLst/>
            </a:prstGeom>
            <a:noFill/>
          </p:spPr>
        </p:pic>
      </p:grpSp>
      <p:pic>
        <p:nvPicPr>
          <p:cNvPr id="10242" name="Picture 2" descr="C:\Users\GREEN\Desktop\제이쿼리플러그인\20170316_162441_23.png"/>
          <p:cNvPicPr>
            <a:picLocks noChangeAspect="1" noChangeArrowheads="1"/>
          </p:cNvPicPr>
          <p:nvPr/>
        </p:nvPicPr>
        <p:blipFill>
          <a:blip r:embed="rId4" cstate="print"/>
          <a:srcRect t="57036" r="37556" b="1317"/>
          <a:stretch>
            <a:fillRect/>
          </a:stretch>
        </p:blipFill>
        <p:spPr bwMode="auto">
          <a:xfrm>
            <a:off x="1143224" y="1225600"/>
            <a:ext cx="13883142" cy="799435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8"/>
          <p:cNvGrpSpPr/>
          <p:nvPr/>
        </p:nvGrpSpPr>
        <p:grpSpPr>
          <a:xfrm>
            <a:off x="1647280" y="217488"/>
            <a:ext cx="11953328" cy="1152128"/>
            <a:chOff x="351136" y="217488"/>
            <a:chExt cx="11953328" cy="1152128"/>
          </a:xfrm>
        </p:grpSpPr>
        <p:sp>
          <p:nvSpPr>
            <p:cNvPr id="238" name="Shape 238"/>
            <p:cNvSpPr/>
            <p:nvPr/>
          </p:nvSpPr>
          <p:spPr>
            <a:xfrm>
              <a:off x="351136" y="289496"/>
              <a:ext cx="8064896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06_autocomplete 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8" name="Picture 2" descr="C:\Users\GREEN\Desktop\제이쿼리플러그인\20170316_162441_24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53272" b="83462"/>
            <a:stretch>
              <a:fillRect/>
            </a:stretch>
          </p:blipFill>
          <p:spPr bwMode="auto">
            <a:xfrm>
              <a:off x="7695952" y="217488"/>
              <a:ext cx="4608512" cy="1152128"/>
            </a:xfrm>
            <a:prstGeom prst="rect">
              <a:avLst/>
            </a:prstGeom>
            <a:noFill/>
          </p:spPr>
        </p:pic>
      </p:grpSp>
      <p:pic>
        <p:nvPicPr>
          <p:cNvPr id="11266" name="Picture 2" descr="C:\Users\GREEN\Desktop\제이쿼리플러그인\20170316_162441_22.png"/>
          <p:cNvPicPr>
            <a:picLocks noChangeAspect="1" noChangeArrowheads="1"/>
          </p:cNvPicPr>
          <p:nvPr/>
        </p:nvPicPr>
        <p:blipFill>
          <a:blip r:embed="rId4" cstate="print"/>
          <a:srcRect t="34905"/>
          <a:stretch>
            <a:fillRect/>
          </a:stretch>
        </p:blipFill>
        <p:spPr bwMode="auto">
          <a:xfrm>
            <a:off x="639168" y="1296144"/>
            <a:ext cx="14858857" cy="82103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-296936" y="288777"/>
            <a:ext cx="14797334" cy="963312"/>
            <a:chOff x="-1305048" y="288777"/>
            <a:chExt cx="14797334" cy="963312"/>
          </a:xfrm>
        </p:grpSpPr>
        <p:sp>
          <p:nvSpPr>
            <p:cNvPr id="238" name="Shape 238"/>
            <p:cNvSpPr/>
            <p:nvPr/>
          </p:nvSpPr>
          <p:spPr>
            <a:xfrm>
              <a:off x="-1305048" y="289496"/>
              <a:ext cx="8064896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07_datepicker: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12290" name="Picture 2" descr="C:\Users\GREEN\Desktop\제이쿼리플러그인\20170316_162441_20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30577" b="86676"/>
            <a:stretch>
              <a:fillRect/>
            </a:stretch>
          </p:blipFill>
          <p:spPr bwMode="auto">
            <a:xfrm>
              <a:off x="5175672" y="288777"/>
              <a:ext cx="8316614" cy="936823"/>
            </a:xfrm>
            <a:prstGeom prst="rect">
              <a:avLst/>
            </a:prstGeom>
            <a:noFill/>
          </p:spPr>
        </p:pic>
      </p:grpSp>
      <p:pic>
        <p:nvPicPr>
          <p:cNvPr id="9" name="Picture 2" descr="C:\Users\GREEN\Desktop\제이쿼리플러그인\20170316_162441_20.png"/>
          <p:cNvPicPr>
            <a:picLocks noChangeAspect="1" noChangeArrowheads="1"/>
          </p:cNvPicPr>
          <p:nvPr/>
        </p:nvPicPr>
        <p:blipFill>
          <a:blip r:embed="rId3" cstate="print"/>
          <a:srcRect t="26604" r="20472"/>
          <a:stretch>
            <a:fillRect/>
          </a:stretch>
        </p:blipFill>
        <p:spPr bwMode="auto">
          <a:xfrm>
            <a:off x="2693636" y="1657648"/>
            <a:ext cx="13562364" cy="7346280"/>
          </a:xfrm>
          <a:prstGeom prst="rect">
            <a:avLst/>
          </a:prstGeom>
          <a:noFill/>
        </p:spPr>
      </p:pic>
      <p:pic>
        <p:nvPicPr>
          <p:cNvPr id="7" name="Picture 2" descr="C:\Users\GREEN\AppData\Local\Microsoft\Windows\Temporary Internet Files\Content.IE5\Z9CQGH8I\01_explorer_mini[1]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392696" y="217488"/>
            <a:ext cx="1524000" cy="1203960"/>
          </a:xfrm>
          <a:prstGeom prst="rect">
            <a:avLst/>
          </a:prstGeom>
          <a:noFill/>
        </p:spPr>
      </p:pic>
      <p:pic>
        <p:nvPicPr>
          <p:cNvPr id="12291" name="Picture 3" descr="C:\Users\GREEN\Desktop\제이쿼리플러그인\20170316_162441_17.png"/>
          <p:cNvPicPr>
            <a:picLocks noChangeAspect="1" noChangeArrowheads="1"/>
          </p:cNvPicPr>
          <p:nvPr/>
        </p:nvPicPr>
        <p:blipFill>
          <a:blip r:embed="rId6" cstate="print"/>
          <a:srcRect r="13215"/>
          <a:stretch>
            <a:fillRect/>
          </a:stretch>
        </p:blipFill>
        <p:spPr bwMode="auto">
          <a:xfrm>
            <a:off x="0" y="3025800"/>
            <a:ext cx="3807520" cy="349195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9"/>
          <p:cNvGrpSpPr/>
          <p:nvPr/>
        </p:nvGrpSpPr>
        <p:grpSpPr>
          <a:xfrm>
            <a:off x="-296936" y="288777"/>
            <a:ext cx="14797334" cy="963312"/>
            <a:chOff x="-1305048" y="288777"/>
            <a:chExt cx="14797334" cy="963312"/>
          </a:xfrm>
        </p:grpSpPr>
        <p:sp>
          <p:nvSpPr>
            <p:cNvPr id="238" name="Shape 238"/>
            <p:cNvSpPr/>
            <p:nvPr/>
          </p:nvSpPr>
          <p:spPr>
            <a:xfrm>
              <a:off x="-1305048" y="289496"/>
              <a:ext cx="8064896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07_datepicker: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12290" name="Picture 2" descr="C:\Users\GREEN\Desktop\제이쿼리플러그인\20170316_162441_20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30577" b="86676"/>
            <a:stretch>
              <a:fillRect/>
            </a:stretch>
          </p:blipFill>
          <p:spPr bwMode="auto">
            <a:xfrm>
              <a:off x="5175672" y="288777"/>
              <a:ext cx="8316614" cy="936823"/>
            </a:xfrm>
            <a:prstGeom prst="rect">
              <a:avLst/>
            </a:prstGeom>
            <a:noFill/>
          </p:spPr>
        </p:pic>
      </p:grpSp>
      <p:pic>
        <p:nvPicPr>
          <p:cNvPr id="13314" name="Picture 2" descr="C:\Users\GREEN\Desktop\제이쿼리플러그인\20170316_162441_1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3184" y="1369616"/>
            <a:ext cx="14954679" cy="806636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9"/>
          <p:cNvGrpSpPr/>
          <p:nvPr/>
        </p:nvGrpSpPr>
        <p:grpSpPr>
          <a:xfrm>
            <a:off x="-296936" y="288777"/>
            <a:ext cx="14797334" cy="963312"/>
            <a:chOff x="-1305048" y="288777"/>
            <a:chExt cx="14797334" cy="963312"/>
          </a:xfrm>
        </p:grpSpPr>
        <p:sp>
          <p:nvSpPr>
            <p:cNvPr id="238" name="Shape 238"/>
            <p:cNvSpPr/>
            <p:nvPr/>
          </p:nvSpPr>
          <p:spPr>
            <a:xfrm>
              <a:off x="-1305048" y="289496"/>
              <a:ext cx="8064896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07_datepicker: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12290" name="Picture 2" descr="C:\Users\GREEN\Desktop\제이쿼리플러그인\20170316_162441_20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30577" b="86676"/>
            <a:stretch>
              <a:fillRect/>
            </a:stretch>
          </p:blipFill>
          <p:spPr bwMode="auto">
            <a:xfrm>
              <a:off x="5175672" y="288777"/>
              <a:ext cx="8316614" cy="936823"/>
            </a:xfrm>
            <a:prstGeom prst="rect">
              <a:avLst/>
            </a:prstGeom>
            <a:noFill/>
          </p:spPr>
        </p:pic>
      </p:grpSp>
      <p:pic>
        <p:nvPicPr>
          <p:cNvPr id="14338" name="Picture 2" descr="C:\Users\GREEN\Desktop\제이쿼리플러그인\20170316_162441_18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1666" y="1441624"/>
            <a:ext cx="16124334" cy="792234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9"/>
          <p:cNvGrpSpPr/>
          <p:nvPr/>
        </p:nvGrpSpPr>
        <p:grpSpPr>
          <a:xfrm>
            <a:off x="-296936" y="288777"/>
            <a:ext cx="14797334" cy="963312"/>
            <a:chOff x="-1305048" y="288777"/>
            <a:chExt cx="14797334" cy="963312"/>
          </a:xfrm>
        </p:grpSpPr>
        <p:sp>
          <p:nvSpPr>
            <p:cNvPr id="238" name="Shape 238"/>
            <p:cNvSpPr/>
            <p:nvPr/>
          </p:nvSpPr>
          <p:spPr>
            <a:xfrm>
              <a:off x="-1305048" y="289496"/>
              <a:ext cx="8064896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07_datepicker: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12290" name="Picture 2" descr="C:\Users\GREEN\Desktop\제이쿼리플러그인\20170316_162441_20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30577" b="86676"/>
            <a:stretch>
              <a:fillRect/>
            </a:stretch>
          </p:blipFill>
          <p:spPr bwMode="auto">
            <a:xfrm>
              <a:off x="5175672" y="288777"/>
              <a:ext cx="8316614" cy="936823"/>
            </a:xfrm>
            <a:prstGeom prst="rect">
              <a:avLst/>
            </a:prstGeom>
            <a:noFill/>
          </p:spPr>
        </p:pic>
      </p:grpSp>
      <p:pic>
        <p:nvPicPr>
          <p:cNvPr id="15362" name="Picture 2" descr="C:\Users\GREEN\Desktop\제이쿼리플러그인\20170316_162441_16.png"/>
          <p:cNvPicPr>
            <a:picLocks noChangeAspect="1" noChangeArrowheads="1"/>
          </p:cNvPicPr>
          <p:nvPr/>
        </p:nvPicPr>
        <p:blipFill>
          <a:blip r:embed="rId4" cstate="print"/>
          <a:srcRect r="3109"/>
          <a:stretch>
            <a:fillRect/>
          </a:stretch>
        </p:blipFill>
        <p:spPr bwMode="auto">
          <a:xfrm>
            <a:off x="3069632" y="1755531"/>
            <a:ext cx="13186368" cy="7896469"/>
          </a:xfrm>
          <a:prstGeom prst="rect">
            <a:avLst/>
          </a:prstGeom>
          <a:noFill/>
        </p:spPr>
      </p:pic>
      <p:pic>
        <p:nvPicPr>
          <p:cNvPr id="15363" name="Picture 3" descr="C:\Users\GREEN\Desktop\제이쿼리플러그인\20170316_162441_15.png"/>
          <p:cNvPicPr>
            <a:picLocks noChangeAspect="1" noChangeArrowheads="1"/>
          </p:cNvPicPr>
          <p:nvPr/>
        </p:nvPicPr>
        <p:blipFill>
          <a:blip r:embed="rId5" cstate="print"/>
          <a:srcRect r="10485"/>
          <a:stretch>
            <a:fillRect/>
          </a:stretch>
        </p:blipFill>
        <p:spPr bwMode="auto">
          <a:xfrm>
            <a:off x="0" y="3241824"/>
            <a:ext cx="3591496" cy="329232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GREEN\AppData\Local\Microsoft\Windows\Temporary Internet Files\Content.IE5\Z9CQGH8I\01_explorer_mini[1]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392696" y="217488"/>
            <a:ext cx="1524000" cy="1203960"/>
          </a:xfrm>
          <a:prstGeom prst="rect">
            <a:avLst/>
          </a:prstGeom>
          <a:noFill/>
        </p:spPr>
      </p:pic>
      <p:grpSp>
        <p:nvGrpSpPr>
          <p:cNvPr id="11" name="그룹 10"/>
          <p:cNvGrpSpPr/>
          <p:nvPr/>
        </p:nvGrpSpPr>
        <p:grpSpPr>
          <a:xfrm>
            <a:off x="2079328" y="289496"/>
            <a:ext cx="10398115" cy="962593"/>
            <a:chOff x="-296936" y="289496"/>
            <a:chExt cx="10398115" cy="962593"/>
          </a:xfrm>
        </p:grpSpPr>
        <p:sp>
          <p:nvSpPr>
            <p:cNvPr id="238" name="Shape 238"/>
            <p:cNvSpPr/>
            <p:nvPr/>
          </p:nvSpPr>
          <p:spPr>
            <a:xfrm>
              <a:off x="-296936" y="289496"/>
              <a:ext cx="8064896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08_spinner: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16386" name="Picture 2" descr="C:\Users\GREEN\Desktop\제이쿼리플러그인\20170316_162441_14.png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64293" b="86385"/>
            <a:stretch>
              <a:fillRect/>
            </a:stretch>
          </p:blipFill>
          <p:spPr bwMode="auto">
            <a:xfrm>
              <a:off x="5967760" y="361504"/>
              <a:ext cx="4133419" cy="864096"/>
            </a:xfrm>
            <a:prstGeom prst="rect">
              <a:avLst/>
            </a:prstGeom>
            <a:noFill/>
          </p:spPr>
        </p:pic>
      </p:grpSp>
      <p:pic>
        <p:nvPicPr>
          <p:cNvPr id="10" name="Picture 2" descr="C:\Users\GREEN\Desktop\제이쿼리플러그인\20170316_162441_14.png"/>
          <p:cNvPicPr>
            <a:picLocks noChangeAspect="1" noChangeArrowheads="1"/>
          </p:cNvPicPr>
          <p:nvPr/>
        </p:nvPicPr>
        <p:blipFill>
          <a:blip r:embed="rId5" cstate="print"/>
          <a:srcRect t="26255" r="4342"/>
          <a:stretch>
            <a:fillRect/>
          </a:stretch>
        </p:blipFill>
        <p:spPr bwMode="auto">
          <a:xfrm>
            <a:off x="1143224" y="2953792"/>
            <a:ext cx="13969552" cy="5904656"/>
          </a:xfrm>
          <a:prstGeom prst="rect">
            <a:avLst/>
          </a:prstGeom>
          <a:noFill/>
        </p:spPr>
      </p:pic>
      <p:pic>
        <p:nvPicPr>
          <p:cNvPr id="16387" name="Picture 3" descr="C:\Users\GREEN\Desktop\제이쿼리플러그인\20170316_162441_11.png"/>
          <p:cNvPicPr>
            <a:picLocks noChangeAspect="1" noChangeArrowheads="1"/>
          </p:cNvPicPr>
          <p:nvPr/>
        </p:nvPicPr>
        <p:blipFill>
          <a:blip r:embed="rId6" cstate="print"/>
          <a:srcRect t="23529" b="32353"/>
          <a:stretch>
            <a:fillRect/>
          </a:stretch>
        </p:blipFill>
        <p:spPr bwMode="auto">
          <a:xfrm>
            <a:off x="4743624" y="1801664"/>
            <a:ext cx="6329679" cy="108012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"/>
          <p:cNvGrpSpPr/>
          <p:nvPr/>
        </p:nvGrpSpPr>
        <p:grpSpPr>
          <a:xfrm>
            <a:off x="2079328" y="289496"/>
            <a:ext cx="10398115" cy="962593"/>
            <a:chOff x="-296936" y="289496"/>
            <a:chExt cx="10398115" cy="962593"/>
          </a:xfrm>
        </p:grpSpPr>
        <p:sp>
          <p:nvSpPr>
            <p:cNvPr id="238" name="Shape 238"/>
            <p:cNvSpPr/>
            <p:nvPr/>
          </p:nvSpPr>
          <p:spPr>
            <a:xfrm>
              <a:off x="-296936" y="289496"/>
              <a:ext cx="8064896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08_spinner: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16386" name="Picture 2" descr="C:\Users\GREEN\Desktop\제이쿼리플러그인\20170316_162441_14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64293" b="86385"/>
            <a:stretch>
              <a:fillRect/>
            </a:stretch>
          </p:blipFill>
          <p:spPr bwMode="auto">
            <a:xfrm>
              <a:off x="5967760" y="361504"/>
              <a:ext cx="4133419" cy="864096"/>
            </a:xfrm>
            <a:prstGeom prst="rect">
              <a:avLst/>
            </a:prstGeom>
            <a:noFill/>
          </p:spPr>
        </p:pic>
      </p:grpSp>
      <p:pic>
        <p:nvPicPr>
          <p:cNvPr id="17410" name="Picture 2" descr="C:\Users\GREEN\Desktop\제이쿼리플러그인\20170316_162441_1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03264" y="1369616"/>
            <a:ext cx="13249472" cy="820932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"/>
          <p:cNvGrpSpPr/>
          <p:nvPr/>
        </p:nvGrpSpPr>
        <p:grpSpPr>
          <a:xfrm>
            <a:off x="2079328" y="289496"/>
            <a:ext cx="10398115" cy="962593"/>
            <a:chOff x="-296936" y="289496"/>
            <a:chExt cx="10398115" cy="962593"/>
          </a:xfrm>
        </p:grpSpPr>
        <p:sp>
          <p:nvSpPr>
            <p:cNvPr id="238" name="Shape 238"/>
            <p:cNvSpPr/>
            <p:nvPr/>
          </p:nvSpPr>
          <p:spPr>
            <a:xfrm>
              <a:off x="-296936" y="289496"/>
              <a:ext cx="8064896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08_spinner: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16386" name="Picture 2" descr="C:\Users\GREEN\Desktop\제이쿼리플러그인\20170316_162441_14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64293" b="86385"/>
            <a:stretch>
              <a:fillRect/>
            </a:stretch>
          </p:blipFill>
          <p:spPr bwMode="auto">
            <a:xfrm>
              <a:off x="5967760" y="361504"/>
              <a:ext cx="4133419" cy="864096"/>
            </a:xfrm>
            <a:prstGeom prst="rect">
              <a:avLst/>
            </a:prstGeom>
            <a:noFill/>
          </p:spPr>
        </p:pic>
      </p:grpSp>
      <p:pic>
        <p:nvPicPr>
          <p:cNvPr id="18434" name="Picture 2" descr="C:\Users\GREEN\Desktop\제이쿼리플러그인\20170316_162441_1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1949" y="1169169"/>
            <a:ext cx="15906931" cy="840935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GREEN\AppData\Local\Microsoft\Windows\Temporary Internet Files\Content.IE5\Z9CQGH8I\01_explorer_mini[1]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392696" y="217488"/>
            <a:ext cx="1524000" cy="1203960"/>
          </a:xfrm>
          <a:prstGeom prst="rect">
            <a:avLst/>
          </a:prstGeom>
          <a:noFill/>
        </p:spPr>
      </p:pic>
      <p:grpSp>
        <p:nvGrpSpPr>
          <p:cNvPr id="11" name="그룹 10"/>
          <p:cNvGrpSpPr/>
          <p:nvPr/>
        </p:nvGrpSpPr>
        <p:grpSpPr>
          <a:xfrm>
            <a:off x="2079328" y="289496"/>
            <a:ext cx="10123511" cy="962593"/>
            <a:chOff x="2079328" y="289496"/>
            <a:chExt cx="10123511" cy="962593"/>
          </a:xfrm>
        </p:grpSpPr>
        <p:sp>
          <p:nvSpPr>
            <p:cNvPr id="238" name="Shape 238"/>
            <p:cNvSpPr/>
            <p:nvPr/>
          </p:nvSpPr>
          <p:spPr>
            <a:xfrm>
              <a:off x="2079328" y="289496"/>
              <a:ext cx="8064896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09_slider: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19458" name="Picture 2" descr="C:\Users\GREEN\Desktop\제이쿼리플러그인\20170316_162441_10.png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3166" t="-684" r="48879" b="88790"/>
            <a:stretch>
              <a:fillRect/>
            </a:stretch>
          </p:blipFill>
          <p:spPr bwMode="auto">
            <a:xfrm>
              <a:off x="7839968" y="289496"/>
              <a:ext cx="4362871" cy="864096"/>
            </a:xfrm>
            <a:prstGeom prst="rect">
              <a:avLst/>
            </a:prstGeom>
            <a:noFill/>
          </p:spPr>
        </p:pic>
      </p:grpSp>
      <p:pic>
        <p:nvPicPr>
          <p:cNvPr id="9" name="Picture 2" descr="C:\Users\GREEN\Desktop\제이쿼리플러그인\20170316_162441_10.png"/>
          <p:cNvPicPr>
            <a:picLocks noChangeAspect="1" noChangeArrowheads="1"/>
          </p:cNvPicPr>
          <p:nvPr/>
        </p:nvPicPr>
        <p:blipFill>
          <a:blip r:embed="rId5" cstate="print"/>
          <a:srcRect t="25276"/>
          <a:stretch>
            <a:fillRect/>
          </a:stretch>
        </p:blipFill>
        <p:spPr bwMode="auto">
          <a:xfrm>
            <a:off x="2871416" y="2737768"/>
            <a:ext cx="10740225" cy="6408712"/>
          </a:xfrm>
          <a:prstGeom prst="rect">
            <a:avLst/>
          </a:prstGeom>
          <a:noFill/>
        </p:spPr>
      </p:pic>
      <p:pic>
        <p:nvPicPr>
          <p:cNvPr id="19459" name="Picture 3" descr="C:\Users\GREEN\Desktop\제이쿼리플러그인\20170316_162441_7.png"/>
          <p:cNvPicPr>
            <a:picLocks noChangeAspect="1" noChangeArrowheads="1"/>
          </p:cNvPicPr>
          <p:nvPr/>
        </p:nvPicPr>
        <p:blipFill>
          <a:blip r:embed="rId6" cstate="print"/>
          <a:srcRect t="13535" b="32327"/>
          <a:stretch>
            <a:fillRect/>
          </a:stretch>
        </p:blipFill>
        <p:spPr bwMode="auto">
          <a:xfrm>
            <a:off x="3375472" y="1297608"/>
            <a:ext cx="9361040" cy="144016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"/>
          <p:cNvGrpSpPr/>
          <p:nvPr/>
        </p:nvGrpSpPr>
        <p:grpSpPr>
          <a:xfrm>
            <a:off x="2079328" y="289496"/>
            <a:ext cx="10123511" cy="962593"/>
            <a:chOff x="2079328" y="289496"/>
            <a:chExt cx="10123511" cy="962593"/>
          </a:xfrm>
        </p:grpSpPr>
        <p:sp>
          <p:nvSpPr>
            <p:cNvPr id="238" name="Shape 238"/>
            <p:cNvSpPr/>
            <p:nvPr/>
          </p:nvSpPr>
          <p:spPr>
            <a:xfrm>
              <a:off x="2079328" y="289496"/>
              <a:ext cx="8064896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09_slider: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19458" name="Picture 2" descr="C:\Users\GREEN\Desktop\제이쿼리플러그인\20170316_162441_10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3166" t="-684" r="48879" b="88790"/>
            <a:stretch>
              <a:fillRect/>
            </a:stretch>
          </p:blipFill>
          <p:spPr bwMode="auto">
            <a:xfrm>
              <a:off x="7839968" y="289496"/>
              <a:ext cx="4362871" cy="864096"/>
            </a:xfrm>
            <a:prstGeom prst="rect">
              <a:avLst/>
            </a:prstGeom>
            <a:noFill/>
          </p:spPr>
        </p:pic>
      </p:grpSp>
      <p:pic>
        <p:nvPicPr>
          <p:cNvPr id="20482" name="Picture 2" descr="C:\Users\GREEN\Desktop\제이쿼리플러그인\20170316_162441_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87440" y="1160254"/>
            <a:ext cx="10513168" cy="849174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"/>
          <p:cNvGrpSpPr/>
          <p:nvPr/>
        </p:nvGrpSpPr>
        <p:grpSpPr>
          <a:xfrm>
            <a:off x="2079328" y="289496"/>
            <a:ext cx="10123511" cy="962593"/>
            <a:chOff x="2079328" y="289496"/>
            <a:chExt cx="10123511" cy="962593"/>
          </a:xfrm>
        </p:grpSpPr>
        <p:sp>
          <p:nvSpPr>
            <p:cNvPr id="238" name="Shape 238"/>
            <p:cNvSpPr/>
            <p:nvPr/>
          </p:nvSpPr>
          <p:spPr>
            <a:xfrm>
              <a:off x="2079328" y="289496"/>
              <a:ext cx="8064896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09_slider: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19458" name="Picture 2" descr="C:\Users\GREEN\Desktop\제이쿼리플러그인\20170316_162441_10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3166" t="-684" r="48879" b="88790"/>
            <a:stretch>
              <a:fillRect/>
            </a:stretch>
          </p:blipFill>
          <p:spPr bwMode="auto">
            <a:xfrm>
              <a:off x="7839968" y="289496"/>
              <a:ext cx="4362871" cy="864096"/>
            </a:xfrm>
            <a:prstGeom prst="rect">
              <a:avLst/>
            </a:prstGeom>
            <a:noFill/>
          </p:spPr>
        </p:pic>
      </p:grpSp>
      <p:grpSp>
        <p:nvGrpSpPr>
          <p:cNvPr id="8" name="그룹 7"/>
          <p:cNvGrpSpPr/>
          <p:nvPr/>
        </p:nvGrpSpPr>
        <p:grpSpPr>
          <a:xfrm>
            <a:off x="1431256" y="1081584"/>
            <a:ext cx="13569932" cy="8570416"/>
            <a:chOff x="1431256" y="1081584"/>
            <a:chExt cx="13569932" cy="8570416"/>
          </a:xfrm>
        </p:grpSpPr>
        <p:pic>
          <p:nvPicPr>
            <p:cNvPr id="21506" name="Picture 2" descr="C:\Users\GREEN\Desktop\제이쿼리플러그인\20170316_162441_8.png"/>
            <p:cNvPicPr>
              <a:picLocks noChangeAspect="1" noChangeArrowheads="1"/>
            </p:cNvPicPr>
            <p:nvPr/>
          </p:nvPicPr>
          <p:blipFill>
            <a:blip r:embed="rId4" cstate="print"/>
            <a:srcRect t="1636"/>
            <a:stretch>
              <a:fillRect/>
            </a:stretch>
          </p:blipFill>
          <p:spPr bwMode="auto">
            <a:xfrm>
              <a:off x="1431256" y="1081584"/>
              <a:ext cx="13569932" cy="8570416"/>
            </a:xfrm>
            <a:prstGeom prst="rect">
              <a:avLst/>
            </a:prstGeom>
            <a:noFill/>
          </p:spPr>
        </p:pic>
        <p:sp>
          <p:nvSpPr>
            <p:cNvPr id="7" name="직사각형 6"/>
            <p:cNvSpPr/>
            <p:nvPr/>
          </p:nvSpPr>
          <p:spPr>
            <a:xfrm>
              <a:off x="13744624" y="1585640"/>
              <a:ext cx="504056" cy="576064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bg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15684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"/>
          <p:cNvGrpSpPr/>
          <p:nvPr/>
        </p:nvGrpSpPr>
        <p:grpSpPr>
          <a:xfrm>
            <a:off x="2079328" y="289496"/>
            <a:ext cx="10123511" cy="962593"/>
            <a:chOff x="2079328" y="289496"/>
            <a:chExt cx="10123511" cy="962593"/>
          </a:xfrm>
        </p:grpSpPr>
        <p:sp>
          <p:nvSpPr>
            <p:cNvPr id="238" name="Shape 238"/>
            <p:cNvSpPr/>
            <p:nvPr/>
          </p:nvSpPr>
          <p:spPr>
            <a:xfrm>
              <a:off x="2079328" y="289496"/>
              <a:ext cx="8064896" cy="9625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7542" tIns="57542" rIns="57542" bIns="57542">
              <a:spAutoFit/>
            </a:bodyPr>
            <a:lstStyle/>
            <a:p>
              <a:pPr algn="ctr" defTabSz="612775">
                <a:spcBef>
                  <a:spcPts val="1600"/>
                </a:spcBef>
                <a:defRPr sz="5500">
                  <a:solidFill>
                    <a:srgbClr val="525252"/>
                  </a:solidFill>
                  <a:latin typeface="HY강M"/>
                  <a:ea typeface="HY강M"/>
                  <a:cs typeface="HY강M"/>
                  <a:sym typeface="HY강M"/>
                </a:defRPr>
              </a:pPr>
              <a:r>
                <a:rPr lang="en-US" altLang="ko-KR" dirty="0" smtClean="0">
                  <a:latin typeface="Adobe 고딕 Std B" pitchFamily="34" charset="-127"/>
                  <a:ea typeface="Adobe 고딕 Std B" pitchFamily="34" charset="-127"/>
                </a:rPr>
                <a:t>09_slider:</a:t>
              </a:r>
              <a:endParaRPr dirty="0">
                <a:latin typeface="Adobe 고딕 Std B" pitchFamily="34" charset="-127"/>
                <a:ea typeface="Adobe 고딕 Std B" pitchFamily="34" charset="-127"/>
              </a:endParaRPr>
            </a:p>
          </p:txBody>
        </p:sp>
        <p:pic>
          <p:nvPicPr>
            <p:cNvPr id="19458" name="Picture 2" descr="C:\Users\GREEN\Desktop\제이쿼리플러그인\20170316_162441_10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3166" t="-684" r="48879" b="88790"/>
            <a:stretch>
              <a:fillRect/>
            </a:stretch>
          </p:blipFill>
          <p:spPr bwMode="auto">
            <a:xfrm>
              <a:off x="7839968" y="289496"/>
              <a:ext cx="4362871" cy="864096"/>
            </a:xfrm>
            <a:prstGeom prst="rect">
              <a:avLst/>
            </a:prstGeom>
            <a:noFill/>
          </p:spPr>
        </p:pic>
      </p:grpSp>
      <p:grpSp>
        <p:nvGrpSpPr>
          <p:cNvPr id="3" name="그룹 7"/>
          <p:cNvGrpSpPr/>
          <p:nvPr/>
        </p:nvGrpSpPr>
        <p:grpSpPr>
          <a:xfrm>
            <a:off x="1431256" y="1081584"/>
            <a:ext cx="13569932" cy="8570416"/>
            <a:chOff x="1431256" y="1081584"/>
            <a:chExt cx="13569932" cy="8570416"/>
          </a:xfrm>
        </p:grpSpPr>
        <p:pic>
          <p:nvPicPr>
            <p:cNvPr id="21506" name="Picture 2" descr="C:\Users\GREEN\Desktop\제이쿼리플러그인\20170316_162441_8.png"/>
            <p:cNvPicPr>
              <a:picLocks noChangeAspect="1" noChangeArrowheads="1"/>
            </p:cNvPicPr>
            <p:nvPr/>
          </p:nvPicPr>
          <p:blipFill>
            <a:blip r:embed="rId4" cstate="print"/>
            <a:srcRect t="1636"/>
            <a:stretch>
              <a:fillRect/>
            </a:stretch>
          </p:blipFill>
          <p:spPr bwMode="auto">
            <a:xfrm>
              <a:off x="1431256" y="1081584"/>
              <a:ext cx="13569932" cy="8570416"/>
            </a:xfrm>
            <a:prstGeom prst="rect">
              <a:avLst/>
            </a:prstGeom>
            <a:noFill/>
          </p:spPr>
        </p:pic>
        <p:sp>
          <p:nvSpPr>
            <p:cNvPr id="7" name="직사각형 6"/>
            <p:cNvSpPr/>
            <p:nvPr/>
          </p:nvSpPr>
          <p:spPr>
            <a:xfrm>
              <a:off x="13744624" y="1585640"/>
              <a:ext cx="504056" cy="576064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bg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15684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156845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156845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156845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156845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1421</TotalTime>
  <Words>511</Words>
  <Application>Microsoft Office PowerPoint</Application>
  <PresentationFormat>사용자 지정</PresentationFormat>
  <Paragraphs>119</Paragraphs>
  <Slides>55</Slides>
  <Notes>48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56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GREEN</cp:lastModifiedBy>
  <cp:revision>136</cp:revision>
  <dcterms:modified xsi:type="dcterms:W3CDTF">2019-09-10T08:23:23Z</dcterms:modified>
</cp:coreProperties>
</file>