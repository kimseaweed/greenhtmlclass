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89" r:id="rId2"/>
    <p:sldId id="288" r:id="rId3"/>
    <p:sldId id="378" r:id="rId4"/>
    <p:sldId id="379" r:id="rId5"/>
    <p:sldId id="380" r:id="rId6"/>
    <p:sldId id="381" r:id="rId7"/>
    <p:sldId id="388" r:id="rId8"/>
    <p:sldId id="389" r:id="rId9"/>
    <p:sldId id="382" r:id="rId10"/>
    <p:sldId id="383" r:id="rId11"/>
    <p:sldId id="390" r:id="rId12"/>
    <p:sldId id="391" r:id="rId13"/>
    <p:sldId id="401" r:id="rId14"/>
    <p:sldId id="402" r:id="rId15"/>
    <p:sldId id="403" r:id="rId16"/>
    <p:sldId id="404" r:id="rId17"/>
    <p:sldId id="405" r:id="rId18"/>
    <p:sldId id="406" r:id="rId19"/>
    <p:sldId id="375" r:id="rId20"/>
    <p:sldId id="398" r:id="rId21"/>
    <p:sldId id="399" r:id="rId22"/>
    <p:sldId id="400" r:id="rId23"/>
    <p:sldId id="294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66"/>
    <a:srgbClr val="0000FF"/>
    <a:srgbClr val="CC3399"/>
    <a:srgbClr val="FF9900"/>
    <a:srgbClr val="C04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3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21E93-87BE-444D-9E3B-7A43E638A883}" type="datetimeFigureOut">
              <a:rPr lang="ko-KR" altLang="en-US" smtClean="0"/>
              <a:pPr/>
              <a:t>2022-03-15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67AE7-43DC-4FA6-90CC-7E01D7BED6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240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B3E7D-C6EA-460E-9C03-0FEF5569814C}" type="datetime1">
              <a:rPr lang="ko-KR" altLang="en-US" smtClean="0"/>
              <a:pPr/>
              <a:t>2022-03-15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Picture 3" descr="C:\Users\User\Desktop\kimssamclass_logo2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824520" y="118538"/>
            <a:ext cx="1210963" cy="400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5084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F08F-FA07-4967-ACE1-67A6EE72D9D1}" type="datetime1">
              <a:rPr lang="ko-KR" altLang="en-US" smtClean="0"/>
              <a:pPr/>
              <a:t>2022-03-15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84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FE15-A5D5-400D-B921-C7A942F817AD}" type="datetime1">
              <a:rPr lang="ko-KR" altLang="en-US" smtClean="0"/>
              <a:pPr/>
              <a:t>2022-03-15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0F109-416E-4491-8EA6-DD46932089E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Picture 3" descr="C:\Users\User\Desktop\kimssamclass_logo2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824520" y="118538"/>
            <a:ext cx="1210963" cy="400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6517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F489-3674-4527-BDFF-4123E00D45F2}" type="datetime1">
              <a:rPr lang="ko-KR" altLang="en-US" smtClean="0"/>
              <a:pPr/>
              <a:t>2022-03-15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0F109-416E-4491-8EA6-DD46932089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517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9D00E-D773-49E7-AC7F-F8555A1FE3EA}" type="datetime1">
              <a:rPr lang="ko-KR" altLang="en-US" smtClean="0"/>
              <a:pPr/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42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672553" y="6379907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김세지 강사</a:t>
            </a:r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4081" y="2457618"/>
            <a:ext cx="9533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 smtClean="0">
                <a:latin typeface="나눔바른고딕" pitchFamily="50" charset="-127"/>
                <a:ea typeface="나눔바른고딕" pitchFamily="50" charset="-127"/>
              </a:rPr>
              <a:t>부트스트랩을 활용한 반응형 웹 만들기</a:t>
            </a:r>
            <a:endParaRPr lang="ko-KR" altLang="en-US" sz="48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10" name="Picture 4" descr="C:\Users\User\Desktop\log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2415" y="1634290"/>
            <a:ext cx="3355975" cy="1079500"/>
          </a:xfrm>
          <a:prstGeom prst="rect">
            <a:avLst/>
          </a:prstGeom>
          <a:noFill/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31" y="3462383"/>
            <a:ext cx="2768469" cy="1471332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68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502961" y="2395561"/>
            <a:ext cx="894898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dirty="0" smtClean="0">
                <a:latin typeface="나눔바른고딕" pitchFamily="50" charset="-127"/>
                <a:ea typeface="나눔바른고딕" pitchFamily="50" charset="-127"/>
              </a:rPr>
              <a:t>STEP 03</a:t>
            </a:r>
          </a:p>
          <a:p>
            <a:pPr>
              <a:lnSpc>
                <a:spcPct val="150000"/>
              </a:lnSpc>
            </a:pPr>
            <a:r>
              <a:rPr lang="en-US" altLang="ko-KR" sz="4400" dirty="0" smtClean="0">
                <a:latin typeface="나눔바른고딕" pitchFamily="50" charset="-127"/>
                <a:ea typeface="나눔바른고딕" pitchFamily="50" charset="-127"/>
              </a:rPr>
              <a:t>Grid</a:t>
            </a:r>
            <a:r>
              <a:rPr lang="ko-KR" altLang="en-US" sz="4400" dirty="0" smtClean="0">
                <a:latin typeface="나눔바른고딕" pitchFamily="50" charset="-127"/>
                <a:ea typeface="나눔바른고딕" pitchFamily="50" charset="-127"/>
              </a:rPr>
              <a:t>의 다양한 옵션 </a:t>
            </a:r>
            <a:r>
              <a:rPr lang="en-US" altLang="ko-KR" sz="4400" dirty="0" smtClean="0">
                <a:latin typeface="나눔바른고딕" pitchFamily="50" charset="-127"/>
                <a:ea typeface="나눔바른고딕" pitchFamily="50" charset="-127"/>
              </a:rPr>
              <a:t>: offset, </a:t>
            </a:r>
            <a:r>
              <a:rPr lang="en-US" altLang="ko-KR" sz="4400" dirty="0" smtClean="0">
                <a:latin typeface="나눔바른고딕" pitchFamily="50" charset="-127"/>
                <a:ea typeface="나눔바른고딕" pitchFamily="50" charset="-127"/>
              </a:rPr>
              <a:t>ordering</a:t>
            </a:r>
            <a:endParaRPr lang="ko-KR" altLang="en-US" sz="4400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/>
          <a:srcRect b="42106"/>
          <a:stretch/>
        </p:blipFill>
        <p:spPr bwMode="auto">
          <a:xfrm>
            <a:off x="3261879" y="326274"/>
            <a:ext cx="5688157" cy="3539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/>
          <a:srcRect t="84131"/>
          <a:stretch/>
        </p:blipFill>
        <p:spPr bwMode="auto">
          <a:xfrm>
            <a:off x="3293962" y="4158778"/>
            <a:ext cx="5688157" cy="970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/>
          <a:srcRect t="64516" b="17742"/>
          <a:stretch/>
        </p:blipFill>
        <p:spPr bwMode="auto">
          <a:xfrm>
            <a:off x="3261875" y="5278136"/>
            <a:ext cx="5688157" cy="1084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2488" y="1490663"/>
            <a:ext cx="10487025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93572" y="613760"/>
            <a:ext cx="4646034" cy="5703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타원형 설명선 3"/>
          <p:cNvSpPr/>
          <p:nvPr/>
        </p:nvSpPr>
        <p:spPr>
          <a:xfrm rot="20600296" flipH="1">
            <a:off x="2700616" y="253267"/>
            <a:ext cx="1961323" cy="1329482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1323" h="1329482">
                <a:moveTo>
                  <a:pt x="237209" y="1329482"/>
                </a:moveTo>
                <a:cubicBezTo>
                  <a:pt x="212115" y="1243330"/>
                  <a:pt x="256123" y="1220223"/>
                  <a:pt x="231029" y="1134071"/>
                </a:cubicBezTo>
                <a:cubicBezTo>
                  <a:pt x="-166420" y="764404"/>
                  <a:pt x="32079" y="426111"/>
                  <a:pt x="211643" y="241516"/>
                </a:cubicBezTo>
                <a:cubicBezTo>
                  <a:pt x="391207" y="56921"/>
                  <a:pt x="939163" y="-53738"/>
                  <a:pt x="1308416" y="26501"/>
                </a:cubicBezTo>
                <a:cubicBezTo>
                  <a:pt x="1891054" y="153108"/>
                  <a:pt x="2116706" y="633238"/>
                  <a:pt x="1850316" y="1006268"/>
                </a:cubicBezTo>
                <a:cubicBezTo>
                  <a:pt x="1661473" y="1270707"/>
                  <a:pt x="1060894" y="1428008"/>
                  <a:pt x="428055" y="1216236"/>
                </a:cubicBezTo>
                <a:lnTo>
                  <a:pt x="237209" y="1329482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바른고딕" pitchFamily="50" charset="-127"/>
                <a:ea typeface="나눔바른고딕" pitchFamily="50" charset="-127"/>
              </a:rPr>
              <a:t>요소를 이동시키는</a:t>
            </a:r>
          </a:p>
          <a:p>
            <a:pPr algn="ctr"/>
            <a:r>
              <a:rPr lang="en-US" altLang="ko-KR" dirty="0" smtClean="0"/>
              <a:t>offset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73841" y="946568"/>
            <a:ext cx="8500195" cy="5259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050469" y="249382"/>
            <a:ext cx="84012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http://bootstrapk.com/css/#grid-offsetting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272915" y="870840"/>
            <a:ext cx="6003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Offset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의 활용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데스크탑 이상일 때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)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28" y="1652586"/>
            <a:ext cx="11217753" cy="35419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249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770323" y="775792"/>
            <a:ext cx="6825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Offset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의 활용 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타블렛 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/ 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스마트폰 일 때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)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001" y="1598385"/>
            <a:ext cx="5754165" cy="4506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990" y="1598385"/>
            <a:ext cx="3970810" cy="4506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597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9</a:t>
            </a:fld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766888" y="1620982"/>
            <a:ext cx="8658225" cy="3493943"/>
            <a:chOff x="1766888" y="1620982"/>
            <a:chExt cx="8658225" cy="3493943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766888" y="1743075"/>
              <a:ext cx="8658225" cy="3371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직사각형 5"/>
            <p:cNvSpPr/>
            <p:nvPr/>
          </p:nvSpPr>
          <p:spPr>
            <a:xfrm>
              <a:off x="5888182" y="1620982"/>
              <a:ext cx="540327" cy="33250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타원형 설명선 3"/>
          <p:cNvSpPr/>
          <p:nvPr/>
        </p:nvSpPr>
        <p:spPr>
          <a:xfrm rot="20600296" flipH="1">
            <a:off x="2155185" y="956240"/>
            <a:ext cx="1961323" cy="1329482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1323" h="1329482">
                <a:moveTo>
                  <a:pt x="237209" y="1329482"/>
                </a:moveTo>
                <a:cubicBezTo>
                  <a:pt x="212115" y="1243330"/>
                  <a:pt x="256123" y="1220223"/>
                  <a:pt x="231029" y="1134071"/>
                </a:cubicBezTo>
                <a:cubicBezTo>
                  <a:pt x="-166420" y="764404"/>
                  <a:pt x="32079" y="426111"/>
                  <a:pt x="211643" y="241516"/>
                </a:cubicBezTo>
                <a:cubicBezTo>
                  <a:pt x="391207" y="56921"/>
                  <a:pt x="939163" y="-53738"/>
                  <a:pt x="1308416" y="26501"/>
                </a:cubicBezTo>
                <a:cubicBezTo>
                  <a:pt x="1891054" y="153108"/>
                  <a:pt x="2116706" y="633238"/>
                  <a:pt x="1850316" y="1006268"/>
                </a:cubicBezTo>
                <a:cubicBezTo>
                  <a:pt x="1661473" y="1270707"/>
                  <a:pt x="1060894" y="1428008"/>
                  <a:pt x="428055" y="1216236"/>
                </a:cubicBezTo>
                <a:lnTo>
                  <a:pt x="237209" y="1329482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순서를 바꾸는</a:t>
            </a:r>
            <a:endParaRPr lang="en-US" altLang="ko-KR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dirty="0" smtClean="0">
                <a:latin typeface="나눔바른고딕" pitchFamily="50" charset="-127"/>
                <a:ea typeface="나눔바른고딕" pitchFamily="50" charset="-127"/>
              </a:rPr>
              <a:t>Push </a:t>
            </a:r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와 </a:t>
            </a:r>
            <a:r>
              <a:rPr lang="en-US" altLang="ko-KR" dirty="0" smtClean="0">
                <a:latin typeface="나눔바른고딕" pitchFamily="50" charset="-127"/>
                <a:ea typeface="나눔바른고딕" pitchFamily="50" charset="-127"/>
              </a:rPr>
              <a:t>pull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40540" y="965081"/>
            <a:ext cx="7499205" cy="542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233071" y="290947"/>
            <a:ext cx="9800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http://bootstrapk.com/css/#grid-column-ordering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439588" y="775792"/>
            <a:ext cx="67585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push, pull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의 활용 </a:t>
            </a:r>
            <a:r>
              <a:rPr lang="en-US" altLang="ko-KR" sz="3200" dirty="0"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ko-KR" altLang="en-US" sz="3200" dirty="0">
                <a:latin typeface="나눔바른고딕" pitchFamily="50" charset="-127"/>
                <a:ea typeface="나눔바른고딕" pitchFamily="50" charset="-127"/>
              </a:rPr>
              <a:t>데스크탑 이상일 때</a:t>
            </a:r>
            <a:r>
              <a:rPr lang="en-US" altLang="ko-KR" sz="3200" dirty="0">
                <a:latin typeface="나눔바른고딕" pitchFamily="50" charset="-127"/>
                <a:ea typeface="나눔바른고딕" pitchFamily="50" charset="-127"/>
              </a:rPr>
              <a:t>)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1" y="1719016"/>
            <a:ext cx="11338560" cy="3563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64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439588" y="775792"/>
            <a:ext cx="74867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push, pull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의 활용 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타블렛 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/ 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스마트폰 일 때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)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985" y="1501110"/>
            <a:ext cx="3970810" cy="4506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959" y="1501110"/>
            <a:ext cx="5349093" cy="45066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850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13</a:t>
            </a:fld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2" y="526732"/>
            <a:ext cx="7573328" cy="6166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타원형 설명선 3"/>
          <p:cNvSpPr/>
          <p:nvPr/>
        </p:nvSpPr>
        <p:spPr>
          <a:xfrm rot="20600296" flipH="1">
            <a:off x="2700616" y="253267"/>
            <a:ext cx="1961323" cy="1329482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1323" h="1329482">
                <a:moveTo>
                  <a:pt x="237209" y="1329482"/>
                </a:moveTo>
                <a:cubicBezTo>
                  <a:pt x="212115" y="1243330"/>
                  <a:pt x="256123" y="1220223"/>
                  <a:pt x="231029" y="1134071"/>
                </a:cubicBezTo>
                <a:cubicBezTo>
                  <a:pt x="-166420" y="764404"/>
                  <a:pt x="32079" y="426111"/>
                  <a:pt x="211643" y="241516"/>
                </a:cubicBezTo>
                <a:cubicBezTo>
                  <a:pt x="391207" y="56921"/>
                  <a:pt x="939163" y="-53738"/>
                  <a:pt x="1308416" y="26501"/>
                </a:cubicBezTo>
                <a:cubicBezTo>
                  <a:pt x="1891054" y="153108"/>
                  <a:pt x="2116706" y="633238"/>
                  <a:pt x="1850316" y="1006268"/>
                </a:cubicBezTo>
                <a:cubicBezTo>
                  <a:pt x="1661473" y="1270707"/>
                  <a:pt x="1060894" y="1428008"/>
                  <a:pt x="428055" y="1216236"/>
                </a:cubicBezTo>
                <a:lnTo>
                  <a:pt x="237209" y="1329482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나눔바른고딕" pitchFamily="50" charset="-127"/>
                <a:ea typeface="나눔바른고딕" pitchFamily="50" charset="-127"/>
              </a:rPr>
              <a:t>.row </a:t>
            </a:r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안에 또</a:t>
            </a:r>
            <a:endParaRPr lang="en-US" altLang="ko-KR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 </a:t>
            </a:r>
            <a:r>
              <a:rPr lang="en-US" altLang="ko-KR" dirty="0" smtClean="0">
                <a:latin typeface="나눔바른고딕" pitchFamily="50" charset="-127"/>
                <a:ea typeface="나눔바른고딕" pitchFamily="50" charset="-127"/>
              </a:rPr>
              <a:t>.row</a:t>
            </a:r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를 사용하는</a:t>
            </a:r>
            <a:endParaRPr lang="en-US" altLang="ko-KR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중첩구</a:t>
            </a:r>
            <a:r>
              <a:rPr lang="ko-KR" altLang="en-US" dirty="0">
                <a:latin typeface="나눔바른고딕" pitchFamily="50" charset="-127"/>
                <a:ea typeface="나눔바른고딕" pitchFamily="50" charset="-127"/>
              </a:rPr>
              <a:t>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9655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84" y="1160870"/>
            <a:ext cx="10514524" cy="51190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513328" y="436588"/>
            <a:ext cx="6879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nesting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의 활용 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큰 모니터 사이즈 일 때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)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274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513328" y="436588"/>
            <a:ext cx="72453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nesting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의 활용 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작은 </a:t>
            </a:r>
            <a:r>
              <a:rPr lang="ko-KR" altLang="en-US" sz="3200" dirty="0">
                <a:latin typeface="나눔바른고딕" pitchFamily="50" charset="-127"/>
                <a:ea typeface="나눔바른고딕" pitchFamily="50" charset="-127"/>
              </a:rPr>
              <a:t>모니터 사이즈 일 때</a:t>
            </a:r>
            <a:r>
              <a:rPr lang="en-US" altLang="ko-KR" sz="3200" dirty="0">
                <a:latin typeface="나눔바른고딕" pitchFamily="50" charset="-127"/>
                <a:ea typeface="나눔바른고딕" pitchFamily="50" charset="-127"/>
              </a:rPr>
              <a:t>)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761" y="1021363"/>
            <a:ext cx="7999771" cy="5066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503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513327" y="190724"/>
            <a:ext cx="70626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nesting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의 활용 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타블렛 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/ 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스마트폰 일 때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)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901" y="804996"/>
            <a:ext cx="4329417" cy="58689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772" y="804997"/>
            <a:ext cx="5153203" cy="58689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602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585259" y="718561"/>
            <a:ext cx="7311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중첩구문을 계속 사용가능 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큰 모니터 일 때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)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155" y="1526757"/>
            <a:ext cx="11161460" cy="4708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타원형 설명선 3"/>
          <p:cNvSpPr/>
          <p:nvPr/>
        </p:nvSpPr>
        <p:spPr>
          <a:xfrm rot="20600296" flipH="1">
            <a:off x="501958" y="169744"/>
            <a:ext cx="1961323" cy="1329482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1323" h="1329482">
                <a:moveTo>
                  <a:pt x="237209" y="1329482"/>
                </a:moveTo>
                <a:cubicBezTo>
                  <a:pt x="212115" y="1243330"/>
                  <a:pt x="256123" y="1220223"/>
                  <a:pt x="231029" y="1134071"/>
                </a:cubicBezTo>
                <a:cubicBezTo>
                  <a:pt x="-166420" y="764404"/>
                  <a:pt x="32079" y="426111"/>
                  <a:pt x="211643" y="241516"/>
                </a:cubicBezTo>
                <a:cubicBezTo>
                  <a:pt x="391207" y="56921"/>
                  <a:pt x="939163" y="-53738"/>
                  <a:pt x="1308416" y="26501"/>
                </a:cubicBezTo>
                <a:cubicBezTo>
                  <a:pt x="1891054" y="153108"/>
                  <a:pt x="2116706" y="633238"/>
                  <a:pt x="1850316" y="1006268"/>
                </a:cubicBezTo>
                <a:cubicBezTo>
                  <a:pt x="1661473" y="1270707"/>
                  <a:pt x="1060894" y="1428008"/>
                  <a:pt x="428055" y="1216236"/>
                </a:cubicBezTo>
                <a:lnTo>
                  <a:pt x="237209" y="1329482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나눔바른고딕" pitchFamily="50" charset="-127"/>
                <a:ea typeface="나눔바른고딕" pitchFamily="50" charset="-127"/>
              </a:rPr>
              <a:t>.row </a:t>
            </a:r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안에</a:t>
            </a:r>
            <a:endParaRPr lang="en-US" altLang="ko-KR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 </a:t>
            </a:r>
            <a:r>
              <a:rPr lang="en-US" altLang="ko-KR" dirty="0" smtClean="0">
                <a:latin typeface="나눔바른고딕" pitchFamily="50" charset="-127"/>
                <a:ea typeface="나눔바른고딕" pitchFamily="50" charset="-127"/>
              </a:rPr>
              <a:t>.row</a:t>
            </a:r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를 계속 </a:t>
            </a:r>
            <a:endParaRPr lang="en-US" altLang="ko-KR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사용할 수 있어요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0387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454335" y="470947"/>
            <a:ext cx="76771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중첩구문을 계속 사용가능 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작은 모니터 일 때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)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385" y="1291243"/>
            <a:ext cx="7918833" cy="50612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타원형 설명선 3"/>
          <p:cNvSpPr/>
          <p:nvPr/>
        </p:nvSpPr>
        <p:spPr>
          <a:xfrm rot="20600296" flipH="1">
            <a:off x="405706" y="121618"/>
            <a:ext cx="1961323" cy="1329482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1323" h="1329482">
                <a:moveTo>
                  <a:pt x="237209" y="1329482"/>
                </a:moveTo>
                <a:cubicBezTo>
                  <a:pt x="212115" y="1243330"/>
                  <a:pt x="256123" y="1220223"/>
                  <a:pt x="231029" y="1134071"/>
                </a:cubicBezTo>
                <a:cubicBezTo>
                  <a:pt x="-166420" y="764404"/>
                  <a:pt x="32079" y="426111"/>
                  <a:pt x="211643" y="241516"/>
                </a:cubicBezTo>
                <a:cubicBezTo>
                  <a:pt x="391207" y="56921"/>
                  <a:pt x="939163" y="-53738"/>
                  <a:pt x="1308416" y="26501"/>
                </a:cubicBezTo>
                <a:cubicBezTo>
                  <a:pt x="1891054" y="153108"/>
                  <a:pt x="2116706" y="633238"/>
                  <a:pt x="1850316" y="1006268"/>
                </a:cubicBezTo>
                <a:cubicBezTo>
                  <a:pt x="1661473" y="1270707"/>
                  <a:pt x="1060894" y="1428008"/>
                  <a:pt x="428055" y="1216236"/>
                </a:cubicBezTo>
                <a:lnTo>
                  <a:pt x="237209" y="1329482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나눔바른고딕" pitchFamily="50" charset="-127"/>
                <a:ea typeface="나눔바른고딕" pitchFamily="50" charset="-127"/>
              </a:rPr>
              <a:t>.row </a:t>
            </a:r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안에</a:t>
            </a:r>
            <a:endParaRPr lang="en-US" altLang="ko-KR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 </a:t>
            </a:r>
            <a:r>
              <a:rPr lang="en-US" altLang="ko-KR" dirty="0" smtClean="0">
                <a:latin typeface="나눔바른고딕" pitchFamily="50" charset="-127"/>
                <a:ea typeface="나눔바른고딕" pitchFamily="50" charset="-127"/>
              </a:rPr>
              <a:t>.row</a:t>
            </a:r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를 계속 </a:t>
            </a:r>
            <a:endParaRPr lang="en-US" altLang="ko-KR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사용할 수 있어요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700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42790" y="1753756"/>
            <a:ext cx="1198225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800" dirty="0"/>
              <a:t>데스크탑 사이즈에서 원하는 요소를 그리드 </a:t>
            </a:r>
            <a:r>
              <a:rPr lang="ko-KR" altLang="en-US" sz="2800" dirty="0" err="1"/>
              <a:t>영역안에서</a:t>
            </a:r>
            <a:r>
              <a:rPr lang="ko-KR" altLang="en-US" sz="2800" dirty="0"/>
              <a:t> 두 칸 </a:t>
            </a:r>
            <a:r>
              <a:rPr lang="ko-KR" altLang="en-US" sz="2800" dirty="0" err="1" smtClean="0"/>
              <a:t>이동시</a:t>
            </a:r>
            <a:endParaRPr lang="en-US" altLang="ko-KR" sz="2800" dirty="0" smtClean="0"/>
          </a:p>
          <a:p>
            <a:r>
              <a:rPr lang="ko-KR" altLang="en-US" sz="2800" dirty="0" smtClean="0"/>
              <a:t>키려면 </a:t>
            </a:r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>
                <a:solidFill>
                  <a:srgbClr val="FF0000"/>
                </a:solidFill>
              </a:rPr>
              <a:t>col-md-offset-2</a:t>
            </a:r>
            <a:r>
              <a:rPr lang="en-US" altLang="ko-KR" sz="2800" dirty="0"/>
              <a:t> </a:t>
            </a:r>
            <a:r>
              <a:rPr lang="ko-KR" altLang="en-US" sz="2800" dirty="0"/>
              <a:t>를 사용한다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pPr marL="514350" indent="-514350">
              <a:buAutoNum type="arabicPeriod" startAt="2"/>
            </a:pPr>
            <a:r>
              <a:rPr lang="ko-KR" altLang="en-US" sz="2800" dirty="0" smtClean="0"/>
              <a:t>그리드 </a:t>
            </a:r>
            <a:r>
              <a:rPr lang="ko-KR" altLang="en-US" sz="2800" dirty="0"/>
              <a:t>영역 안에서 순서를 바꿀 때 사용하는 클래스명으로 </a:t>
            </a:r>
            <a:r>
              <a:rPr lang="ko-KR" altLang="en-US" sz="2800" dirty="0" smtClean="0"/>
              <a:t>오른쪽</a:t>
            </a:r>
            <a:endParaRPr lang="en-US" altLang="ko-KR" sz="2800" dirty="0" smtClean="0"/>
          </a:p>
          <a:p>
            <a:r>
              <a:rPr lang="ko-KR" altLang="en-US" sz="2800" dirty="0" err="1" smtClean="0"/>
              <a:t>으로</a:t>
            </a:r>
            <a:r>
              <a:rPr lang="ko-KR" altLang="en-US" sz="2800" dirty="0" smtClean="0"/>
              <a:t> </a:t>
            </a:r>
            <a:r>
              <a:rPr lang="ko-KR" altLang="en-US" sz="2800" dirty="0" err="1" smtClean="0"/>
              <a:t>밀어줄때는</a:t>
            </a:r>
            <a:r>
              <a:rPr lang="ko-KR" altLang="en-US" sz="2800" dirty="0" smtClean="0"/>
              <a:t> </a:t>
            </a:r>
            <a:r>
              <a:rPr lang="en-US" altLang="ko-KR" sz="2800" dirty="0">
                <a:solidFill>
                  <a:srgbClr val="FF0000"/>
                </a:solidFill>
              </a:rPr>
              <a:t>.col-*-push-*</a:t>
            </a:r>
            <a:r>
              <a:rPr lang="en-US" altLang="ko-KR" sz="2800" dirty="0"/>
              <a:t> , </a:t>
            </a:r>
            <a:r>
              <a:rPr lang="ko-KR" altLang="en-US" sz="2800" dirty="0"/>
              <a:t>왼쪽으로 잡아당길 때에는 </a:t>
            </a:r>
            <a:endParaRPr lang="en-US" altLang="ko-KR" sz="2800" dirty="0" smtClean="0"/>
          </a:p>
          <a:p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>
                <a:solidFill>
                  <a:srgbClr val="FF0000"/>
                </a:solidFill>
              </a:rPr>
              <a:t>col-*-pull-*</a:t>
            </a:r>
            <a:r>
              <a:rPr lang="en-US" altLang="ko-KR" sz="2800" dirty="0"/>
              <a:t> </a:t>
            </a:r>
            <a:r>
              <a:rPr lang="ko-KR" altLang="en-US" sz="2800" dirty="0"/>
              <a:t>를 사용한다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pPr marL="514350" indent="-514350">
              <a:buAutoNum type="arabicPeriod" startAt="3"/>
            </a:pPr>
            <a:r>
              <a:rPr lang="en-US" altLang="ko-KR" sz="2800" dirty="0" smtClean="0"/>
              <a:t>.row </a:t>
            </a:r>
            <a:r>
              <a:rPr lang="ko-KR" altLang="en-US" sz="2800" dirty="0"/>
              <a:t>안에 또  </a:t>
            </a:r>
            <a:r>
              <a:rPr lang="en-US" altLang="ko-KR" sz="2800" dirty="0"/>
              <a:t>.row</a:t>
            </a:r>
            <a:r>
              <a:rPr lang="ko-KR" altLang="en-US" sz="2800" dirty="0"/>
              <a:t>를 사용하여 해당요소 안에서 계속 </a:t>
            </a:r>
            <a:r>
              <a:rPr lang="en-US" altLang="ko-KR" sz="2800" dirty="0"/>
              <a:t>12</a:t>
            </a:r>
            <a:r>
              <a:rPr lang="ko-KR" altLang="en-US" sz="2800" dirty="0"/>
              <a:t>개의 </a:t>
            </a:r>
            <a:r>
              <a:rPr lang="ko-KR" altLang="en-US" sz="2800" dirty="0" smtClean="0"/>
              <a:t>그리드를</a:t>
            </a:r>
            <a:endParaRPr lang="en-US" altLang="ko-KR" sz="2800" dirty="0" smtClean="0"/>
          </a:p>
          <a:p>
            <a:r>
              <a:rPr lang="ko-KR" altLang="en-US" sz="2800" dirty="0" smtClean="0"/>
              <a:t>나눌 </a:t>
            </a:r>
            <a:r>
              <a:rPr lang="ko-KR" altLang="en-US" sz="2800" dirty="0"/>
              <a:t>수 </a:t>
            </a:r>
            <a:r>
              <a:rPr lang="ko-KR" altLang="en-US" sz="2800" dirty="0" smtClean="0"/>
              <a:t>있는데 </a:t>
            </a:r>
            <a:r>
              <a:rPr lang="ko-KR" altLang="en-US" sz="2800" dirty="0"/>
              <a:t>이러한 구문을 </a:t>
            </a:r>
            <a:r>
              <a:rPr lang="ko-KR" altLang="en-US" sz="2800" dirty="0">
                <a:solidFill>
                  <a:srgbClr val="FF0000"/>
                </a:solidFill>
              </a:rPr>
              <a:t>중첩구문</a:t>
            </a:r>
            <a:r>
              <a:rPr lang="ko-KR" altLang="en-US" sz="2800" dirty="0"/>
              <a:t>이라 부른다</a:t>
            </a:r>
            <a:r>
              <a:rPr lang="en-US" altLang="ko-KR" sz="2800" dirty="0"/>
              <a:t>.</a:t>
            </a:r>
          </a:p>
          <a:p>
            <a:r>
              <a:rPr lang="en-US" altLang="ko-KR" sz="2800" dirty="0" smtClean="0"/>
              <a:t> </a:t>
            </a:r>
            <a:endParaRPr lang="ko-KR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352395" y="735969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436840" y="2262820"/>
            <a:ext cx="2605771" cy="350075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944798" y="3540115"/>
            <a:ext cx="2140549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223001" y="3955762"/>
            <a:ext cx="1990810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5085348" y="5256620"/>
            <a:ext cx="1443790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3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42790" y="1753756"/>
            <a:ext cx="1198225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800" dirty="0"/>
              <a:t>데스크탑 사이즈에서 원하는 요소를 그리드 </a:t>
            </a:r>
            <a:r>
              <a:rPr lang="ko-KR" altLang="en-US" sz="2800" dirty="0" err="1"/>
              <a:t>영역안에서</a:t>
            </a:r>
            <a:r>
              <a:rPr lang="ko-KR" altLang="en-US" sz="2800" dirty="0"/>
              <a:t> 두 칸 </a:t>
            </a:r>
            <a:r>
              <a:rPr lang="ko-KR" altLang="en-US" sz="2800" dirty="0" err="1" smtClean="0"/>
              <a:t>이동시</a:t>
            </a:r>
            <a:endParaRPr lang="en-US" altLang="ko-KR" sz="2800" dirty="0" smtClean="0"/>
          </a:p>
          <a:p>
            <a:r>
              <a:rPr lang="ko-KR" altLang="en-US" sz="2800" dirty="0" smtClean="0"/>
              <a:t>키려면 </a:t>
            </a:r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>
                <a:solidFill>
                  <a:srgbClr val="FF0000"/>
                </a:solidFill>
              </a:rPr>
              <a:t>col-md-offset-2</a:t>
            </a:r>
            <a:r>
              <a:rPr lang="en-US" altLang="ko-KR" sz="2800" dirty="0"/>
              <a:t> </a:t>
            </a:r>
            <a:r>
              <a:rPr lang="ko-KR" altLang="en-US" sz="2800" dirty="0"/>
              <a:t>를 사용한다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pPr marL="514350" indent="-514350">
              <a:buAutoNum type="arabicPeriod" startAt="2"/>
            </a:pPr>
            <a:r>
              <a:rPr lang="ko-KR" altLang="en-US" sz="2800" dirty="0" smtClean="0"/>
              <a:t>그리드 </a:t>
            </a:r>
            <a:r>
              <a:rPr lang="ko-KR" altLang="en-US" sz="2800" dirty="0"/>
              <a:t>영역 안에서 순서를 바꿀 때 사용하는 클래스명으로 </a:t>
            </a:r>
            <a:r>
              <a:rPr lang="ko-KR" altLang="en-US" sz="2800" dirty="0" smtClean="0"/>
              <a:t>오른쪽</a:t>
            </a:r>
            <a:endParaRPr lang="en-US" altLang="ko-KR" sz="2800" dirty="0" smtClean="0"/>
          </a:p>
          <a:p>
            <a:r>
              <a:rPr lang="ko-KR" altLang="en-US" sz="2800" dirty="0" err="1" smtClean="0"/>
              <a:t>으로</a:t>
            </a:r>
            <a:r>
              <a:rPr lang="ko-KR" altLang="en-US" sz="2800" dirty="0" smtClean="0"/>
              <a:t> </a:t>
            </a:r>
            <a:r>
              <a:rPr lang="ko-KR" altLang="en-US" sz="2800" dirty="0" err="1" smtClean="0"/>
              <a:t>밀어줄때는</a:t>
            </a:r>
            <a:r>
              <a:rPr lang="ko-KR" altLang="en-US" sz="2800" dirty="0" smtClean="0"/>
              <a:t> </a:t>
            </a:r>
            <a:r>
              <a:rPr lang="en-US" altLang="ko-KR" sz="2800" dirty="0">
                <a:solidFill>
                  <a:srgbClr val="FF0000"/>
                </a:solidFill>
              </a:rPr>
              <a:t>.col-*-push-*</a:t>
            </a:r>
            <a:r>
              <a:rPr lang="en-US" altLang="ko-KR" sz="2800" dirty="0"/>
              <a:t> , </a:t>
            </a:r>
            <a:r>
              <a:rPr lang="ko-KR" altLang="en-US" sz="2800" dirty="0"/>
              <a:t>왼쪽으로 잡아당길 때에는 </a:t>
            </a:r>
            <a:endParaRPr lang="en-US" altLang="ko-KR" sz="2800" dirty="0" smtClean="0"/>
          </a:p>
          <a:p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>
                <a:solidFill>
                  <a:srgbClr val="FF0000"/>
                </a:solidFill>
              </a:rPr>
              <a:t>col-*-pull-*</a:t>
            </a:r>
            <a:r>
              <a:rPr lang="en-US" altLang="ko-KR" sz="2800" dirty="0"/>
              <a:t> </a:t>
            </a:r>
            <a:r>
              <a:rPr lang="ko-KR" altLang="en-US" sz="2800" dirty="0"/>
              <a:t>를 사용한다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pPr marL="514350" indent="-514350">
              <a:buAutoNum type="arabicPeriod" startAt="3"/>
            </a:pPr>
            <a:r>
              <a:rPr lang="en-US" altLang="ko-KR" sz="2800" dirty="0" smtClean="0"/>
              <a:t>.row </a:t>
            </a:r>
            <a:r>
              <a:rPr lang="ko-KR" altLang="en-US" sz="2800" dirty="0"/>
              <a:t>안에 또  </a:t>
            </a:r>
            <a:r>
              <a:rPr lang="en-US" altLang="ko-KR" sz="2800" dirty="0"/>
              <a:t>.row</a:t>
            </a:r>
            <a:r>
              <a:rPr lang="ko-KR" altLang="en-US" sz="2800" dirty="0"/>
              <a:t>를 사용하여 해당요소 안에서 계속 </a:t>
            </a:r>
            <a:r>
              <a:rPr lang="en-US" altLang="ko-KR" sz="2800" dirty="0"/>
              <a:t>12</a:t>
            </a:r>
            <a:r>
              <a:rPr lang="ko-KR" altLang="en-US" sz="2800" dirty="0"/>
              <a:t>개의 </a:t>
            </a:r>
            <a:r>
              <a:rPr lang="ko-KR" altLang="en-US" sz="2800" dirty="0" smtClean="0"/>
              <a:t>그리드를</a:t>
            </a:r>
            <a:endParaRPr lang="en-US" altLang="ko-KR" sz="2800" dirty="0" smtClean="0"/>
          </a:p>
          <a:p>
            <a:r>
              <a:rPr lang="ko-KR" altLang="en-US" sz="2800" dirty="0" smtClean="0"/>
              <a:t>나눌 </a:t>
            </a:r>
            <a:r>
              <a:rPr lang="ko-KR" altLang="en-US" sz="2800" dirty="0"/>
              <a:t>수 </a:t>
            </a:r>
            <a:r>
              <a:rPr lang="ko-KR" altLang="en-US" sz="2800" dirty="0" smtClean="0"/>
              <a:t>있는데 </a:t>
            </a:r>
            <a:r>
              <a:rPr lang="ko-KR" altLang="en-US" sz="2800" dirty="0"/>
              <a:t>이러한 구문을 </a:t>
            </a:r>
            <a:r>
              <a:rPr lang="ko-KR" altLang="en-US" sz="2800" dirty="0">
                <a:solidFill>
                  <a:srgbClr val="FF0000"/>
                </a:solidFill>
              </a:rPr>
              <a:t>중첩구문</a:t>
            </a:r>
            <a:r>
              <a:rPr lang="ko-KR" altLang="en-US" sz="2800" dirty="0"/>
              <a:t>이라 부른다</a:t>
            </a:r>
            <a:r>
              <a:rPr lang="en-US" altLang="ko-KR" sz="2800" dirty="0"/>
              <a:t>.</a:t>
            </a:r>
          </a:p>
          <a:p>
            <a:r>
              <a:rPr lang="en-US" altLang="ko-KR" sz="2800" dirty="0" smtClean="0"/>
              <a:t> </a:t>
            </a:r>
            <a:endParaRPr lang="ko-KR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352395" y="735969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406360" y="2262820"/>
            <a:ext cx="2605771" cy="35007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944798" y="3540115"/>
            <a:ext cx="2140549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223001" y="3955762"/>
            <a:ext cx="1990810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5085348" y="5256620"/>
            <a:ext cx="1443790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25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42790" y="1753756"/>
            <a:ext cx="1198225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800" dirty="0"/>
              <a:t>데스크탑 사이즈에서 원하는 요소를 그리드 </a:t>
            </a:r>
            <a:r>
              <a:rPr lang="ko-KR" altLang="en-US" sz="2800" dirty="0" err="1"/>
              <a:t>영역안에서</a:t>
            </a:r>
            <a:r>
              <a:rPr lang="ko-KR" altLang="en-US" sz="2800" dirty="0"/>
              <a:t> 두 칸 </a:t>
            </a:r>
            <a:r>
              <a:rPr lang="ko-KR" altLang="en-US" sz="2800" dirty="0" err="1" smtClean="0"/>
              <a:t>이동시</a:t>
            </a:r>
            <a:endParaRPr lang="en-US" altLang="ko-KR" sz="2800" dirty="0" smtClean="0"/>
          </a:p>
          <a:p>
            <a:r>
              <a:rPr lang="ko-KR" altLang="en-US" sz="2800" dirty="0" smtClean="0"/>
              <a:t>키려면 </a:t>
            </a:r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>
                <a:solidFill>
                  <a:srgbClr val="FF0000"/>
                </a:solidFill>
              </a:rPr>
              <a:t>col-md-offset-2</a:t>
            </a:r>
            <a:r>
              <a:rPr lang="en-US" altLang="ko-KR" sz="2800" dirty="0"/>
              <a:t> </a:t>
            </a:r>
            <a:r>
              <a:rPr lang="ko-KR" altLang="en-US" sz="2800" dirty="0"/>
              <a:t>를 사용한다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pPr marL="514350" indent="-514350">
              <a:buAutoNum type="arabicPeriod" startAt="2"/>
            </a:pPr>
            <a:r>
              <a:rPr lang="ko-KR" altLang="en-US" sz="2800" dirty="0" smtClean="0"/>
              <a:t>그리드 </a:t>
            </a:r>
            <a:r>
              <a:rPr lang="ko-KR" altLang="en-US" sz="2800" dirty="0"/>
              <a:t>영역 안에서 순서를 바꿀 때 사용하는 클래스명으로 </a:t>
            </a:r>
            <a:r>
              <a:rPr lang="ko-KR" altLang="en-US" sz="2800" dirty="0" smtClean="0"/>
              <a:t>오른쪽</a:t>
            </a:r>
            <a:endParaRPr lang="en-US" altLang="ko-KR" sz="2800" dirty="0" smtClean="0"/>
          </a:p>
          <a:p>
            <a:r>
              <a:rPr lang="ko-KR" altLang="en-US" sz="2800" dirty="0" err="1" smtClean="0"/>
              <a:t>으로</a:t>
            </a:r>
            <a:r>
              <a:rPr lang="ko-KR" altLang="en-US" sz="2800" dirty="0" smtClean="0"/>
              <a:t> </a:t>
            </a:r>
            <a:r>
              <a:rPr lang="ko-KR" altLang="en-US" sz="2800" dirty="0" err="1" smtClean="0"/>
              <a:t>밀어줄때는</a:t>
            </a:r>
            <a:r>
              <a:rPr lang="ko-KR" altLang="en-US" sz="2800" dirty="0" smtClean="0"/>
              <a:t> </a:t>
            </a:r>
            <a:r>
              <a:rPr lang="en-US" altLang="ko-KR" sz="2800" dirty="0">
                <a:solidFill>
                  <a:srgbClr val="FF0000"/>
                </a:solidFill>
              </a:rPr>
              <a:t>.col-*-push-*</a:t>
            </a:r>
            <a:r>
              <a:rPr lang="en-US" altLang="ko-KR" sz="2800" dirty="0"/>
              <a:t> , </a:t>
            </a:r>
            <a:r>
              <a:rPr lang="ko-KR" altLang="en-US" sz="2800" dirty="0"/>
              <a:t>왼쪽으로 잡아당길 때에는 </a:t>
            </a:r>
            <a:endParaRPr lang="en-US" altLang="ko-KR" sz="2800" dirty="0" smtClean="0"/>
          </a:p>
          <a:p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>
                <a:solidFill>
                  <a:srgbClr val="FF0000"/>
                </a:solidFill>
              </a:rPr>
              <a:t>col-*-pull-*</a:t>
            </a:r>
            <a:r>
              <a:rPr lang="en-US" altLang="ko-KR" sz="2800" dirty="0"/>
              <a:t> </a:t>
            </a:r>
            <a:r>
              <a:rPr lang="ko-KR" altLang="en-US" sz="2800" dirty="0"/>
              <a:t>를 사용한다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pPr marL="514350" indent="-514350">
              <a:buAutoNum type="arabicPeriod" startAt="3"/>
            </a:pPr>
            <a:r>
              <a:rPr lang="en-US" altLang="ko-KR" sz="2800" dirty="0" smtClean="0"/>
              <a:t>.row </a:t>
            </a:r>
            <a:r>
              <a:rPr lang="ko-KR" altLang="en-US" sz="2800" dirty="0"/>
              <a:t>안에 또  </a:t>
            </a:r>
            <a:r>
              <a:rPr lang="en-US" altLang="ko-KR" sz="2800" dirty="0"/>
              <a:t>.row</a:t>
            </a:r>
            <a:r>
              <a:rPr lang="ko-KR" altLang="en-US" sz="2800" dirty="0"/>
              <a:t>를 사용하여 해당요소 안에서 계속 </a:t>
            </a:r>
            <a:r>
              <a:rPr lang="en-US" altLang="ko-KR" sz="2800" dirty="0"/>
              <a:t>12</a:t>
            </a:r>
            <a:r>
              <a:rPr lang="ko-KR" altLang="en-US" sz="2800" dirty="0"/>
              <a:t>개의 </a:t>
            </a:r>
            <a:r>
              <a:rPr lang="ko-KR" altLang="en-US" sz="2800" dirty="0" smtClean="0"/>
              <a:t>그리드를</a:t>
            </a:r>
            <a:endParaRPr lang="en-US" altLang="ko-KR" sz="2800" dirty="0" smtClean="0"/>
          </a:p>
          <a:p>
            <a:r>
              <a:rPr lang="ko-KR" altLang="en-US" sz="2800" dirty="0" smtClean="0"/>
              <a:t>나눌 </a:t>
            </a:r>
            <a:r>
              <a:rPr lang="ko-KR" altLang="en-US" sz="2800" dirty="0"/>
              <a:t>수 </a:t>
            </a:r>
            <a:r>
              <a:rPr lang="ko-KR" altLang="en-US" sz="2800" dirty="0" smtClean="0"/>
              <a:t>있는데 </a:t>
            </a:r>
            <a:r>
              <a:rPr lang="ko-KR" altLang="en-US" sz="2800" dirty="0"/>
              <a:t>이러한 구문을 </a:t>
            </a:r>
            <a:r>
              <a:rPr lang="ko-KR" altLang="en-US" sz="2800" dirty="0">
                <a:solidFill>
                  <a:srgbClr val="FF0000"/>
                </a:solidFill>
              </a:rPr>
              <a:t>중첩구문</a:t>
            </a:r>
            <a:r>
              <a:rPr lang="ko-KR" altLang="en-US" sz="2800" dirty="0"/>
              <a:t>이라 부른다</a:t>
            </a:r>
            <a:r>
              <a:rPr lang="en-US" altLang="ko-KR" sz="2800" dirty="0"/>
              <a:t>.</a:t>
            </a:r>
          </a:p>
          <a:p>
            <a:r>
              <a:rPr lang="en-US" altLang="ko-KR" sz="2800" dirty="0" smtClean="0"/>
              <a:t> </a:t>
            </a:r>
            <a:endParaRPr lang="ko-KR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352395" y="735969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406360" y="2262820"/>
            <a:ext cx="2605771" cy="35007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944798" y="3540115"/>
            <a:ext cx="2140549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223001" y="3955762"/>
            <a:ext cx="1990810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5085348" y="5256620"/>
            <a:ext cx="1443790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4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42790" y="1753756"/>
            <a:ext cx="1198225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800" dirty="0"/>
              <a:t>데스크탑 사이즈에서 원하는 요소를 그리드 </a:t>
            </a:r>
            <a:r>
              <a:rPr lang="ko-KR" altLang="en-US" sz="2800" dirty="0" err="1"/>
              <a:t>영역안에서</a:t>
            </a:r>
            <a:r>
              <a:rPr lang="ko-KR" altLang="en-US" sz="2800" dirty="0"/>
              <a:t> 두 칸 </a:t>
            </a:r>
            <a:r>
              <a:rPr lang="ko-KR" altLang="en-US" sz="2800" dirty="0" err="1" smtClean="0"/>
              <a:t>이동시</a:t>
            </a:r>
            <a:endParaRPr lang="en-US" altLang="ko-KR" sz="2800" dirty="0" smtClean="0"/>
          </a:p>
          <a:p>
            <a:r>
              <a:rPr lang="ko-KR" altLang="en-US" sz="2800" dirty="0" smtClean="0"/>
              <a:t>키려면 </a:t>
            </a:r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>
                <a:solidFill>
                  <a:srgbClr val="FF0000"/>
                </a:solidFill>
              </a:rPr>
              <a:t>col-md-offset-2</a:t>
            </a:r>
            <a:r>
              <a:rPr lang="en-US" altLang="ko-KR" sz="2800" dirty="0"/>
              <a:t> </a:t>
            </a:r>
            <a:r>
              <a:rPr lang="ko-KR" altLang="en-US" sz="2800" dirty="0"/>
              <a:t>를 사용한다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pPr marL="514350" indent="-514350">
              <a:buAutoNum type="arabicPeriod" startAt="2"/>
            </a:pPr>
            <a:r>
              <a:rPr lang="ko-KR" altLang="en-US" sz="2800" dirty="0" smtClean="0"/>
              <a:t>그리드 </a:t>
            </a:r>
            <a:r>
              <a:rPr lang="ko-KR" altLang="en-US" sz="2800" dirty="0"/>
              <a:t>영역 안에서 순서를 바꿀 때 사용하는 클래스명으로 </a:t>
            </a:r>
            <a:r>
              <a:rPr lang="ko-KR" altLang="en-US" sz="2800" dirty="0" smtClean="0"/>
              <a:t>오른쪽</a:t>
            </a:r>
            <a:endParaRPr lang="en-US" altLang="ko-KR" sz="2800" dirty="0" smtClean="0"/>
          </a:p>
          <a:p>
            <a:r>
              <a:rPr lang="ko-KR" altLang="en-US" sz="2800" dirty="0" err="1" smtClean="0"/>
              <a:t>으로</a:t>
            </a:r>
            <a:r>
              <a:rPr lang="ko-KR" altLang="en-US" sz="2800" dirty="0" smtClean="0"/>
              <a:t> </a:t>
            </a:r>
            <a:r>
              <a:rPr lang="ko-KR" altLang="en-US" sz="2800" dirty="0" err="1" smtClean="0"/>
              <a:t>밀어줄때는</a:t>
            </a:r>
            <a:r>
              <a:rPr lang="ko-KR" altLang="en-US" sz="2800" dirty="0" smtClean="0"/>
              <a:t> </a:t>
            </a:r>
            <a:r>
              <a:rPr lang="en-US" altLang="ko-KR" sz="2800" dirty="0">
                <a:solidFill>
                  <a:srgbClr val="FF0000"/>
                </a:solidFill>
              </a:rPr>
              <a:t>.col-*-push-*</a:t>
            </a:r>
            <a:r>
              <a:rPr lang="en-US" altLang="ko-KR" sz="2800" dirty="0"/>
              <a:t> , </a:t>
            </a:r>
            <a:r>
              <a:rPr lang="ko-KR" altLang="en-US" sz="2800" dirty="0"/>
              <a:t>왼쪽으로 잡아당길 때에는 </a:t>
            </a:r>
            <a:endParaRPr lang="en-US" altLang="ko-KR" sz="2800" dirty="0" smtClean="0"/>
          </a:p>
          <a:p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>
                <a:solidFill>
                  <a:srgbClr val="FF0000"/>
                </a:solidFill>
              </a:rPr>
              <a:t>col-*-pull-*</a:t>
            </a:r>
            <a:r>
              <a:rPr lang="en-US" altLang="ko-KR" sz="2800" dirty="0"/>
              <a:t> </a:t>
            </a:r>
            <a:r>
              <a:rPr lang="ko-KR" altLang="en-US" sz="2800" dirty="0"/>
              <a:t>를 사용한다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pPr marL="514350" indent="-514350">
              <a:buAutoNum type="arabicPeriod" startAt="3"/>
            </a:pPr>
            <a:r>
              <a:rPr lang="en-US" altLang="ko-KR" sz="2800" dirty="0" smtClean="0"/>
              <a:t>.row </a:t>
            </a:r>
            <a:r>
              <a:rPr lang="ko-KR" altLang="en-US" sz="2800" dirty="0"/>
              <a:t>안에 또  </a:t>
            </a:r>
            <a:r>
              <a:rPr lang="en-US" altLang="ko-KR" sz="2800" dirty="0"/>
              <a:t>.row</a:t>
            </a:r>
            <a:r>
              <a:rPr lang="ko-KR" altLang="en-US" sz="2800" dirty="0"/>
              <a:t>를 사용하여 해당요소 안에서 계속 </a:t>
            </a:r>
            <a:r>
              <a:rPr lang="en-US" altLang="ko-KR" sz="2800" dirty="0"/>
              <a:t>12</a:t>
            </a:r>
            <a:r>
              <a:rPr lang="ko-KR" altLang="en-US" sz="2800" dirty="0"/>
              <a:t>개의 </a:t>
            </a:r>
            <a:r>
              <a:rPr lang="ko-KR" altLang="en-US" sz="2800" dirty="0" smtClean="0"/>
              <a:t>그리드를</a:t>
            </a:r>
            <a:endParaRPr lang="en-US" altLang="ko-KR" sz="2800" dirty="0" smtClean="0"/>
          </a:p>
          <a:p>
            <a:r>
              <a:rPr lang="ko-KR" altLang="en-US" sz="2800" dirty="0" smtClean="0"/>
              <a:t>나눌 </a:t>
            </a:r>
            <a:r>
              <a:rPr lang="ko-KR" altLang="en-US" sz="2800" dirty="0"/>
              <a:t>수 </a:t>
            </a:r>
            <a:r>
              <a:rPr lang="ko-KR" altLang="en-US" sz="2800" dirty="0" smtClean="0"/>
              <a:t>있는데 </a:t>
            </a:r>
            <a:r>
              <a:rPr lang="ko-KR" altLang="en-US" sz="2800" dirty="0"/>
              <a:t>이러한 구문을 </a:t>
            </a:r>
            <a:r>
              <a:rPr lang="ko-KR" altLang="en-US" sz="2800" dirty="0">
                <a:solidFill>
                  <a:srgbClr val="FF0000"/>
                </a:solidFill>
              </a:rPr>
              <a:t>중첩구문</a:t>
            </a:r>
            <a:r>
              <a:rPr lang="ko-KR" altLang="en-US" sz="2800" dirty="0"/>
              <a:t>이라 부른다</a:t>
            </a:r>
            <a:r>
              <a:rPr lang="en-US" altLang="ko-KR" sz="2800" dirty="0"/>
              <a:t>.</a:t>
            </a:r>
          </a:p>
          <a:p>
            <a:r>
              <a:rPr lang="en-US" altLang="ko-KR" sz="2800" dirty="0" smtClean="0"/>
              <a:t> </a:t>
            </a:r>
            <a:endParaRPr lang="ko-KR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352395" y="735969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391120" y="2262820"/>
            <a:ext cx="2605771" cy="35007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944798" y="3540115"/>
            <a:ext cx="2140549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223001" y="3955762"/>
            <a:ext cx="1990810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5085348" y="5256620"/>
            <a:ext cx="1443790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7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JAVASCRIPT</a:t>
            </a:r>
            <a:endParaRPr lang="ko-KR" altLang="en-US"/>
          </a:p>
        </p:txBody>
      </p:sp>
      <p:pic>
        <p:nvPicPr>
          <p:cNvPr id="3075" name="Picture 3" descr="D:\camtasia\end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757" y="1702699"/>
            <a:ext cx="3171825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49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1553</TotalTime>
  <Words>507</Words>
  <Application>Microsoft Office PowerPoint</Application>
  <PresentationFormat>와이드스크린</PresentationFormat>
  <Paragraphs>118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나눔바른고딕</vt:lpstr>
      <vt:lpstr>맑은 고딕</vt:lpstr>
      <vt:lpstr>Arial</vt:lpstr>
      <vt:lpstr>Wingdings</vt:lpstr>
      <vt:lpstr>Office 테마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JAVASCRIPT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Hello! Bootstrap</dc:title>
  <dc:creator>Media4th</dc:creator>
  <cp:lastModifiedBy>GREEN</cp:lastModifiedBy>
  <cp:revision>127</cp:revision>
  <dcterms:created xsi:type="dcterms:W3CDTF">2014-03-13T01:44:49Z</dcterms:created>
  <dcterms:modified xsi:type="dcterms:W3CDTF">2022-03-15T07:59:21Z</dcterms:modified>
</cp:coreProperties>
</file>