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288" r:id="rId3"/>
    <p:sldId id="378" r:id="rId4"/>
    <p:sldId id="401" r:id="rId5"/>
    <p:sldId id="384" r:id="rId6"/>
    <p:sldId id="402" r:id="rId7"/>
    <p:sldId id="375" r:id="rId8"/>
    <p:sldId id="403" r:id="rId9"/>
    <p:sldId id="404" r:id="rId10"/>
    <p:sldId id="405" r:id="rId11"/>
    <p:sldId id="406" r:id="rId12"/>
    <p:sldId id="407" r:id="rId13"/>
    <p:sldId id="29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66"/>
    <a:srgbClr val="0000FF"/>
    <a:srgbClr val="CC3399"/>
    <a:srgbClr val="FF9900"/>
    <a:srgbClr val="C0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60"/>
  </p:normalViewPr>
  <p:slideViewPr>
    <p:cSldViewPr snapToGrid="0">
      <p:cViewPr varScale="1">
        <p:scale>
          <a:sx n="76" d="100"/>
          <a:sy n="76" d="100"/>
        </p:scale>
        <p:origin x="-90" y="-5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21E93-87BE-444D-9E3B-7A43E638A883}" type="datetimeFigureOut">
              <a:rPr lang="ko-KR" altLang="en-US" smtClean="0"/>
              <a:pPr/>
              <a:t>2020-04-17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7AE7-43DC-4FA6-90CC-7E01D7BED6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4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3E7D-C6EA-460E-9C03-0FEF5569814C}" type="datetime1">
              <a:rPr lang="ko-KR" altLang="en-US" smtClean="0"/>
              <a:pPr/>
              <a:t>2020-04-17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F08F-FA07-4967-ACE1-67A6EE72D9D1}" type="datetime1">
              <a:rPr lang="ko-KR" altLang="en-US" smtClean="0"/>
              <a:pPr/>
              <a:t>2020-04-17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FE15-A5D5-400D-B921-C7A942F817AD}" type="datetime1">
              <a:rPr lang="ko-KR" altLang="en-US" smtClean="0"/>
              <a:pPr/>
              <a:t>2020-04-17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489-3674-4527-BDFF-4123E00D45F2}" type="datetime1">
              <a:rPr lang="ko-KR" altLang="en-US" smtClean="0"/>
              <a:pPr/>
              <a:t>2020-04-17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D00E-D773-49E7-AC7F-F8555A1FE3EA}" type="datetime1">
              <a:rPr lang="ko-KR" altLang="en-US" smtClean="0"/>
              <a:pPr/>
              <a:t>2020-04-17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42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672553" y="637990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김세지 강사</a:t>
            </a:r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4081" y="2457618"/>
            <a:ext cx="9533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부트스트랩을 활용한 반응형 웹 만들기</a:t>
            </a:r>
            <a:endParaRPr lang="ko-KR" altLang="en-US" sz="48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" name="Picture 4" descr="C:\Users\User\Desktop\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415" y="1634290"/>
            <a:ext cx="3355975" cy="1079500"/>
          </a:xfrm>
          <a:prstGeom prst="rect">
            <a:avLst/>
          </a:prstGeom>
          <a:noFill/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31" y="3462383"/>
            <a:ext cx="2768469" cy="1471332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6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48912" y="2185082"/>
            <a:ext cx="1092799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 smtClean="0">
                <a:latin typeface="나눔바른고딕" pitchFamily="50" charset="-127"/>
                <a:ea typeface="나눔바른고딕" pitchFamily="50" charset="-127"/>
              </a:rPr>
              <a:t>STEP 04</a:t>
            </a:r>
          </a:p>
          <a:p>
            <a:pPr>
              <a:lnSpc>
                <a:spcPct val="150000"/>
              </a:lnSpc>
            </a:pPr>
            <a:r>
              <a:rPr lang="ko-KR" altLang="en-US" sz="4000" dirty="0" smtClean="0">
                <a:latin typeface="나눔바른고딕" pitchFamily="50" charset="-127"/>
                <a:ea typeface="나눔바른고딕" pitchFamily="50" charset="-127"/>
              </a:rPr>
              <a:t>부트스트랩의 다양한 테이블 스타일과 폼 태그 스타일</a:t>
            </a:r>
            <a:endParaRPr lang="en-US" altLang="ko-KR" sz="4000" dirty="0" smtClean="0">
              <a:latin typeface="나눔바른고딕" pitchFamily="50" charset="-127"/>
              <a:ea typeface="나눔바른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36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27" y="1624966"/>
            <a:ext cx="10505101" cy="2126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" r="3056"/>
          <a:stretch/>
        </p:blipFill>
        <p:spPr bwMode="auto">
          <a:xfrm>
            <a:off x="1182516" y="4017109"/>
            <a:ext cx="5547361" cy="2420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848937" y="319148"/>
            <a:ext cx="67255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부트스트랩의 다양한 테이블 스타일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>
                <a:latin typeface="나눔바른고딕" pitchFamily="50" charset="-127"/>
                <a:ea typeface="나눔바른고딕" pitchFamily="50" charset="-127"/>
              </a:rPr>
              <a:t>http://bootstrapk.com/css/#tables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0" name="타원형 설명선 3"/>
          <p:cNvSpPr/>
          <p:nvPr/>
        </p:nvSpPr>
        <p:spPr>
          <a:xfrm rot="826279">
            <a:off x="7089449" y="4062539"/>
            <a:ext cx="1822646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반응형 테이블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도 있어요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848937" y="273428"/>
            <a:ext cx="67255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부트스트랩의 다양한 입력양식 스타일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>
                <a:latin typeface="나눔바른고딕" pitchFamily="50" charset="-127"/>
                <a:ea typeface="나눔바른고딕" pitchFamily="50" charset="-127"/>
              </a:rPr>
              <a:t>http://bootstrapk.com/css/#forms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72" y="1350646"/>
            <a:ext cx="5734748" cy="3384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12" y="4826712"/>
            <a:ext cx="5857272" cy="1794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타원형 설명선 3"/>
          <p:cNvSpPr/>
          <p:nvPr/>
        </p:nvSpPr>
        <p:spPr>
          <a:xfrm rot="20600296" flipH="1">
            <a:off x="704335" y="138460"/>
            <a:ext cx="1671509" cy="1050881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아</a:t>
            </a:r>
            <a:r>
              <a:rPr lang="ko-KR" altLang="en-US" sz="1600" dirty="0"/>
              <a:t>래</a:t>
            </a:r>
            <a:r>
              <a:rPr lang="ko-KR" altLang="en-US" sz="1600" dirty="0" smtClean="0"/>
              <a:t> 예제와</a:t>
            </a:r>
            <a:endParaRPr lang="en-US" altLang="ko-KR" sz="1600" dirty="0" smtClean="0"/>
          </a:p>
          <a:p>
            <a:pPr algn="ctr"/>
            <a:r>
              <a:rPr lang="ko-KR" altLang="en-US" sz="1600" dirty="0" smtClean="0"/>
              <a:t>같은 스타일을</a:t>
            </a:r>
            <a:endParaRPr lang="en-US" altLang="ko-KR" sz="1600" dirty="0" smtClean="0"/>
          </a:p>
          <a:p>
            <a:pPr algn="ctr"/>
            <a:r>
              <a:rPr lang="ko-KR" altLang="en-US" sz="1600" dirty="0" smtClean="0"/>
              <a:t>코딩해 보세요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6771861" y="2107096"/>
            <a:ext cx="4691270" cy="37856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sz="2000" dirty="0"/>
              <a:t>입력창에 스타일을 주려면 </a:t>
            </a:r>
            <a:r>
              <a:rPr lang="en-US" altLang="ko-KR" sz="2000" dirty="0"/>
              <a:t>form-group</a:t>
            </a:r>
            <a:r>
              <a:rPr lang="ko-KR" altLang="en-US" sz="2000" dirty="0"/>
              <a:t>클래스명에 </a:t>
            </a:r>
            <a:r>
              <a:rPr lang="en-US" altLang="ko-KR" sz="2000" dirty="0">
                <a:solidFill>
                  <a:srgbClr val="FF0000"/>
                </a:solidFill>
              </a:rPr>
              <a:t>has-</a:t>
            </a:r>
            <a:r>
              <a:rPr lang="ko-KR" altLang="en-US" sz="2000" dirty="0">
                <a:solidFill>
                  <a:srgbClr val="FF0000"/>
                </a:solidFill>
              </a:rPr>
              <a:t>스타일이름</a:t>
            </a:r>
            <a:r>
              <a:rPr lang="ko-KR" altLang="en-US" sz="2000" dirty="0"/>
              <a:t> 클래스명을 넣어준다</a:t>
            </a:r>
            <a:r>
              <a:rPr lang="en-US" altLang="ko-KR" sz="2000" dirty="0" smtClean="0"/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2000" dirty="0"/>
              <a:t>레이블태그에 </a:t>
            </a:r>
            <a:r>
              <a:rPr lang="en-US" altLang="ko-KR" sz="2000" dirty="0">
                <a:solidFill>
                  <a:srgbClr val="FF0000"/>
                </a:solidFill>
              </a:rPr>
              <a:t>class="control-label"</a:t>
            </a:r>
            <a:r>
              <a:rPr lang="ko-KR" altLang="en-US" sz="2000" dirty="0"/>
              <a:t>을 부여하면 </a:t>
            </a:r>
            <a:r>
              <a:rPr lang="en-US" altLang="ko-KR" sz="2000" dirty="0"/>
              <a:t>form-group</a:t>
            </a:r>
            <a:r>
              <a:rPr lang="ko-KR" altLang="en-US" sz="2000" dirty="0"/>
              <a:t>이 가지고 있는 스타일을 따라간다</a:t>
            </a:r>
            <a:r>
              <a:rPr lang="en-US" altLang="ko-KR" sz="2000" dirty="0" smtClean="0"/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2000" dirty="0" err="1"/>
              <a:t>입력칸에</a:t>
            </a:r>
            <a:r>
              <a:rPr lang="ko-KR" altLang="en-US" sz="2000" dirty="0">
                <a:solidFill>
                  <a:srgbClr val="FF0000"/>
                </a:solidFill>
              </a:rPr>
              <a:t> 아이콘</a:t>
            </a:r>
            <a:r>
              <a:rPr lang="ko-KR" altLang="en-US" sz="2000" dirty="0"/>
              <a:t>을 붙이려면 </a:t>
            </a:r>
            <a:r>
              <a:rPr lang="en-US" altLang="ko-KR" sz="2000" dirty="0">
                <a:solidFill>
                  <a:srgbClr val="FF0000"/>
                </a:solidFill>
              </a:rPr>
              <a:t>input-group</a:t>
            </a:r>
            <a:r>
              <a:rPr lang="ko-KR" altLang="en-US" sz="2000" dirty="0"/>
              <a:t>으로 감싸고 그 안에 </a:t>
            </a:r>
            <a:r>
              <a:rPr lang="en-US" altLang="ko-KR" sz="2000" dirty="0">
                <a:solidFill>
                  <a:srgbClr val="FF0000"/>
                </a:solidFill>
              </a:rPr>
              <a:t>input-group-</a:t>
            </a:r>
            <a:r>
              <a:rPr lang="en-US" altLang="ko-KR" sz="2000" dirty="0" err="1">
                <a:solidFill>
                  <a:srgbClr val="FF0000"/>
                </a:solidFill>
              </a:rPr>
              <a:t>addon</a:t>
            </a:r>
            <a:r>
              <a:rPr lang="ko-KR" altLang="en-US" sz="2000" dirty="0"/>
              <a:t>이라는 클래스명을 활용한다</a:t>
            </a:r>
            <a:r>
              <a:rPr lang="en-US" altLang="ko-KR" sz="2000" dirty="0" smtClean="0"/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ko-KR" sz="2000" dirty="0"/>
              <a:t>red</a:t>
            </a:r>
            <a:r>
              <a:rPr lang="ko-KR" altLang="en-US" sz="2000" dirty="0"/>
              <a:t>계열 스타일을 주려면 클래스명 </a:t>
            </a:r>
            <a:r>
              <a:rPr lang="en-US" altLang="ko-KR" sz="2000" dirty="0">
                <a:solidFill>
                  <a:srgbClr val="FF0000"/>
                </a:solidFill>
              </a:rPr>
              <a:t>has-error</a:t>
            </a:r>
            <a:r>
              <a:rPr lang="ko-KR" altLang="en-US" sz="2000" dirty="0"/>
              <a:t>를 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483875" y="1644996"/>
            <a:ext cx="334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폼 태그 스타일의 중요 포인트</a:t>
            </a:r>
            <a:r>
              <a:rPr lang="en-US" altLang="ko-KR" dirty="0" smtClean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23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부트스트랩이란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84104" y="546178"/>
            <a:ext cx="51283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smtClean="0">
                <a:latin typeface="나눔바른고딕" pitchFamily="50" charset="-127"/>
                <a:ea typeface="나눔바른고딕" pitchFamily="50" charset="-127"/>
              </a:rPr>
              <a:t>부트스트랩 폼 태그 스타일</a:t>
            </a:r>
            <a:r>
              <a:rPr lang="en-US" altLang="ko-KR" sz="2800" dirty="0" smtClean="0">
                <a:latin typeface="나눔바른고딕" pitchFamily="50" charset="-127"/>
                <a:ea typeface="나눔바른고딕" pitchFamily="50" charset="-127"/>
              </a:rPr>
              <a:t>_selfEX</a:t>
            </a:r>
          </a:p>
          <a:p>
            <a:pPr algn="ctr"/>
            <a:r>
              <a:rPr lang="en-US" altLang="ko-KR" sz="28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2800" dirty="0" smtClean="0">
                <a:latin typeface="나눔바른고딕" pitchFamily="50" charset="-127"/>
                <a:ea typeface="나눔바른고딕" pitchFamily="50" charset="-127"/>
              </a:rPr>
              <a:t>데스크탑 사이즈 일 때</a:t>
            </a:r>
            <a:r>
              <a:rPr lang="en-US" altLang="ko-KR" sz="28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2800" dirty="0"/>
          </a:p>
        </p:txBody>
      </p:sp>
      <p:sp>
        <p:nvSpPr>
          <p:cNvPr id="7" name="타원형 설명선 3"/>
          <p:cNvSpPr/>
          <p:nvPr/>
        </p:nvSpPr>
        <p:spPr>
          <a:xfrm rot="20600296" flipH="1">
            <a:off x="1649620" y="290345"/>
            <a:ext cx="1416979" cy="1130489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  <a:gd name="connsiteX0" fmla="*/ 245758 w 1969872"/>
              <a:gd name="connsiteY0" fmla="*/ 1342975 h 1342975"/>
              <a:gd name="connsiteX1" fmla="*/ 239578 w 1969872"/>
              <a:gd name="connsiteY1" fmla="*/ 1147564 h 1342975"/>
              <a:gd name="connsiteX2" fmla="*/ 220192 w 1969872"/>
              <a:gd name="connsiteY2" fmla="*/ 255009 h 1342975"/>
              <a:gd name="connsiteX3" fmla="*/ 1316965 w 1969872"/>
              <a:gd name="connsiteY3" fmla="*/ 39994 h 1342975"/>
              <a:gd name="connsiteX4" fmla="*/ 1858865 w 1969872"/>
              <a:gd name="connsiteY4" fmla="*/ 1019761 h 1342975"/>
              <a:gd name="connsiteX5" fmla="*/ 436604 w 1969872"/>
              <a:gd name="connsiteY5" fmla="*/ 1229729 h 1342975"/>
              <a:gd name="connsiteX6" fmla="*/ 245758 w 1969872"/>
              <a:gd name="connsiteY6" fmla="*/ 1342975 h 1342975"/>
              <a:gd name="connsiteX0" fmla="*/ 251036 w 1975150"/>
              <a:gd name="connsiteY0" fmla="*/ 1328436 h 1328436"/>
              <a:gd name="connsiteX1" fmla="*/ 244856 w 1975150"/>
              <a:gd name="connsiteY1" fmla="*/ 1133025 h 1328436"/>
              <a:gd name="connsiteX2" fmla="*/ 225470 w 1975150"/>
              <a:gd name="connsiteY2" fmla="*/ 240470 h 1328436"/>
              <a:gd name="connsiteX3" fmla="*/ 1322243 w 1975150"/>
              <a:gd name="connsiteY3" fmla="*/ 25455 h 1328436"/>
              <a:gd name="connsiteX4" fmla="*/ 1864143 w 1975150"/>
              <a:gd name="connsiteY4" fmla="*/ 1005222 h 1328436"/>
              <a:gd name="connsiteX5" fmla="*/ 441882 w 1975150"/>
              <a:gd name="connsiteY5" fmla="*/ 1215190 h 1328436"/>
              <a:gd name="connsiteX6" fmla="*/ 251036 w 1975150"/>
              <a:gd name="connsiteY6" fmla="*/ 1328436 h 1328436"/>
              <a:gd name="connsiteX0" fmla="*/ 274056 w 1998170"/>
              <a:gd name="connsiteY0" fmla="*/ 1331635 h 1331635"/>
              <a:gd name="connsiteX1" fmla="*/ 267876 w 1998170"/>
              <a:gd name="connsiteY1" fmla="*/ 1136224 h 1331635"/>
              <a:gd name="connsiteX2" fmla="*/ 248490 w 1998170"/>
              <a:gd name="connsiteY2" fmla="*/ 243669 h 1331635"/>
              <a:gd name="connsiteX3" fmla="*/ 1345263 w 1998170"/>
              <a:gd name="connsiteY3" fmla="*/ 28654 h 1331635"/>
              <a:gd name="connsiteX4" fmla="*/ 1887163 w 1998170"/>
              <a:gd name="connsiteY4" fmla="*/ 1008421 h 1331635"/>
              <a:gd name="connsiteX5" fmla="*/ 464902 w 1998170"/>
              <a:gd name="connsiteY5" fmla="*/ 1218389 h 1331635"/>
              <a:gd name="connsiteX6" fmla="*/ 274056 w 1998170"/>
              <a:gd name="connsiteY6" fmla="*/ 1331635 h 1331635"/>
              <a:gd name="connsiteX0" fmla="*/ 265428 w 1989542"/>
              <a:gd name="connsiteY0" fmla="*/ 1332628 h 1332628"/>
              <a:gd name="connsiteX1" fmla="*/ 259248 w 1989542"/>
              <a:gd name="connsiteY1" fmla="*/ 1137217 h 1332628"/>
              <a:gd name="connsiteX2" fmla="*/ 239862 w 1989542"/>
              <a:gd name="connsiteY2" fmla="*/ 244662 h 1332628"/>
              <a:gd name="connsiteX3" fmla="*/ 1336635 w 1989542"/>
              <a:gd name="connsiteY3" fmla="*/ 29647 h 1332628"/>
              <a:gd name="connsiteX4" fmla="*/ 1878535 w 1989542"/>
              <a:gd name="connsiteY4" fmla="*/ 1009414 h 1332628"/>
              <a:gd name="connsiteX5" fmla="*/ 456274 w 1989542"/>
              <a:gd name="connsiteY5" fmla="*/ 1219382 h 1332628"/>
              <a:gd name="connsiteX6" fmla="*/ 265428 w 1989542"/>
              <a:gd name="connsiteY6" fmla="*/ 1332628 h 133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9542" h="1332628">
                <a:moveTo>
                  <a:pt x="265428" y="1332628"/>
                </a:moveTo>
                <a:cubicBezTo>
                  <a:pt x="240334" y="1246476"/>
                  <a:pt x="284342" y="1223369"/>
                  <a:pt x="259248" y="1137217"/>
                </a:cubicBezTo>
                <a:cubicBezTo>
                  <a:pt x="-138201" y="767550"/>
                  <a:pt x="-24878" y="481343"/>
                  <a:pt x="239862" y="244662"/>
                </a:cubicBezTo>
                <a:cubicBezTo>
                  <a:pt x="473649" y="35653"/>
                  <a:pt x="967382" y="-50592"/>
                  <a:pt x="1336635" y="29647"/>
                </a:cubicBezTo>
                <a:cubicBezTo>
                  <a:pt x="1919273" y="156254"/>
                  <a:pt x="2144925" y="636384"/>
                  <a:pt x="1878535" y="1009414"/>
                </a:cubicBezTo>
                <a:cubicBezTo>
                  <a:pt x="1689692" y="1273853"/>
                  <a:pt x="1089113" y="1431154"/>
                  <a:pt x="456274" y="1219382"/>
                </a:cubicBezTo>
                <a:lnTo>
                  <a:pt x="265428" y="1332628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직접 먼저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코딩하</a:t>
            </a:r>
            <a:r>
              <a:rPr lang="ko-KR" altLang="en-US" dirty="0"/>
              <a:t>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41"/>
            <a:ext cx="11734800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269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부트스트랩이란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84104" y="546178"/>
            <a:ext cx="51283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smtClean="0">
                <a:latin typeface="나눔바른고딕" pitchFamily="50" charset="-127"/>
                <a:ea typeface="나눔바른고딕" pitchFamily="50" charset="-127"/>
              </a:rPr>
              <a:t>부트스트랩 폼 태그 스타일</a:t>
            </a:r>
            <a:r>
              <a:rPr lang="en-US" altLang="ko-KR" sz="2800" dirty="0" smtClean="0">
                <a:latin typeface="나눔바른고딕" pitchFamily="50" charset="-127"/>
                <a:ea typeface="나눔바른고딕" pitchFamily="50" charset="-127"/>
              </a:rPr>
              <a:t>_selfEX</a:t>
            </a:r>
          </a:p>
          <a:p>
            <a:pPr algn="ctr"/>
            <a:r>
              <a:rPr lang="en-US" altLang="ko-KR" sz="28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2800" dirty="0" smtClean="0">
                <a:latin typeface="나눔바른고딕" pitchFamily="50" charset="-127"/>
                <a:ea typeface="나눔바른고딕" pitchFamily="50" charset="-127"/>
              </a:rPr>
              <a:t>스마트폰 일 때</a:t>
            </a:r>
            <a:r>
              <a:rPr lang="en-US" altLang="ko-KR" sz="28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2800" dirty="0"/>
          </a:p>
        </p:txBody>
      </p:sp>
      <p:sp>
        <p:nvSpPr>
          <p:cNvPr id="7" name="타원형 설명선 3"/>
          <p:cNvSpPr/>
          <p:nvPr/>
        </p:nvSpPr>
        <p:spPr>
          <a:xfrm rot="20600296" flipH="1">
            <a:off x="1649620" y="290345"/>
            <a:ext cx="1416979" cy="1130489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  <a:gd name="connsiteX0" fmla="*/ 245758 w 1969872"/>
              <a:gd name="connsiteY0" fmla="*/ 1342975 h 1342975"/>
              <a:gd name="connsiteX1" fmla="*/ 239578 w 1969872"/>
              <a:gd name="connsiteY1" fmla="*/ 1147564 h 1342975"/>
              <a:gd name="connsiteX2" fmla="*/ 220192 w 1969872"/>
              <a:gd name="connsiteY2" fmla="*/ 255009 h 1342975"/>
              <a:gd name="connsiteX3" fmla="*/ 1316965 w 1969872"/>
              <a:gd name="connsiteY3" fmla="*/ 39994 h 1342975"/>
              <a:gd name="connsiteX4" fmla="*/ 1858865 w 1969872"/>
              <a:gd name="connsiteY4" fmla="*/ 1019761 h 1342975"/>
              <a:gd name="connsiteX5" fmla="*/ 436604 w 1969872"/>
              <a:gd name="connsiteY5" fmla="*/ 1229729 h 1342975"/>
              <a:gd name="connsiteX6" fmla="*/ 245758 w 1969872"/>
              <a:gd name="connsiteY6" fmla="*/ 1342975 h 1342975"/>
              <a:gd name="connsiteX0" fmla="*/ 251036 w 1975150"/>
              <a:gd name="connsiteY0" fmla="*/ 1328436 h 1328436"/>
              <a:gd name="connsiteX1" fmla="*/ 244856 w 1975150"/>
              <a:gd name="connsiteY1" fmla="*/ 1133025 h 1328436"/>
              <a:gd name="connsiteX2" fmla="*/ 225470 w 1975150"/>
              <a:gd name="connsiteY2" fmla="*/ 240470 h 1328436"/>
              <a:gd name="connsiteX3" fmla="*/ 1322243 w 1975150"/>
              <a:gd name="connsiteY3" fmla="*/ 25455 h 1328436"/>
              <a:gd name="connsiteX4" fmla="*/ 1864143 w 1975150"/>
              <a:gd name="connsiteY4" fmla="*/ 1005222 h 1328436"/>
              <a:gd name="connsiteX5" fmla="*/ 441882 w 1975150"/>
              <a:gd name="connsiteY5" fmla="*/ 1215190 h 1328436"/>
              <a:gd name="connsiteX6" fmla="*/ 251036 w 1975150"/>
              <a:gd name="connsiteY6" fmla="*/ 1328436 h 1328436"/>
              <a:gd name="connsiteX0" fmla="*/ 274056 w 1998170"/>
              <a:gd name="connsiteY0" fmla="*/ 1331635 h 1331635"/>
              <a:gd name="connsiteX1" fmla="*/ 267876 w 1998170"/>
              <a:gd name="connsiteY1" fmla="*/ 1136224 h 1331635"/>
              <a:gd name="connsiteX2" fmla="*/ 248490 w 1998170"/>
              <a:gd name="connsiteY2" fmla="*/ 243669 h 1331635"/>
              <a:gd name="connsiteX3" fmla="*/ 1345263 w 1998170"/>
              <a:gd name="connsiteY3" fmla="*/ 28654 h 1331635"/>
              <a:gd name="connsiteX4" fmla="*/ 1887163 w 1998170"/>
              <a:gd name="connsiteY4" fmla="*/ 1008421 h 1331635"/>
              <a:gd name="connsiteX5" fmla="*/ 464902 w 1998170"/>
              <a:gd name="connsiteY5" fmla="*/ 1218389 h 1331635"/>
              <a:gd name="connsiteX6" fmla="*/ 274056 w 1998170"/>
              <a:gd name="connsiteY6" fmla="*/ 1331635 h 1331635"/>
              <a:gd name="connsiteX0" fmla="*/ 265428 w 1989542"/>
              <a:gd name="connsiteY0" fmla="*/ 1332628 h 1332628"/>
              <a:gd name="connsiteX1" fmla="*/ 259248 w 1989542"/>
              <a:gd name="connsiteY1" fmla="*/ 1137217 h 1332628"/>
              <a:gd name="connsiteX2" fmla="*/ 239862 w 1989542"/>
              <a:gd name="connsiteY2" fmla="*/ 244662 h 1332628"/>
              <a:gd name="connsiteX3" fmla="*/ 1336635 w 1989542"/>
              <a:gd name="connsiteY3" fmla="*/ 29647 h 1332628"/>
              <a:gd name="connsiteX4" fmla="*/ 1878535 w 1989542"/>
              <a:gd name="connsiteY4" fmla="*/ 1009414 h 1332628"/>
              <a:gd name="connsiteX5" fmla="*/ 456274 w 1989542"/>
              <a:gd name="connsiteY5" fmla="*/ 1219382 h 1332628"/>
              <a:gd name="connsiteX6" fmla="*/ 265428 w 1989542"/>
              <a:gd name="connsiteY6" fmla="*/ 1332628 h 133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9542" h="1332628">
                <a:moveTo>
                  <a:pt x="265428" y="1332628"/>
                </a:moveTo>
                <a:cubicBezTo>
                  <a:pt x="240334" y="1246476"/>
                  <a:pt x="284342" y="1223369"/>
                  <a:pt x="259248" y="1137217"/>
                </a:cubicBezTo>
                <a:cubicBezTo>
                  <a:pt x="-138201" y="767550"/>
                  <a:pt x="-24878" y="481343"/>
                  <a:pt x="239862" y="244662"/>
                </a:cubicBezTo>
                <a:cubicBezTo>
                  <a:pt x="473649" y="35653"/>
                  <a:pt x="967382" y="-50592"/>
                  <a:pt x="1336635" y="29647"/>
                </a:cubicBezTo>
                <a:cubicBezTo>
                  <a:pt x="1919273" y="156254"/>
                  <a:pt x="2144925" y="636384"/>
                  <a:pt x="1878535" y="1009414"/>
                </a:cubicBezTo>
                <a:cubicBezTo>
                  <a:pt x="1689692" y="1273853"/>
                  <a:pt x="1089113" y="1431154"/>
                  <a:pt x="456274" y="1219382"/>
                </a:cubicBezTo>
                <a:lnTo>
                  <a:pt x="265428" y="1332628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직접 먼저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코딩하</a:t>
            </a:r>
            <a:r>
              <a:rPr lang="ko-KR" altLang="en-US" dirty="0"/>
              <a:t>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598" y="1513537"/>
            <a:ext cx="5705364" cy="5200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462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98056" y="1012148"/>
            <a:ext cx="1116671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부트스트랩에서는 다양한 테이블 스타일을 지원하는데 </a:t>
            </a:r>
            <a:r>
              <a:rPr lang="en-US" altLang="ko-KR" sz="2400" dirty="0" smtClean="0"/>
              <a:t>&lt;table&gt;</a:t>
            </a:r>
            <a:r>
              <a:rPr lang="ko-KR" altLang="en-US" sz="2400" dirty="0" smtClean="0"/>
              <a:t>태그</a:t>
            </a:r>
            <a:endParaRPr lang="en-US" altLang="ko-KR" sz="2400" dirty="0" smtClean="0"/>
          </a:p>
          <a:p>
            <a:r>
              <a:rPr lang="ko-KR" altLang="en-US" sz="2400" dirty="0"/>
              <a:t>에 약간의 </a:t>
            </a:r>
            <a:r>
              <a:rPr lang="ko-KR" altLang="en-US" sz="2400" dirty="0" err="1"/>
              <a:t>패딩과</a:t>
            </a:r>
            <a:r>
              <a:rPr lang="ko-KR" altLang="en-US" sz="2400" dirty="0"/>
              <a:t> 수평 </a:t>
            </a:r>
            <a:r>
              <a:rPr lang="ko-KR" altLang="en-US" sz="2400" dirty="0" err="1"/>
              <a:t>구분선이</a:t>
            </a:r>
            <a:r>
              <a:rPr lang="ko-KR" altLang="en-US" sz="2400" dirty="0"/>
              <a:t> 있는 기본 </a:t>
            </a:r>
            <a:r>
              <a:rPr lang="ko-KR" altLang="en-US" sz="2400" dirty="0" smtClean="0"/>
              <a:t>스타일을 만들려면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</a:t>
            </a:r>
            <a:r>
              <a:rPr lang="en-US" altLang="ko-KR" sz="2400" dirty="0" smtClean="0"/>
              <a:t> </a:t>
            </a:r>
            <a:endParaRPr lang="en-US" altLang="ko-KR" sz="2400" dirty="0"/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반응형 테이블을 만들려면 </a:t>
            </a:r>
            <a:r>
              <a:rPr lang="en-US" altLang="ko-KR" sz="2400" dirty="0" smtClean="0"/>
              <a:t>table</a:t>
            </a:r>
            <a:r>
              <a:rPr lang="ko-KR" altLang="en-US" sz="2400" dirty="0" smtClean="0"/>
              <a:t>태그를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.table-responsive</a:t>
            </a:r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 </a:t>
            </a:r>
          </a:p>
          <a:p>
            <a:endParaRPr lang="en-US" altLang="ko-KR" sz="2400" dirty="0"/>
          </a:p>
          <a:p>
            <a:pPr marL="514350" indent="-514350">
              <a:buAutoNum type="arabicPeriod" startAt="3"/>
            </a:pPr>
            <a:r>
              <a:rPr lang="ko-KR" altLang="en-US" sz="2400" dirty="0"/>
              <a:t>입력창에 스타일을 주려면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클래스명에 </a:t>
            </a:r>
            <a:r>
              <a:rPr lang="en-US" altLang="ko-KR" sz="2400" dirty="0">
                <a:solidFill>
                  <a:srgbClr val="FF0000"/>
                </a:solidFill>
              </a:rPr>
              <a:t>has-</a:t>
            </a:r>
            <a:r>
              <a:rPr lang="ko-KR" altLang="en-US" sz="2400" dirty="0">
                <a:solidFill>
                  <a:srgbClr val="FF0000"/>
                </a:solidFill>
              </a:rPr>
              <a:t>스타일이름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클래스명</a:t>
            </a:r>
            <a:endParaRPr lang="en-US" altLang="ko-KR" sz="2400" dirty="0" smtClean="0"/>
          </a:p>
          <a:p>
            <a:r>
              <a:rPr lang="ko-KR" altLang="en-US" sz="2400" dirty="0" smtClean="0"/>
              <a:t>을 </a:t>
            </a:r>
            <a:r>
              <a:rPr lang="ko-KR" altLang="en-US" sz="2400" dirty="0"/>
              <a:t>넣어준다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4. </a:t>
            </a:r>
            <a:r>
              <a:rPr lang="ko-KR" altLang="en-US" sz="2400" dirty="0"/>
              <a:t>레이블태그에 </a:t>
            </a:r>
            <a:r>
              <a:rPr lang="en-US" altLang="ko-KR" sz="2400" dirty="0"/>
              <a:t>class=</a:t>
            </a:r>
            <a:r>
              <a:rPr lang="en-US" altLang="ko-KR" sz="2400" dirty="0">
                <a:solidFill>
                  <a:srgbClr val="FF0000"/>
                </a:solidFill>
              </a:rPr>
              <a:t>"control-label"</a:t>
            </a:r>
            <a:r>
              <a:rPr lang="ko-KR" altLang="en-US" sz="2400" dirty="0"/>
              <a:t>을 부여하면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이 가지고 있는 </a:t>
            </a:r>
            <a:endParaRPr lang="en-US" altLang="ko-KR" sz="2400" dirty="0" smtClean="0"/>
          </a:p>
          <a:p>
            <a:r>
              <a:rPr lang="ko-KR" altLang="en-US" sz="2400" dirty="0" smtClean="0"/>
              <a:t>스타일을 </a:t>
            </a:r>
            <a:r>
              <a:rPr lang="ko-KR" altLang="en-US" sz="2400" dirty="0"/>
              <a:t>따라간다</a:t>
            </a:r>
            <a:r>
              <a:rPr lang="en-US" altLang="ko-KR" sz="2400" dirty="0"/>
              <a:t>.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 err="1" smtClean="0"/>
              <a:t>인라인</a:t>
            </a:r>
            <a:r>
              <a:rPr lang="ko-KR" altLang="en-US" sz="2400" dirty="0" smtClean="0"/>
              <a:t> 형식의 폼 스타일을 만들기 위해서는 </a:t>
            </a:r>
            <a:r>
              <a:rPr lang="en-US" altLang="ko-KR" sz="2400" dirty="0" smtClean="0"/>
              <a:t>form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.form-inline</a:t>
            </a:r>
            <a:r>
              <a:rPr lang="en-US" altLang="ko-KR" sz="2400" dirty="0" smtClean="0"/>
              <a:t> </a:t>
            </a:r>
          </a:p>
          <a:p>
            <a:r>
              <a:rPr lang="ko-KR" altLang="en-US" sz="2400" dirty="0" smtClean="0"/>
              <a:t>클래스명을 추가해 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287252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280276" y="2537459"/>
            <a:ext cx="24175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253772" y="3629202"/>
            <a:ext cx="205840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029684" y="5800721"/>
            <a:ext cx="17622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390144" y="1443816"/>
            <a:ext cx="90878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43871" y="4724068"/>
            <a:ext cx="197985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98056" y="1012148"/>
            <a:ext cx="1116671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부트스트랩에서는 다양한 테이블 스타일을 지원하는데 </a:t>
            </a:r>
            <a:r>
              <a:rPr lang="en-US" altLang="ko-KR" sz="2400" dirty="0" smtClean="0"/>
              <a:t>&lt;table&gt;</a:t>
            </a:r>
            <a:r>
              <a:rPr lang="ko-KR" altLang="en-US" sz="2400" dirty="0" smtClean="0"/>
              <a:t>태그</a:t>
            </a:r>
            <a:endParaRPr lang="en-US" altLang="ko-KR" sz="2400" dirty="0" smtClean="0"/>
          </a:p>
          <a:p>
            <a:r>
              <a:rPr lang="ko-KR" altLang="en-US" sz="2400" dirty="0"/>
              <a:t>에 약간의 </a:t>
            </a:r>
            <a:r>
              <a:rPr lang="ko-KR" altLang="en-US" sz="2400" dirty="0" err="1"/>
              <a:t>패딩과</a:t>
            </a:r>
            <a:r>
              <a:rPr lang="ko-KR" altLang="en-US" sz="2400" dirty="0"/>
              <a:t> 수평 </a:t>
            </a:r>
            <a:r>
              <a:rPr lang="ko-KR" altLang="en-US" sz="2400" dirty="0" err="1"/>
              <a:t>구분선이</a:t>
            </a:r>
            <a:r>
              <a:rPr lang="ko-KR" altLang="en-US" sz="2400" dirty="0"/>
              <a:t> 있는 기본 </a:t>
            </a:r>
            <a:r>
              <a:rPr lang="ko-KR" altLang="en-US" sz="2400" dirty="0" smtClean="0"/>
              <a:t>스타일을 만들려면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</a:t>
            </a:r>
            <a:r>
              <a:rPr lang="en-US" altLang="ko-KR" sz="2400" dirty="0" smtClean="0"/>
              <a:t> </a:t>
            </a:r>
            <a:endParaRPr lang="en-US" altLang="ko-KR" sz="2400" dirty="0"/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반응형 테이블을 만들려면 </a:t>
            </a:r>
            <a:r>
              <a:rPr lang="en-US" altLang="ko-KR" sz="2400" dirty="0" smtClean="0"/>
              <a:t>table</a:t>
            </a:r>
            <a:r>
              <a:rPr lang="ko-KR" altLang="en-US" sz="2400" dirty="0" smtClean="0"/>
              <a:t>태그를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.table-responsive</a:t>
            </a:r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 </a:t>
            </a:r>
          </a:p>
          <a:p>
            <a:endParaRPr lang="en-US" altLang="ko-KR" sz="2400" dirty="0"/>
          </a:p>
          <a:p>
            <a:pPr marL="514350" indent="-514350">
              <a:buAutoNum type="arabicPeriod" startAt="3"/>
            </a:pPr>
            <a:r>
              <a:rPr lang="ko-KR" altLang="en-US" sz="2400" dirty="0"/>
              <a:t>입력창에 스타일을 주려면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클래스명에 </a:t>
            </a:r>
            <a:r>
              <a:rPr lang="en-US" altLang="ko-KR" sz="2400" dirty="0">
                <a:solidFill>
                  <a:srgbClr val="FF0000"/>
                </a:solidFill>
              </a:rPr>
              <a:t>has-</a:t>
            </a:r>
            <a:r>
              <a:rPr lang="ko-KR" altLang="en-US" sz="2400" dirty="0">
                <a:solidFill>
                  <a:srgbClr val="FF0000"/>
                </a:solidFill>
              </a:rPr>
              <a:t>스타일이름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클래스명</a:t>
            </a:r>
            <a:endParaRPr lang="en-US" altLang="ko-KR" sz="2400" dirty="0" smtClean="0"/>
          </a:p>
          <a:p>
            <a:r>
              <a:rPr lang="ko-KR" altLang="en-US" sz="2400" dirty="0" smtClean="0"/>
              <a:t>을 </a:t>
            </a:r>
            <a:r>
              <a:rPr lang="ko-KR" altLang="en-US" sz="2400" dirty="0"/>
              <a:t>넣어준다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4. </a:t>
            </a:r>
            <a:r>
              <a:rPr lang="ko-KR" altLang="en-US" sz="2400" dirty="0"/>
              <a:t>레이블태그에 </a:t>
            </a:r>
            <a:r>
              <a:rPr lang="en-US" altLang="ko-KR" sz="2400" dirty="0"/>
              <a:t>class=</a:t>
            </a:r>
            <a:r>
              <a:rPr lang="en-US" altLang="ko-KR" sz="2400" dirty="0">
                <a:solidFill>
                  <a:srgbClr val="FF0000"/>
                </a:solidFill>
              </a:rPr>
              <a:t>"control-label"</a:t>
            </a:r>
            <a:r>
              <a:rPr lang="ko-KR" altLang="en-US" sz="2400" dirty="0"/>
              <a:t>을 부여하면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이 가지고 있는 </a:t>
            </a:r>
            <a:endParaRPr lang="en-US" altLang="ko-KR" sz="2400" dirty="0" smtClean="0"/>
          </a:p>
          <a:p>
            <a:r>
              <a:rPr lang="ko-KR" altLang="en-US" sz="2400" dirty="0" smtClean="0"/>
              <a:t>스타일을 </a:t>
            </a:r>
            <a:r>
              <a:rPr lang="ko-KR" altLang="en-US" sz="2400" dirty="0"/>
              <a:t>따라간다</a:t>
            </a:r>
            <a:r>
              <a:rPr lang="en-US" altLang="ko-KR" sz="2400" dirty="0"/>
              <a:t>.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 err="1" smtClean="0"/>
              <a:t>인라인</a:t>
            </a:r>
            <a:r>
              <a:rPr lang="ko-KR" altLang="en-US" sz="2400" dirty="0" smtClean="0"/>
              <a:t> 형식의 폼 스타일을 만들기 위해서는 </a:t>
            </a:r>
            <a:r>
              <a:rPr lang="en-US" altLang="ko-KR" sz="2400" dirty="0" smtClean="0"/>
              <a:t>form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.form-inline</a:t>
            </a:r>
            <a:r>
              <a:rPr lang="en-US" altLang="ko-KR" sz="2400" dirty="0" smtClean="0"/>
              <a:t> </a:t>
            </a:r>
          </a:p>
          <a:p>
            <a:r>
              <a:rPr lang="ko-KR" altLang="en-US" sz="2400" dirty="0" smtClean="0"/>
              <a:t>클래스명을 추가해 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287252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280276" y="2537459"/>
            <a:ext cx="241754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253772" y="3629202"/>
            <a:ext cx="205840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029684" y="5800721"/>
            <a:ext cx="17622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340040" y="144381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43871" y="4724068"/>
            <a:ext cx="197985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28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98056" y="1012148"/>
            <a:ext cx="1116671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부트스트랩에서는 다양한 테이블 스타일을 지원하는데 </a:t>
            </a:r>
            <a:r>
              <a:rPr lang="en-US" altLang="ko-KR" sz="2400" dirty="0" smtClean="0"/>
              <a:t>&lt;table&gt;</a:t>
            </a:r>
            <a:r>
              <a:rPr lang="ko-KR" altLang="en-US" sz="2400" dirty="0" smtClean="0"/>
              <a:t>태그</a:t>
            </a:r>
            <a:endParaRPr lang="en-US" altLang="ko-KR" sz="2400" dirty="0" smtClean="0"/>
          </a:p>
          <a:p>
            <a:r>
              <a:rPr lang="ko-KR" altLang="en-US" sz="2400" dirty="0"/>
              <a:t>에 약간의 </a:t>
            </a:r>
            <a:r>
              <a:rPr lang="ko-KR" altLang="en-US" sz="2400" dirty="0" err="1"/>
              <a:t>패딩과</a:t>
            </a:r>
            <a:r>
              <a:rPr lang="ko-KR" altLang="en-US" sz="2400" dirty="0"/>
              <a:t> 수평 </a:t>
            </a:r>
            <a:r>
              <a:rPr lang="ko-KR" altLang="en-US" sz="2400" dirty="0" err="1"/>
              <a:t>구분선이</a:t>
            </a:r>
            <a:r>
              <a:rPr lang="ko-KR" altLang="en-US" sz="2400" dirty="0"/>
              <a:t> 있는 기본 </a:t>
            </a:r>
            <a:r>
              <a:rPr lang="ko-KR" altLang="en-US" sz="2400" dirty="0" smtClean="0"/>
              <a:t>스타일을 만들려면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</a:t>
            </a:r>
            <a:r>
              <a:rPr lang="en-US" altLang="ko-KR" sz="2400" dirty="0" smtClean="0"/>
              <a:t> </a:t>
            </a:r>
            <a:endParaRPr lang="en-US" altLang="ko-KR" sz="2400" dirty="0"/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반응형 테이블을 만들려면 </a:t>
            </a:r>
            <a:r>
              <a:rPr lang="en-US" altLang="ko-KR" sz="2400" dirty="0" smtClean="0"/>
              <a:t>table</a:t>
            </a:r>
            <a:r>
              <a:rPr lang="ko-KR" altLang="en-US" sz="2400" dirty="0" smtClean="0"/>
              <a:t>태그를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.table-responsive</a:t>
            </a:r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 </a:t>
            </a:r>
          </a:p>
          <a:p>
            <a:endParaRPr lang="en-US" altLang="ko-KR" sz="2400" dirty="0"/>
          </a:p>
          <a:p>
            <a:pPr marL="514350" indent="-514350">
              <a:buAutoNum type="arabicPeriod" startAt="3"/>
            </a:pPr>
            <a:r>
              <a:rPr lang="ko-KR" altLang="en-US" sz="2400" dirty="0"/>
              <a:t>입력창에 스타일을 주려면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클래스명에 </a:t>
            </a:r>
            <a:r>
              <a:rPr lang="en-US" altLang="ko-KR" sz="2400" dirty="0">
                <a:solidFill>
                  <a:srgbClr val="FF0000"/>
                </a:solidFill>
              </a:rPr>
              <a:t>has-</a:t>
            </a:r>
            <a:r>
              <a:rPr lang="ko-KR" altLang="en-US" sz="2400" dirty="0">
                <a:solidFill>
                  <a:srgbClr val="FF0000"/>
                </a:solidFill>
              </a:rPr>
              <a:t>스타일이름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클래스명</a:t>
            </a:r>
            <a:endParaRPr lang="en-US" altLang="ko-KR" sz="2400" dirty="0" smtClean="0"/>
          </a:p>
          <a:p>
            <a:r>
              <a:rPr lang="ko-KR" altLang="en-US" sz="2400" dirty="0" smtClean="0"/>
              <a:t>을 </a:t>
            </a:r>
            <a:r>
              <a:rPr lang="ko-KR" altLang="en-US" sz="2400" dirty="0"/>
              <a:t>넣어준다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4. </a:t>
            </a:r>
            <a:r>
              <a:rPr lang="ko-KR" altLang="en-US" sz="2400" dirty="0"/>
              <a:t>레이블태그에 </a:t>
            </a:r>
            <a:r>
              <a:rPr lang="en-US" altLang="ko-KR" sz="2400" dirty="0"/>
              <a:t>class=</a:t>
            </a:r>
            <a:r>
              <a:rPr lang="en-US" altLang="ko-KR" sz="2400" dirty="0">
                <a:solidFill>
                  <a:srgbClr val="FF0000"/>
                </a:solidFill>
              </a:rPr>
              <a:t>"control-label"</a:t>
            </a:r>
            <a:r>
              <a:rPr lang="ko-KR" altLang="en-US" sz="2400" dirty="0"/>
              <a:t>을 부여하면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이 가지고 있는 </a:t>
            </a:r>
            <a:endParaRPr lang="en-US" altLang="ko-KR" sz="2400" dirty="0" smtClean="0"/>
          </a:p>
          <a:p>
            <a:r>
              <a:rPr lang="ko-KR" altLang="en-US" sz="2400" dirty="0" smtClean="0"/>
              <a:t>스타일을 </a:t>
            </a:r>
            <a:r>
              <a:rPr lang="ko-KR" altLang="en-US" sz="2400" dirty="0"/>
              <a:t>따라간다</a:t>
            </a:r>
            <a:r>
              <a:rPr lang="en-US" altLang="ko-KR" sz="2400" dirty="0"/>
              <a:t>.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 err="1" smtClean="0"/>
              <a:t>인라인</a:t>
            </a:r>
            <a:r>
              <a:rPr lang="ko-KR" altLang="en-US" sz="2400" dirty="0" smtClean="0"/>
              <a:t> 형식의 폼 스타일을 만들기 위해서는 </a:t>
            </a:r>
            <a:r>
              <a:rPr lang="en-US" altLang="ko-KR" sz="2400" dirty="0" smtClean="0"/>
              <a:t>form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.form-inline</a:t>
            </a:r>
            <a:r>
              <a:rPr lang="en-US" altLang="ko-KR" sz="2400" dirty="0" smtClean="0"/>
              <a:t> </a:t>
            </a:r>
          </a:p>
          <a:p>
            <a:r>
              <a:rPr lang="ko-KR" altLang="en-US" sz="2400" dirty="0" smtClean="0"/>
              <a:t>클래스명을 추가해 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287252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280276" y="2537459"/>
            <a:ext cx="24175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253772" y="3629202"/>
            <a:ext cx="205840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029684" y="5800721"/>
            <a:ext cx="17622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390144" y="144381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43871" y="4724068"/>
            <a:ext cx="197985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99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98056" y="1012148"/>
            <a:ext cx="1116671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부트스트랩에서는 다양한 테이블 스타일을 지원하는데 </a:t>
            </a:r>
            <a:r>
              <a:rPr lang="en-US" altLang="ko-KR" sz="2400" dirty="0" smtClean="0"/>
              <a:t>&lt;table&gt;</a:t>
            </a:r>
            <a:r>
              <a:rPr lang="ko-KR" altLang="en-US" sz="2400" dirty="0" smtClean="0"/>
              <a:t>태그</a:t>
            </a:r>
            <a:endParaRPr lang="en-US" altLang="ko-KR" sz="2400" dirty="0" smtClean="0"/>
          </a:p>
          <a:p>
            <a:r>
              <a:rPr lang="ko-KR" altLang="en-US" sz="2400" dirty="0"/>
              <a:t>에 약간의 </a:t>
            </a:r>
            <a:r>
              <a:rPr lang="ko-KR" altLang="en-US" sz="2400" dirty="0" err="1"/>
              <a:t>패딩과</a:t>
            </a:r>
            <a:r>
              <a:rPr lang="ko-KR" altLang="en-US" sz="2400" dirty="0"/>
              <a:t> 수평 </a:t>
            </a:r>
            <a:r>
              <a:rPr lang="ko-KR" altLang="en-US" sz="2400" dirty="0" err="1"/>
              <a:t>구분선이</a:t>
            </a:r>
            <a:r>
              <a:rPr lang="ko-KR" altLang="en-US" sz="2400" dirty="0"/>
              <a:t> 있는 기본 </a:t>
            </a:r>
            <a:r>
              <a:rPr lang="ko-KR" altLang="en-US" sz="2400" dirty="0" smtClean="0"/>
              <a:t>스타일을 만들려면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</a:t>
            </a:r>
            <a:r>
              <a:rPr lang="en-US" altLang="ko-KR" sz="2400" dirty="0" smtClean="0"/>
              <a:t> </a:t>
            </a:r>
            <a:endParaRPr lang="en-US" altLang="ko-KR" sz="2400" dirty="0"/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반응형 테이블을 만들려면 </a:t>
            </a:r>
            <a:r>
              <a:rPr lang="en-US" altLang="ko-KR" sz="2400" dirty="0" smtClean="0"/>
              <a:t>table</a:t>
            </a:r>
            <a:r>
              <a:rPr lang="ko-KR" altLang="en-US" sz="2400" dirty="0" smtClean="0"/>
              <a:t>태그를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.table-responsive</a:t>
            </a:r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 </a:t>
            </a:r>
          </a:p>
          <a:p>
            <a:endParaRPr lang="en-US" altLang="ko-KR" sz="2400" dirty="0"/>
          </a:p>
          <a:p>
            <a:pPr marL="514350" indent="-514350">
              <a:buAutoNum type="arabicPeriod" startAt="3"/>
            </a:pPr>
            <a:r>
              <a:rPr lang="ko-KR" altLang="en-US" sz="2400" dirty="0"/>
              <a:t>입력창에 스타일을 주려면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클래스명에 </a:t>
            </a:r>
            <a:r>
              <a:rPr lang="en-US" altLang="ko-KR" sz="2400" dirty="0">
                <a:solidFill>
                  <a:srgbClr val="FF0000"/>
                </a:solidFill>
              </a:rPr>
              <a:t>has-</a:t>
            </a:r>
            <a:r>
              <a:rPr lang="ko-KR" altLang="en-US" sz="2400" dirty="0">
                <a:solidFill>
                  <a:srgbClr val="FF0000"/>
                </a:solidFill>
              </a:rPr>
              <a:t>스타일이름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클래스명</a:t>
            </a:r>
            <a:endParaRPr lang="en-US" altLang="ko-KR" sz="2400" dirty="0" smtClean="0"/>
          </a:p>
          <a:p>
            <a:r>
              <a:rPr lang="ko-KR" altLang="en-US" sz="2400" dirty="0" smtClean="0"/>
              <a:t>을 </a:t>
            </a:r>
            <a:r>
              <a:rPr lang="ko-KR" altLang="en-US" sz="2400" dirty="0"/>
              <a:t>넣어준다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4. </a:t>
            </a:r>
            <a:r>
              <a:rPr lang="ko-KR" altLang="en-US" sz="2400" dirty="0"/>
              <a:t>레이블태그에 </a:t>
            </a:r>
            <a:r>
              <a:rPr lang="en-US" altLang="ko-KR" sz="2400" dirty="0"/>
              <a:t>class=</a:t>
            </a:r>
            <a:r>
              <a:rPr lang="en-US" altLang="ko-KR" sz="2400" dirty="0">
                <a:solidFill>
                  <a:srgbClr val="FF0000"/>
                </a:solidFill>
              </a:rPr>
              <a:t>"control-label"</a:t>
            </a:r>
            <a:r>
              <a:rPr lang="ko-KR" altLang="en-US" sz="2400" dirty="0"/>
              <a:t>을 부여하면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이 가지고 있는 </a:t>
            </a:r>
            <a:endParaRPr lang="en-US" altLang="ko-KR" sz="2400" dirty="0" smtClean="0"/>
          </a:p>
          <a:p>
            <a:r>
              <a:rPr lang="ko-KR" altLang="en-US" sz="2400" dirty="0" smtClean="0"/>
              <a:t>스타일을 </a:t>
            </a:r>
            <a:r>
              <a:rPr lang="ko-KR" altLang="en-US" sz="2400" dirty="0"/>
              <a:t>따라간다</a:t>
            </a:r>
            <a:r>
              <a:rPr lang="en-US" altLang="ko-KR" sz="2400" dirty="0"/>
              <a:t>.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 err="1" smtClean="0"/>
              <a:t>인라인</a:t>
            </a:r>
            <a:r>
              <a:rPr lang="ko-KR" altLang="en-US" sz="2400" dirty="0" smtClean="0"/>
              <a:t> 형식의 폼 스타일을 만들기 위해서는 </a:t>
            </a:r>
            <a:r>
              <a:rPr lang="en-US" altLang="ko-KR" sz="2400" dirty="0" smtClean="0"/>
              <a:t>form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.form-inline</a:t>
            </a:r>
            <a:r>
              <a:rPr lang="en-US" altLang="ko-KR" sz="2400" dirty="0" smtClean="0"/>
              <a:t> </a:t>
            </a:r>
          </a:p>
          <a:p>
            <a:r>
              <a:rPr lang="ko-KR" altLang="en-US" sz="2400" dirty="0" smtClean="0"/>
              <a:t>클래스명을 추가해 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287252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280276" y="2537459"/>
            <a:ext cx="24175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164065" y="3604150"/>
            <a:ext cx="2188597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029684" y="5800721"/>
            <a:ext cx="17622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390144" y="144381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43871" y="4724068"/>
            <a:ext cx="197985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63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98056" y="1012148"/>
            <a:ext cx="1116671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부트스트랩에서는 다양한 테이블 스타일을 지원하는데 </a:t>
            </a:r>
            <a:r>
              <a:rPr lang="en-US" altLang="ko-KR" sz="2400" dirty="0" smtClean="0"/>
              <a:t>&lt;table&gt;</a:t>
            </a:r>
            <a:r>
              <a:rPr lang="ko-KR" altLang="en-US" sz="2400" dirty="0" smtClean="0"/>
              <a:t>태그</a:t>
            </a:r>
            <a:endParaRPr lang="en-US" altLang="ko-KR" sz="2400" dirty="0" smtClean="0"/>
          </a:p>
          <a:p>
            <a:r>
              <a:rPr lang="ko-KR" altLang="en-US" sz="2400" dirty="0"/>
              <a:t>에 약간의 </a:t>
            </a:r>
            <a:r>
              <a:rPr lang="ko-KR" altLang="en-US" sz="2400" dirty="0" err="1"/>
              <a:t>패딩과</a:t>
            </a:r>
            <a:r>
              <a:rPr lang="ko-KR" altLang="en-US" sz="2400" dirty="0"/>
              <a:t> 수평 </a:t>
            </a:r>
            <a:r>
              <a:rPr lang="ko-KR" altLang="en-US" sz="2400" dirty="0" err="1"/>
              <a:t>구분선이</a:t>
            </a:r>
            <a:r>
              <a:rPr lang="ko-KR" altLang="en-US" sz="2400" dirty="0"/>
              <a:t> 있는 기본 </a:t>
            </a:r>
            <a:r>
              <a:rPr lang="ko-KR" altLang="en-US" sz="2400" dirty="0" smtClean="0"/>
              <a:t>스타일을 만들려면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</a:t>
            </a:r>
            <a:r>
              <a:rPr lang="en-US" altLang="ko-KR" sz="2400" dirty="0" smtClean="0"/>
              <a:t> </a:t>
            </a:r>
            <a:endParaRPr lang="en-US" altLang="ko-KR" sz="2400" dirty="0"/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반응형 테이블을 만들려면 </a:t>
            </a:r>
            <a:r>
              <a:rPr lang="en-US" altLang="ko-KR" sz="2400" dirty="0" smtClean="0"/>
              <a:t>table</a:t>
            </a:r>
            <a:r>
              <a:rPr lang="ko-KR" altLang="en-US" sz="2400" dirty="0" smtClean="0"/>
              <a:t>태그를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.table-responsive</a:t>
            </a:r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 </a:t>
            </a:r>
          </a:p>
          <a:p>
            <a:endParaRPr lang="en-US" altLang="ko-KR" sz="2400" dirty="0"/>
          </a:p>
          <a:p>
            <a:pPr marL="514350" indent="-514350">
              <a:buAutoNum type="arabicPeriod" startAt="3"/>
            </a:pPr>
            <a:r>
              <a:rPr lang="ko-KR" altLang="en-US" sz="2400" dirty="0"/>
              <a:t>입력창에 스타일을 주려면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클래스명에 </a:t>
            </a:r>
            <a:r>
              <a:rPr lang="en-US" altLang="ko-KR" sz="2400" dirty="0">
                <a:solidFill>
                  <a:srgbClr val="FF0000"/>
                </a:solidFill>
              </a:rPr>
              <a:t>has-</a:t>
            </a:r>
            <a:r>
              <a:rPr lang="ko-KR" altLang="en-US" sz="2400" dirty="0">
                <a:solidFill>
                  <a:srgbClr val="FF0000"/>
                </a:solidFill>
              </a:rPr>
              <a:t>스타일이름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클래스명</a:t>
            </a:r>
            <a:endParaRPr lang="en-US" altLang="ko-KR" sz="2400" dirty="0" smtClean="0"/>
          </a:p>
          <a:p>
            <a:r>
              <a:rPr lang="ko-KR" altLang="en-US" sz="2400" dirty="0" smtClean="0"/>
              <a:t>을 </a:t>
            </a:r>
            <a:r>
              <a:rPr lang="ko-KR" altLang="en-US" sz="2400" dirty="0"/>
              <a:t>넣어준다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4. </a:t>
            </a:r>
            <a:r>
              <a:rPr lang="ko-KR" altLang="en-US" sz="2400" dirty="0"/>
              <a:t>레이블태그에 </a:t>
            </a:r>
            <a:r>
              <a:rPr lang="en-US" altLang="ko-KR" sz="2400" dirty="0"/>
              <a:t>class=</a:t>
            </a:r>
            <a:r>
              <a:rPr lang="en-US" altLang="ko-KR" sz="2400" dirty="0">
                <a:solidFill>
                  <a:srgbClr val="FF0000"/>
                </a:solidFill>
              </a:rPr>
              <a:t>"control-label"</a:t>
            </a:r>
            <a:r>
              <a:rPr lang="ko-KR" altLang="en-US" sz="2400" dirty="0"/>
              <a:t>을 부여하면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이 가지고 있는 </a:t>
            </a:r>
            <a:endParaRPr lang="en-US" altLang="ko-KR" sz="2400" dirty="0" smtClean="0"/>
          </a:p>
          <a:p>
            <a:r>
              <a:rPr lang="ko-KR" altLang="en-US" sz="2400" dirty="0" smtClean="0"/>
              <a:t>스타일을 </a:t>
            </a:r>
            <a:r>
              <a:rPr lang="ko-KR" altLang="en-US" sz="2400" dirty="0"/>
              <a:t>따라간다</a:t>
            </a:r>
            <a:r>
              <a:rPr lang="en-US" altLang="ko-KR" sz="2400" dirty="0"/>
              <a:t>.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 err="1" smtClean="0"/>
              <a:t>인라인</a:t>
            </a:r>
            <a:r>
              <a:rPr lang="ko-KR" altLang="en-US" sz="2400" dirty="0" smtClean="0"/>
              <a:t> 형식의 폼 스타일을 만들기 위해서는 </a:t>
            </a:r>
            <a:r>
              <a:rPr lang="en-US" altLang="ko-KR" sz="2400" dirty="0" smtClean="0"/>
              <a:t>form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.form-inline</a:t>
            </a:r>
            <a:r>
              <a:rPr lang="en-US" altLang="ko-KR" sz="2400" dirty="0" smtClean="0"/>
              <a:t> </a:t>
            </a:r>
          </a:p>
          <a:p>
            <a:r>
              <a:rPr lang="ko-KR" altLang="en-US" sz="2400" dirty="0" smtClean="0"/>
              <a:t>클래스명을 추가해 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287252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280276" y="2537459"/>
            <a:ext cx="24175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176591" y="3629202"/>
            <a:ext cx="2188597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029684" y="5800721"/>
            <a:ext cx="176222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390144" y="144381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881241" y="4724068"/>
            <a:ext cx="197985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1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98056" y="1012148"/>
            <a:ext cx="1116671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부트스트랩에서는 다양한 테이블 스타일을 지원하는데 </a:t>
            </a:r>
            <a:r>
              <a:rPr lang="en-US" altLang="ko-KR" sz="2400" dirty="0" smtClean="0"/>
              <a:t>&lt;table&gt;</a:t>
            </a:r>
            <a:r>
              <a:rPr lang="ko-KR" altLang="en-US" sz="2400" dirty="0" smtClean="0"/>
              <a:t>태그</a:t>
            </a:r>
            <a:endParaRPr lang="en-US" altLang="ko-KR" sz="2400" dirty="0" smtClean="0"/>
          </a:p>
          <a:p>
            <a:r>
              <a:rPr lang="ko-KR" altLang="en-US" sz="2400" dirty="0"/>
              <a:t>에 약간의 </a:t>
            </a:r>
            <a:r>
              <a:rPr lang="ko-KR" altLang="en-US" sz="2400" dirty="0" err="1"/>
              <a:t>패딩과</a:t>
            </a:r>
            <a:r>
              <a:rPr lang="ko-KR" altLang="en-US" sz="2400" dirty="0"/>
              <a:t> 수평 </a:t>
            </a:r>
            <a:r>
              <a:rPr lang="ko-KR" altLang="en-US" sz="2400" dirty="0" err="1"/>
              <a:t>구분선이</a:t>
            </a:r>
            <a:r>
              <a:rPr lang="ko-KR" altLang="en-US" sz="2400" dirty="0"/>
              <a:t> 있는 기본 </a:t>
            </a:r>
            <a:r>
              <a:rPr lang="ko-KR" altLang="en-US" sz="2400" dirty="0" smtClean="0"/>
              <a:t>스타일을 만들려면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</a:t>
            </a:r>
            <a:r>
              <a:rPr lang="en-US" altLang="ko-KR" sz="2400" dirty="0" smtClean="0"/>
              <a:t> </a:t>
            </a:r>
            <a:endParaRPr lang="en-US" altLang="ko-KR" sz="2400" dirty="0"/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반응형 테이블을 만들려면 </a:t>
            </a:r>
            <a:r>
              <a:rPr lang="en-US" altLang="ko-KR" sz="2400" dirty="0" smtClean="0"/>
              <a:t>table</a:t>
            </a:r>
            <a:r>
              <a:rPr lang="ko-KR" altLang="en-US" sz="2400" dirty="0" smtClean="0"/>
              <a:t>태그를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.table-responsive</a:t>
            </a:r>
          </a:p>
          <a:p>
            <a:r>
              <a:rPr lang="ko-KR" altLang="en-US" sz="2400" dirty="0" smtClean="0"/>
              <a:t>클래스를 추가한다</a:t>
            </a:r>
            <a:r>
              <a:rPr lang="en-US" altLang="ko-KR" sz="2400" dirty="0" smtClean="0"/>
              <a:t>. </a:t>
            </a:r>
          </a:p>
          <a:p>
            <a:endParaRPr lang="en-US" altLang="ko-KR" sz="2400" dirty="0"/>
          </a:p>
          <a:p>
            <a:pPr marL="514350" indent="-514350">
              <a:buAutoNum type="arabicPeriod" startAt="3"/>
            </a:pPr>
            <a:r>
              <a:rPr lang="ko-KR" altLang="en-US" sz="2400" dirty="0"/>
              <a:t>입력창에 스타일을 주려면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클래스명에 </a:t>
            </a:r>
            <a:r>
              <a:rPr lang="en-US" altLang="ko-KR" sz="2400" dirty="0">
                <a:solidFill>
                  <a:srgbClr val="FF0000"/>
                </a:solidFill>
              </a:rPr>
              <a:t>has-</a:t>
            </a:r>
            <a:r>
              <a:rPr lang="ko-KR" altLang="en-US" sz="2400" dirty="0">
                <a:solidFill>
                  <a:srgbClr val="FF0000"/>
                </a:solidFill>
              </a:rPr>
              <a:t>스타일이름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클래스명</a:t>
            </a:r>
            <a:endParaRPr lang="en-US" altLang="ko-KR" sz="2400" dirty="0" smtClean="0"/>
          </a:p>
          <a:p>
            <a:r>
              <a:rPr lang="ko-KR" altLang="en-US" sz="2400" dirty="0" smtClean="0"/>
              <a:t>을 </a:t>
            </a:r>
            <a:r>
              <a:rPr lang="ko-KR" altLang="en-US" sz="2400" dirty="0"/>
              <a:t>넣어준다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4. </a:t>
            </a:r>
            <a:r>
              <a:rPr lang="ko-KR" altLang="en-US" sz="2400" dirty="0"/>
              <a:t>레이블태그에 </a:t>
            </a:r>
            <a:r>
              <a:rPr lang="en-US" altLang="ko-KR" sz="2400" dirty="0"/>
              <a:t>class=</a:t>
            </a:r>
            <a:r>
              <a:rPr lang="en-US" altLang="ko-KR" sz="2400" dirty="0">
                <a:solidFill>
                  <a:srgbClr val="FF0000"/>
                </a:solidFill>
              </a:rPr>
              <a:t>"control-label"</a:t>
            </a:r>
            <a:r>
              <a:rPr lang="ko-KR" altLang="en-US" sz="2400" dirty="0"/>
              <a:t>을 부여하면 </a:t>
            </a:r>
            <a:r>
              <a:rPr lang="en-US" altLang="ko-KR" sz="2400" dirty="0"/>
              <a:t>form-group</a:t>
            </a:r>
            <a:r>
              <a:rPr lang="ko-KR" altLang="en-US" sz="2400" dirty="0"/>
              <a:t>이 가지고 있는 </a:t>
            </a:r>
            <a:endParaRPr lang="en-US" altLang="ko-KR" sz="2400" dirty="0" smtClean="0"/>
          </a:p>
          <a:p>
            <a:r>
              <a:rPr lang="ko-KR" altLang="en-US" sz="2400" dirty="0" smtClean="0"/>
              <a:t>스타일을 </a:t>
            </a:r>
            <a:r>
              <a:rPr lang="ko-KR" altLang="en-US" sz="2400" dirty="0"/>
              <a:t>따라간다</a:t>
            </a:r>
            <a:r>
              <a:rPr lang="en-US" altLang="ko-KR" sz="2400" dirty="0"/>
              <a:t>.</a:t>
            </a:r>
            <a:endParaRPr lang="en-US" altLang="ko-KR" sz="2400" dirty="0" smtClean="0"/>
          </a:p>
          <a:p>
            <a:endParaRPr lang="en-US" altLang="ko-KR" sz="2400" dirty="0"/>
          </a:p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 err="1" smtClean="0"/>
              <a:t>인라인</a:t>
            </a:r>
            <a:r>
              <a:rPr lang="ko-KR" altLang="en-US" sz="2400" dirty="0" smtClean="0"/>
              <a:t> 형식의 폼 스타일을 만들기 위해서는 </a:t>
            </a:r>
            <a:r>
              <a:rPr lang="en-US" altLang="ko-KR" sz="2400" dirty="0" smtClean="0"/>
              <a:t>form</a:t>
            </a:r>
            <a:r>
              <a:rPr lang="ko-KR" altLang="en-US" sz="2400" dirty="0" smtClean="0"/>
              <a:t>태그에 </a:t>
            </a:r>
            <a:r>
              <a:rPr lang="en-US" altLang="ko-KR" sz="2400" dirty="0" smtClean="0">
                <a:solidFill>
                  <a:srgbClr val="FF0000"/>
                </a:solidFill>
              </a:rPr>
              <a:t>.form-inline</a:t>
            </a:r>
            <a:r>
              <a:rPr lang="en-US" altLang="ko-KR" sz="2400" dirty="0" smtClean="0"/>
              <a:t> </a:t>
            </a:r>
          </a:p>
          <a:p>
            <a:r>
              <a:rPr lang="ko-KR" altLang="en-US" sz="2400" dirty="0" smtClean="0"/>
              <a:t>클래스명을 추가해 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287252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8280276" y="2537459"/>
            <a:ext cx="241754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176591" y="3629202"/>
            <a:ext cx="2188597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029684" y="5800721"/>
            <a:ext cx="176222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390144" y="1443816"/>
            <a:ext cx="90878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43871" y="4724068"/>
            <a:ext cx="197985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66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JAVASCRIPT</a:t>
            </a:r>
            <a:endParaRPr lang="ko-KR" altLang="en-US"/>
          </a:p>
        </p:txBody>
      </p:sp>
      <p:pic>
        <p:nvPicPr>
          <p:cNvPr id="3075" name="Picture 3" descr="D:\camtasia\end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57" y="1702699"/>
            <a:ext cx="31718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49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667</Words>
  <Application>Microsoft Office PowerPoint</Application>
  <PresentationFormat>사용자 지정</PresentationFormat>
  <Paragraphs>148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JAVASCRIPT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Bootstrap</dc:title>
  <dc:creator>Media4th</dc:creator>
  <cp:lastModifiedBy>Windows 사용자</cp:lastModifiedBy>
  <cp:revision>143</cp:revision>
  <dcterms:created xsi:type="dcterms:W3CDTF">2014-03-13T01:44:49Z</dcterms:created>
  <dcterms:modified xsi:type="dcterms:W3CDTF">2020-04-17T00:30:28Z</dcterms:modified>
</cp:coreProperties>
</file>