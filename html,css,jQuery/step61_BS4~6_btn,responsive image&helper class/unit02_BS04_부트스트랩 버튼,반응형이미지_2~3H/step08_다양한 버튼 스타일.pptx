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89" r:id="rId2"/>
    <p:sldId id="288" r:id="rId3"/>
    <p:sldId id="378" r:id="rId4"/>
    <p:sldId id="407" r:id="rId5"/>
    <p:sldId id="408" r:id="rId6"/>
    <p:sldId id="401" r:id="rId7"/>
    <p:sldId id="375" r:id="rId8"/>
    <p:sldId id="409" r:id="rId9"/>
    <p:sldId id="410" r:id="rId10"/>
    <p:sldId id="411" r:id="rId11"/>
    <p:sldId id="412" r:id="rId12"/>
    <p:sldId id="413" r:id="rId13"/>
    <p:sldId id="414" r:id="rId14"/>
    <p:sldId id="294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66"/>
    <a:srgbClr val="0000FF"/>
    <a:srgbClr val="CC3399"/>
    <a:srgbClr val="FF9900"/>
    <a:srgbClr val="C04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 autoAdjust="0"/>
    <p:restoredTop sz="94660"/>
  </p:normalViewPr>
  <p:slideViewPr>
    <p:cSldViewPr snapToGrid="0">
      <p:cViewPr varScale="1">
        <p:scale>
          <a:sx n="89" d="100"/>
          <a:sy n="89" d="100"/>
        </p:scale>
        <p:origin x="-114" y="-4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021E93-87BE-444D-9E3B-7A43E638A883}" type="datetimeFigureOut">
              <a:rPr lang="ko-KR" altLang="en-US" smtClean="0"/>
              <a:pPr/>
              <a:t>2020-04-18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67AE7-43DC-4FA6-90CC-7E01D7BED6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240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B3E7D-C6EA-460E-9C03-0FEF5569814C}" type="datetime1">
              <a:rPr lang="ko-KR" altLang="en-US" smtClean="0"/>
              <a:pPr/>
              <a:t>2020-04-18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6" name="Picture 3" descr="C:\Users\User\Desktop\kimssamclass_logo2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824520" y="118538"/>
            <a:ext cx="1210963" cy="400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50847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F08F-FA07-4967-ACE1-67A6EE72D9D1}" type="datetime1">
              <a:rPr lang="ko-KR" altLang="en-US" smtClean="0"/>
              <a:pPr/>
              <a:t>2020-04-18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84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FE15-A5D5-400D-B921-C7A942F817AD}" type="datetime1">
              <a:rPr lang="ko-KR" altLang="en-US" smtClean="0"/>
              <a:pPr/>
              <a:t>2020-04-18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0F109-416E-4491-8EA6-DD46932089EE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7" name="Picture 3" descr="C:\Users\User\Desktop\kimssamclass_logo2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824520" y="118538"/>
            <a:ext cx="1210963" cy="400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565172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F489-3674-4527-BDFF-4123E00D45F2}" type="datetime1">
              <a:rPr lang="ko-KR" altLang="en-US" smtClean="0"/>
              <a:pPr/>
              <a:t>2020-04-18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0F109-416E-4491-8EA6-DD46932089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5172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79D00E-D773-49E7-AC7F-F8555A1FE3EA}" type="datetime1">
              <a:rPr lang="ko-KR" altLang="en-US" smtClean="0"/>
              <a:pPr/>
              <a:t>2020-04-18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5BC98-553E-45DD-9F6C-B6C341F9C33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423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672553" y="6379907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나눔바른고딕" pitchFamily="50" charset="-127"/>
                <a:ea typeface="나눔바른고딕" pitchFamily="50" charset="-127"/>
              </a:rPr>
              <a:t>김세지 강사</a:t>
            </a:r>
            <a:endParaRPr lang="ko-KR" altLang="en-US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94081" y="2457618"/>
            <a:ext cx="95333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dirty="0" smtClean="0">
                <a:latin typeface="나눔바른고딕" pitchFamily="50" charset="-127"/>
                <a:ea typeface="나눔바른고딕" pitchFamily="50" charset="-127"/>
              </a:rPr>
              <a:t>부트스트랩을 활용한 반응형 웹 만들기</a:t>
            </a:r>
            <a:endParaRPr lang="ko-KR" altLang="en-US" sz="4800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10" name="Picture 4" descr="C:\Users\User\Desktop\logo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2415" y="1634290"/>
            <a:ext cx="3355975" cy="1079500"/>
          </a:xfrm>
          <a:prstGeom prst="rect">
            <a:avLst/>
          </a:prstGeom>
          <a:noFill/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31" y="3462383"/>
            <a:ext cx="2768469" cy="1471332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685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055186" y="2202499"/>
            <a:ext cx="815800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smtClean="0">
                <a:latin typeface="나눔바른고딕" pitchFamily="50" charset="-127"/>
                <a:ea typeface="나눔바른고딕" pitchFamily="50" charset="-127"/>
              </a:rPr>
              <a:t>STEP </a:t>
            </a:r>
            <a:r>
              <a:rPr lang="en-US" altLang="ko-KR" sz="3600" smtClean="0">
                <a:latin typeface="나눔바른고딕" pitchFamily="50" charset="-127"/>
                <a:ea typeface="나눔바른고딕" pitchFamily="50" charset="-127"/>
              </a:rPr>
              <a:t>05</a:t>
            </a:r>
            <a:endParaRPr lang="en-US" altLang="ko-KR" sz="3600" dirty="0" smtClean="0">
              <a:latin typeface="나눔바른고딕" pitchFamily="50" charset="-127"/>
              <a:ea typeface="나눔바른고딕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4800" dirty="0" smtClean="0">
                <a:latin typeface="나눔바른고딕" pitchFamily="50" charset="-127"/>
                <a:ea typeface="나눔바른고딕" pitchFamily="50" charset="-127"/>
              </a:rPr>
              <a:t>부트스트랩의 다양한 버튼스타일</a:t>
            </a:r>
            <a:endParaRPr lang="en-US" altLang="ko-KR" sz="4000" dirty="0" smtClean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721341" y="329781"/>
            <a:ext cx="705706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부트스트랩의 다양한 버튼 스타일</a:t>
            </a:r>
            <a:endParaRPr lang="en-US" altLang="ko-KR" sz="3200" dirty="0" smtClean="0">
              <a:latin typeface="나눔바른고딕" pitchFamily="50" charset="-127"/>
              <a:ea typeface="나눔바른고딕" pitchFamily="50" charset="-127"/>
            </a:endParaRPr>
          </a:p>
          <a:p>
            <a:pPr algn="ctr"/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http://bootstrapk.com/css/#buttons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1026" name="Picture 2" descr="E:\☆lecture\unit05_BS05부트스트랩 폼태그와 버튼스타일,반응형이미지,도움클래스_1~3H\02_버튼 스타일의 활용.png"/>
          <p:cNvPicPr>
            <a:picLocks noChangeAspect="1" noChangeArrowheads="1"/>
          </p:cNvPicPr>
          <p:nvPr/>
        </p:nvPicPr>
        <p:blipFill>
          <a:blip r:embed="rId2"/>
          <a:srcRect l="330" t="224" r="41639" b="68190"/>
          <a:stretch>
            <a:fillRect/>
          </a:stretch>
        </p:blipFill>
        <p:spPr bwMode="auto">
          <a:xfrm>
            <a:off x="489097" y="1903231"/>
            <a:ext cx="11204240" cy="3894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4</a:t>
            </a:fld>
            <a:endParaRPr lang="ko-KR" altLang="en-US"/>
          </a:p>
        </p:txBody>
      </p:sp>
      <p:pic>
        <p:nvPicPr>
          <p:cNvPr id="1026" name="Picture 2" descr="E:\☆lecture\unit05_BS05부트스트랩 폼태그와 버튼스타일,반응형이미지,도움클래스_1~3H\02_버튼 스타일의 활용.png"/>
          <p:cNvPicPr>
            <a:picLocks noChangeAspect="1" noChangeArrowheads="1"/>
          </p:cNvPicPr>
          <p:nvPr/>
        </p:nvPicPr>
        <p:blipFill>
          <a:blip r:embed="rId2"/>
          <a:srcRect l="379" t="32023" r="213" b="50176"/>
          <a:stretch>
            <a:fillRect/>
          </a:stretch>
        </p:blipFill>
        <p:spPr bwMode="auto">
          <a:xfrm>
            <a:off x="361504" y="2644262"/>
            <a:ext cx="11557360" cy="1321684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2721341" y="329781"/>
            <a:ext cx="705706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부트스트랩의 다양한 버튼 스타일</a:t>
            </a:r>
            <a:endParaRPr lang="en-US" altLang="ko-KR" sz="3200" dirty="0" smtClean="0">
              <a:latin typeface="나눔바른고딕" pitchFamily="50" charset="-127"/>
              <a:ea typeface="나눔바른고딕" pitchFamily="50" charset="-127"/>
            </a:endParaRPr>
          </a:p>
          <a:p>
            <a:pPr algn="ctr"/>
            <a:r>
              <a:rPr lang="en-US" altLang="ko-KR" sz="3200" dirty="0" smtClean="0">
                <a:latin typeface="나눔바른고딕" pitchFamily="50" charset="-127"/>
                <a:ea typeface="나눔바른고딕" pitchFamily="50" charset="-127"/>
              </a:rPr>
              <a:t>http://bootstrapk.com/css/#buttons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10" name="타원형 설명선 3"/>
          <p:cNvSpPr/>
          <p:nvPr/>
        </p:nvSpPr>
        <p:spPr>
          <a:xfrm rot="826279">
            <a:off x="7089449" y="4062539"/>
            <a:ext cx="1822646" cy="1329482"/>
          </a:xfrm>
          <a:custGeom>
            <a:avLst/>
            <a:gdLst>
              <a:gd name="connsiteX0" fmla="*/ 587327 w 2013670"/>
              <a:gd name="connsiteY0" fmla="*/ 1534026 h 1363579"/>
              <a:gd name="connsiteX1" fmla="*/ 512045 w 2013670"/>
              <a:gd name="connsiteY1" fmla="*/ 1275571 h 1363579"/>
              <a:gd name="connsiteX2" fmla="*/ 274578 w 2013670"/>
              <a:gd name="connsiteY2" fmla="*/ 213853 h 1363579"/>
              <a:gd name="connsiteX3" fmla="*/ 1314476 w 2013670"/>
              <a:gd name="connsiteY3" fmla="*/ 32605 h 1363579"/>
              <a:gd name="connsiteX4" fmla="*/ 1913251 w 2013670"/>
              <a:gd name="connsiteY4" fmla="*/ 978605 h 1363579"/>
              <a:gd name="connsiteX5" fmla="*/ 876555 w 2013670"/>
              <a:gd name="connsiteY5" fmla="*/ 1357847 h 1363579"/>
              <a:gd name="connsiteX6" fmla="*/ 587327 w 2013670"/>
              <a:gd name="connsiteY6" fmla="*/ 1534026 h 1363579"/>
              <a:gd name="connsiteX0" fmla="*/ 645045 w 2071813"/>
              <a:gd name="connsiteY0" fmla="*/ 1530642 h 1530642"/>
              <a:gd name="connsiteX1" fmla="*/ 282578 w 2071813"/>
              <a:gd name="connsiteY1" fmla="*/ 1039980 h 1530642"/>
              <a:gd name="connsiteX2" fmla="*/ 332296 w 2071813"/>
              <a:gd name="connsiteY2" fmla="*/ 210469 h 1530642"/>
              <a:gd name="connsiteX3" fmla="*/ 1372194 w 2071813"/>
              <a:gd name="connsiteY3" fmla="*/ 29221 h 1530642"/>
              <a:gd name="connsiteX4" fmla="*/ 1970969 w 2071813"/>
              <a:gd name="connsiteY4" fmla="*/ 975221 h 1530642"/>
              <a:gd name="connsiteX5" fmla="*/ 934273 w 2071813"/>
              <a:gd name="connsiteY5" fmla="*/ 1354463 h 1530642"/>
              <a:gd name="connsiteX6" fmla="*/ 645045 w 2071813"/>
              <a:gd name="connsiteY6" fmla="*/ 1530642 h 1530642"/>
              <a:gd name="connsiteX0" fmla="*/ 595291 w 2022059"/>
              <a:gd name="connsiteY0" fmla="*/ 1532165 h 1532165"/>
              <a:gd name="connsiteX1" fmla="*/ 301928 w 2022059"/>
              <a:gd name="connsiteY1" fmla="*/ 1104547 h 1532165"/>
              <a:gd name="connsiteX2" fmla="*/ 282542 w 2022059"/>
              <a:gd name="connsiteY2" fmla="*/ 211992 h 1532165"/>
              <a:gd name="connsiteX3" fmla="*/ 1322440 w 2022059"/>
              <a:gd name="connsiteY3" fmla="*/ 30744 h 1532165"/>
              <a:gd name="connsiteX4" fmla="*/ 1921215 w 2022059"/>
              <a:gd name="connsiteY4" fmla="*/ 976744 h 1532165"/>
              <a:gd name="connsiteX5" fmla="*/ 884519 w 2022059"/>
              <a:gd name="connsiteY5" fmla="*/ 1355986 h 1532165"/>
              <a:gd name="connsiteX6" fmla="*/ 595291 w 2022059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810660 w 1948200"/>
              <a:gd name="connsiteY5" fmla="*/ 1355986 h 1532165"/>
              <a:gd name="connsiteX6" fmla="*/ 521432 w 1948200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425095 w 1948200"/>
              <a:gd name="connsiteY5" fmla="*/ 1186712 h 1532165"/>
              <a:gd name="connsiteX6" fmla="*/ 521432 w 1948200"/>
              <a:gd name="connsiteY6" fmla="*/ 1532165 h 15321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234249 w 1948200"/>
              <a:gd name="connsiteY0" fmla="*/ 1299958 h 1299958"/>
              <a:gd name="connsiteX1" fmla="*/ 228069 w 1948200"/>
              <a:gd name="connsiteY1" fmla="*/ 1104547 h 1299958"/>
              <a:gd name="connsiteX2" fmla="*/ 208683 w 1948200"/>
              <a:gd name="connsiteY2" fmla="*/ 211992 h 1299958"/>
              <a:gd name="connsiteX3" fmla="*/ 1248581 w 1948200"/>
              <a:gd name="connsiteY3" fmla="*/ 30744 h 1299958"/>
              <a:gd name="connsiteX4" fmla="*/ 1847356 w 1948200"/>
              <a:gd name="connsiteY4" fmla="*/ 976744 h 1299958"/>
              <a:gd name="connsiteX5" fmla="*/ 425095 w 1948200"/>
              <a:gd name="connsiteY5" fmla="*/ 1186712 h 1299958"/>
              <a:gd name="connsiteX6" fmla="*/ 234249 w 1948200"/>
              <a:gd name="connsiteY6" fmla="*/ 1299958 h 1299958"/>
              <a:gd name="connsiteX0" fmla="*/ 241017 w 1954968"/>
              <a:gd name="connsiteY0" fmla="*/ 1314823 h 1314823"/>
              <a:gd name="connsiteX1" fmla="*/ 234837 w 1954968"/>
              <a:gd name="connsiteY1" fmla="*/ 1119412 h 1314823"/>
              <a:gd name="connsiteX2" fmla="*/ 215451 w 1954968"/>
              <a:gd name="connsiteY2" fmla="*/ 226857 h 1314823"/>
              <a:gd name="connsiteX3" fmla="*/ 1255349 w 1954968"/>
              <a:gd name="connsiteY3" fmla="*/ 45609 h 1314823"/>
              <a:gd name="connsiteX4" fmla="*/ 1854124 w 1954968"/>
              <a:gd name="connsiteY4" fmla="*/ 991609 h 1314823"/>
              <a:gd name="connsiteX5" fmla="*/ 431863 w 1954968"/>
              <a:gd name="connsiteY5" fmla="*/ 1201577 h 1314823"/>
              <a:gd name="connsiteX6" fmla="*/ 241017 w 1954968"/>
              <a:gd name="connsiteY6" fmla="*/ 1314823 h 1314823"/>
              <a:gd name="connsiteX0" fmla="*/ 237209 w 1961323"/>
              <a:gd name="connsiteY0" fmla="*/ 1329482 h 1329482"/>
              <a:gd name="connsiteX1" fmla="*/ 231029 w 1961323"/>
              <a:gd name="connsiteY1" fmla="*/ 1134071 h 1329482"/>
              <a:gd name="connsiteX2" fmla="*/ 211643 w 1961323"/>
              <a:gd name="connsiteY2" fmla="*/ 241516 h 1329482"/>
              <a:gd name="connsiteX3" fmla="*/ 1308416 w 1961323"/>
              <a:gd name="connsiteY3" fmla="*/ 26501 h 1329482"/>
              <a:gd name="connsiteX4" fmla="*/ 1850316 w 1961323"/>
              <a:gd name="connsiteY4" fmla="*/ 1006268 h 1329482"/>
              <a:gd name="connsiteX5" fmla="*/ 428055 w 1961323"/>
              <a:gd name="connsiteY5" fmla="*/ 1216236 h 1329482"/>
              <a:gd name="connsiteX6" fmla="*/ 237209 w 1961323"/>
              <a:gd name="connsiteY6" fmla="*/ 1329482 h 1329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61323" h="1329482">
                <a:moveTo>
                  <a:pt x="237209" y="1329482"/>
                </a:moveTo>
                <a:cubicBezTo>
                  <a:pt x="212115" y="1243330"/>
                  <a:pt x="256123" y="1220223"/>
                  <a:pt x="231029" y="1134071"/>
                </a:cubicBezTo>
                <a:cubicBezTo>
                  <a:pt x="-166420" y="764404"/>
                  <a:pt x="32079" y="426111"/>
                  <a:pt x="211643" y="241516"/>
                </a:cubicBezTo>
                <a:cubicBezTo>
                  <a:pt x="391207" y="56921"/>
                  <a:pt x="939163" y="-53738"/>
                  <a:pt x="1308416" y="26501"/>
                </a:cubicBezTo>
                <a:cubicBezTo>
                  <a:pt x="1891054" y="153108"/>
                  <a:pt x="2116706" y="633238"/>
                  <a:pt x="1850316" y="1006268"/>
                </a:cubicBezTo>
                <a:cubicBezTo>
                  <a:pt x="1661473" y="1270707"/>
                  <a:pt x="1060894" y="1428008"/>
                  <a:pt x="428055" y="1216236"/>
                </a:cubicBezTo>
                <a:lnTo>
                  <a:pt x="237209" y="1329482"/>
                </a:ln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반응형 테이블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도 있어요</a:t>
            </a:r>
            <a:endParaRPr lang="ko-KR" altLang="en-US" dirty="0"/>
          </a:p>
        </p:txBody>
      </p:sp>
      <p:pic>
        <p:nvPicPr>
          <p:cNvPr id="1026" name="Picture 2" descr="E:\☆lecture\unit05_BS05부트스트랩 폼태그와 버튼스타일,반응형이미지,도움클래스_1~3H\02_버튼 스타일의 활용.png"/>
          <p:cNvPicPr>
            <a:picLocks noChangeAspect="1" noChangeArrowheads="1"/>
          </p:cNvPicPr>
          <p:nvPr/>
        </p:nvPicPr>
        <p:blipFill>
          <a:blip r:embed="rId2"/>
          <a:srcRect l="377" t="49453" r="92"/>
          <a:stretch>
            <a:fillRect/>
          </a:stretch>
        </p:blipFill>
        <p:spPr bwMode="auto">
          <a:xfrm>
            <a:off x="173706" y="1842639"/>
            <a:ext cx="11890698" cy="3856416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488023" y="329781"/>
            <a:ext cx="95236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부트스트랩의 다양한 버튼 스타일</a:t>
            </a:r>
            <a:endParaRPr lang="en-US" altLang="ko-KR" sz="3200" dirty="0" smtClean="0">
              <a:latin typeface="나눔바른고딕" pitchFamily="50" charset="-127"/>
              <a:ea typeface="나눔바른고딕" pitchFamily="50" charset="-127"/>
            </a:endParaRPr>
          </a:p>
          <a:p>
            <a:pPr algn="ctr"/>
            <a:r>
              <a:rPr lang="en-US" altLang="ko-KR" sz="3200" dirty="0">
                <a:latin typeface="나눔바른고딕" pitchFamily="50" charset="-127"/>
                <a:ea typeface="나눔바른고딕" pitchFamily="50" charset="-127"/>
              </a:rPr>
              <a:t>http://bootstrapk.com/components/#btn-groups</a:t>
            </a:r>
            <a:endParaRPr lang="ko-KR" altLang="en-US" sz="3200" dirty="0">
              <a:latin typeface="나눔바른고딕" pitchFamily="50" charset="-127"/>
              <a:ea typeface="나눔바른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18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778054" y="601058"/>
            <a:ext cx="28344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 smtClean="0">
                <a:latin typeface="나눔바른고딕" pitchFamily="50" charset="-127"/>
                <a:ea typeface="나눔바른고딕" pitchFamily="50" charset="-127"/>
              </a:rPr>
              <a:t>반응형 레이아웃</a:t>
            </a:r>
            <a:endParaRPr lang="en-US" altLang="ko-KR" sz="3200" dirty="0" smtClean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11" name="타원형 설명선 3"/>
          <p:cNvSpPr/>
          <p:nvPr/>
        </p:nvSpPr>
        <p:spPr>
          <a:xfrm rot="20600296" flipH="1">
            <a:off x="655190" y="329466"/>
            <a:ext cx="1961323" cy="1329482"/>
          </a:xfrm>
          <a:custGeom>
            <a:avLst/>
            <a:gdLst>
              <a:gd name="connsiteX0" fmla="*/ 587327 w 2013670"/>
              <a:gd name="connsiteY0" fmla="*/ 1534026 h 1363579"/>
              <a:gd name="connsiteX1" fmla="*/ 512045 w 2013670"/>
              <a:gd name="connsiteY1" fmla="*/ 1275571 h 1363579"/>
              <a:gd name="connsiteX2" fmla="*/ 274578 w 2013670"/>
              <a:gd name="connsiteY2" fmla="*/ 213853 h 1363579"/>
              <a:gd name="connsiteX3" fmla="*/ 1314476 w 2013670"/>
              <a:gd name="connsiteY3" fmla="*/ 32605 h 1363579"/>
              <a:gd name="connsiteX4" fmla="*/ 1913251 w 2013670"/>
              <a:gd name="connsiteY4" fmla="*/ 978605 h 1363579"/>
              <a:gd name="connsiteX5" fmla="*/ 876555 w 2013670"/>
              <a:gd name="connsiteY5" fmla="*/ 1357847 h 1363579"/>
              <a:gd name="connsiteX6" fmla="*/ 587327 w 2013670"/>
              <a:gd name="connsiteY6" fmla="*/ 1534026 h 1363579"/>
              <a:gd name="connsiteX0" fmla="*/ 645045 w 2071813"/>
              <a:gd name="connsiteY0" fmla="*/ 1530642 h 1530642"/>
              <a:gd name="connsiteX1" fmla="*/ 282578 w 2071813"/>
              <a:gd name="connsiteY1" fmla="*/ 1039980 h 1530642"/>
              <a:gd name="connsiteX2" fmla="*/ 332296 w 2071813"/>
              <a:gd name="connsiteY2" fmla="*/ 210469 h 1530642"/>
              <a:gd name="connsiteX3" fmla="*/ 1372194 w 2071813"/>
              <a:gd name="connsiteY3" fmla="*/ 29221 h 1530642"/>
              <a:gd name="connsiteX4" fmla="*/ 1970969 w 2071813"/>
              <a:gd name="connsiteY4" fmla="*/ 975221 h 1530642"/>
              <a:gd name="connsiteX5" fmla="*/ 934273 w 2071813"/>
              <a:gd name="connsiteY5" fmla="*/ 1354463 h 1530642"/>
              <a:gd name="connsiteX6" fmla="*/ 645045 w 2071813"/>
              <a:gd name="connsiteY6" fmla="*/ 1530642 h 1530642"/>
              <a:gd name="connsiteX0" fmla="*/ 595291 w 2022059"/>
              <a:gd name="connsiteY0" fmla="*/ 1532165 h 1532165"/>
              <a:gd name="connsiteX1" fmla="*/ 301928 w 2022059"/>
              <a:gd name="connsiteY1" fmla="*/ 1104547 h 1532165"/>
              <a:gd name="connsiteX2" fmla="*/ 282542 w 2022059"/>
              <a:gd name="connsiteY2" fmla="*/ 211992 h 1532165"/>
              <a:gd name="connsiteX3" fmla="*/ 1322440 w 2022059"/>
              <a:gd name="connsiteY3" fmla="*/ 30744 h 1532165"/>
              <a:gd name="connsiteX4" fmla="*/ 1921215 w 2022059"/>
              <a:gd name="connsiteY4" fmla="*/ 976744 h 1532165"/>
              <a:gd name="connsiteX5" fmla="*/ 884519 w 2022059"/>
              <a:gd name="connsiteY5" fmla="*/ 1355986 h 1532165"/>
              <a:gd name="connsiteX6" fmla="*/ 595291 w 2022059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810660 w 1948200"/>
              <a:gd name="connsiteY5" fmla="*/ 1355986 h 1532165"/>
              <a:gd name="connsiteX6" fmla="*/ 521432 w 1948200"/>
              <a:gd name="connsiteY6" fmla="*/ 1532165 h 1532165"/>
              <a:gd name="connsiteX0" fmla="*/ 521432 w 1948200"/>
              <a:gd name="connsiteY0" fmla="*/ 1532165 h 1532165"/>
              <a:gd name="connsiteX1" fmla="*/ 228069 w 1948200"/>
              <a:gd name="connsiteY1" fmla="*/ 1104547 h 1532165"/>
              <a:gd name="connsiteX2" fmla="*/ 208683 w 1948200"/>
              <a:gd name="connsiteY2" fmla="*/ 211992 h 1532165"/>
              <a:gd name="connsiteX3" fmla="*/ 1248581 w 1948200"/>
              <a:gd name="connsiteY3" fmla="*/ 30744 h 1532165"/>
              <a:gd name="connsiteX4" fmla="*/ 1847356 w 1948200"/>
              <a:gd name="connsiteY4" fmla="*/ 976744 h 1532165"/>
              <a:gd name="connsiteX5" fmla="*/ 425095 w 1948200"/>
              <a:gd name="connsiteY5" fmla="*/ 1186712 h 1532165"/>
              <a:gd name="connsiteX6" fmla="*/ 521432 w 1948200"/>
              <a:gd name="connsiteY6" fmla="*/ 1532165 h 15321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123529 w 1948200"/>
              <a:gd name="connsiteY0" fmla="*/ 1433565 h 1433565"/>
              <a:gd name="connsiteX1" fmla="*/ 228069 w 1948200"/>
              <a:gd name="connsiteY1" fmla="*/ 1104547 h 1433565"/>
              <a:gd name="connsiteX2" fmla="*/ 208683 w 1948200"/>
              <a:gd name="connsiteY2" fmla="*/ 211992 h 1433565"/>
              <a:gd name="connsiteX3" fmla="*/ 1248581 w 1948200"/>
              <a:gd name="connsiteY3" fmla="*/ 30744 h 1433565"/>
              <a:gd name="connsiteX4" fmla="*/ 1847356 w 1948200"/>
              <a:gd name="connsiteY4" fmla="*/ 976744 h 1433565"/>
              <a:gd name="connsiteX5" fmla="*/ 425095 w 1948200"/>
              <a:gd name="connsiteY5" fmla="*/ 1186712 h 1433565"/>
              <a:gd name="connsiteX6" fmla="*/ 123529 w 1948200"/>
              <a:gd name="connsiteY6" fmla="*/ 1433565 h 1433565"/>
              <a:gd name="connsiteX0" fmla="*/ 234249 w 1948200"/>
              <a:gd name="connsiteY0" fmla="*/ 1299958 h 1299958"/>
              <a:gd name="connsiteX1" fmla="*/ 228069 w 1948200"/>
              <a:gd name="connsiteY1" fmla="*/ 1104547 h 1299958"/>
              <a:gd name="connsiteX2" fmla="*/ 208683 w 1948200"/>
              <a:gd name="connsiteY2" fmla="*/ 211992 h 1299958"/>
              <a:gd name="connsiteX3" fmla="*/ 1248581 w 1948200"/>
              <a:gd name="connsiteY3" fmla="*/ 30744 h 1299958"/>
              <a:gd name="connsiteX4" fmla="*/ 1847356 w 1948200"/>
              <a:gd name="connsiteY4" fmla="*/ 976744 h 1299958"/>
              <a:gd name="connsiteX5" fmla="*/ 425095 w 1948200"/>
              <a:gd name="connsiteY5" fmla="*/ 1186712 h 1299958"/>
              <a:gd name="connsiteX6" fmla="*/ 234249 w 1948200"/>
              <a:gd name="connsiteY6" fmla="*/ 1299958 h 1299958"/>
              <a:gd name="connsiteX0" fmla="*/ 241017 w 1954968"/>
              <a:gd name="connsiteY0" fmla="*/ 1314823 h 1314823"/>
              <a:gd name="connsiteX1" fmla="*/ 234837 w 1954968"/>
              <a:gd name="connsiteY1" fmla="*/ 1119412 h 1314823"/>
              <a:gd name="connsiteX2" fmla="*/ 215451 w 1954968"/>
              <a:gd name="connsiteY2" fmla="*/ 226857 h 1314823"/>
              <a:gd name="connsiteX3" fmla="*/ 1255349 w 1954968"/>
              <a:gd name="connsiteY3" fmla="*/ 45609 h 1314823"/>
              <a:gd name="connsiteX4" fmla="*/ 1854124 w 1954968"/>
              <a:gd name="connsiteY4" fmla="*/ 991609 h 1314823"/>
              <a:gd name="connsiteX5" fmla="*/ 431863 w 1954968"/>
              <a:gd name="connsiteY5" fmla="*/ 1201577 h 1314823"/>
              <a:gd name="connsiteX6" fmla="*/ 241017 w 1954968"/>
              <a:gd name="connsiteY6" fmla="*/ 1314823 h 1314823"/>
              <a:gd name="connsiteX0" fmla="*/ 237209 w 1961323"/>
              <a:gd name="connsiteY0" fmla="*/ 1329482 h 1329482"/>
              <a:gd name="connsiteX1" fmla="*/ 231029 w 1961323"/>
              <a:gd name="connsiteY1" fmla="*/ 1134071 h 1329482"/>
              <a:gd name="connsiteX2" fmla="*/ 211643 w 1961323"/>
              <a:gd name="connsiteY2" fmla="*/ 241516 h 1329482"/>
              <a:gd name="connsiteX3" fmla="*/ 1308416 w 1961323"/>
              <a:gd name="connsiteY3" fmla="*/ 26501 h 1329482"/>
              <a:gd name="connsiteX4" fmla="*/ 1850316 w 1961323"/>
              <a:gd name="connsiteY4" fmla="*/ 1006268 h 1329482"/>
              <a:gd name="connsiteX5" fmla="*/ 428055 w 1961323"/>
              <a:gd name="connsiteY5" fmla="*/ 1216236 h 1329482"/>
              <a:gd name="connsiteX6" fmla="*/ 237209 w 1961323"/>
              <a:gd name="connsiteY6" fmla="*/ 1329482 h 1329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61323" h="1329482">
                <a:moveTo>
                  <a:pt x="237209" y="1329482"/>
                </a:moveTo>
                <a:cubicBezTo>
                  <a:pt x="212115" y="1243330"/>
                  <a:pt x="256123" y="1220223"/>
                  <a:pt x="231029" y="1134071"/>
                </a:cubicBezTo>
                <a:cubicBezTo>
                  <a:pt x="-166420" y="764404"/>
                  <a:pt x="32079" y="426111"/>
                  <a:pt x="211643" y="241516"/>
                </a:cubicBezTo>
                <a:cubicBezTo>
                  <a:pt x="391207" y="56921"/>
                  <a:pt x="939163" y="-53738"/>
                  <a:pt x="1308416" y="26501"/>
                </a:cubicBezTo>
                <a:cubicBezTo>
                  <a:pt x="1891054" y="153108"/>
                  <a:pt x="2116706" y="633238"/>
                  <a:pt x="1850316" y="1006268"/>
                </a:cubicBezTo>
                <a:cubicBezTo>
                  <a:pt x="1661473" y="1270707"/>
                  <a:pt x="1060894" y="1428008"/>
                  <a:pt x="428055" y="1216236"/>
                </a:cubicBezTo>
                <a:lnTo>
                  <a:pt x="237209" y="1329482"/>
                </a:ln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아</a:t>
            </a:r>
            <a:r>
              <a:rPr lang="ko-KR" altLang="en-US" dirty="0"/>
              <a:t>래</a:t>
            </a:r>
            <a:r>
              <a:rPr lang="ko-KR" altLang="en-US" dirty="0" smtClean="0"/>
              <a:t> 예제와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같은 스타일을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코딩해 보세요</a:t>
            </a:r>
            <a:endParaRPr lang="ko-KR" altLang="en-US" dirty="0"/>
          </a:p>
        </p:txBody>
      </p:sp>
      <p:pic>
        <p:nvPicPr>
          <p:cNvPr id="1026" name="Picture 2" descr="I:\☆lecture\unit06_BS06_부트스트랩 컴포넌트\02_1그리드 시스템의 활용_데스크탑 이상일떄_selfEX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2" r="5887" b="21653"/>
          <a:stretch/>
        </p:blipFill>
        <p:spPr bwMode="auto">
          <a:xfrm>
            <a:off x="167640" y="1973175"/>
            <a:ext cx="7065833" cy="38688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I:\☆lecture\unit06_BS06_부트스트랩 컴포넌트\02_2그리드 시스템의 활용_타블렛이하일때_selfEX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21"/>
          <a:stretch/>
        </p:blipFill>
        <p:spPr bwMode="auto">
          <a:xfrm>
            <a:off x="7412429" y="1694923"/>
            <a:ext cx="4528742" cy="41509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742995" y="6056978"/>
            <a:ext cx="2515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latin typeface="나눔바른고딕" pitchFamily="50" charset="-127"/>
                <a:ea typeface="나눔바른고딕" pitchFamily="50" charset="-127"/>
              </a:rPr>
              <a:t>데스크탑 이상일 때</a:t>
            </a:r>
            <a:endParaRPr lang="en-US" altLang="ko-KR" sz="2400" dirty="0" smtClean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71253" y="6056977"/>
            <a:ext cx="22413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latin typeface="나눔바른고딕" pitchFamily="50" charset="-127"/>
                <a:ea typeface="나눔바른고딕" pitchFamily="50" charset="-127"/>
              </a:rPr>
              <a:t>타블렛 이하일 때</a:t>
            </a:r>
            <a:endParaRPr lang="en-US" altLang="ko-KR" sz="2400" dirty="0" smtClean="0">
              <a:latin typeface="나눔바른고딕" pitchFamily="50" charset="-127"/>
              <a:ea typeface="나눔바른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2230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60746" y="1121915"/>
            <a:ext cx="11519628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400" dirty="0" smtClean="0"/>
              <a:t>간편하게 버튼을 만들기 위해 </a:t>
            </a:r>
            <a:r>
              <a:rPr lang="en-US" altLang="ko-KR" sz="2400" dirty="0" smtClean="0">
                <a:solidFill>
                  <a:srgbClr val="FF0000"/>
                </a:solidFill>
              </a:rPr>
              <a:t>&lt;a&gt;</a:t>
            </a:r>
            <a:r>
              <a:rPr lang="en-US" altLang="ko-KR" sz="2400" dirty="0" smtClean="0"/>
              <a:t>, </a:t>
            </a:r>
            <a:r>
              <a:rPr lang="en-US" altLang="ko-KR" sz="2400" dirty="0" smtClean="0">
                <a:solidFill>
                  <a:srgbClr val="FF0000"/>
                </a:solidFill>
              </a:rPr>
              <a:t>&lt;button&gt;</a:t>
            </a:r>
            <a:r>
              <a:rPr lang="en-US" altLang="ko-KR" sz="2400" dirty="0" smtClean="0"/>
              <a:t>, </a:t>
            </a:r>
            <a:r>
              <a:rPr lang="en-US" altLang="ko-KR" sz="2400" dirty="0" smtClean="0">
                <a:solidFill>
                  <a:srgbClr val="FF0000"/>
                </a:solidFill>
              </a:rPr>
              <a:t>&lt;input&gt;</a:t>
            </a:r>
            <a:r>
              <a:rPr lang="ko-KR" altLang="en-US" sz="2400" dirty="0" smtClean="0"/>
              <a:t>태그에 클래스명</a:t>
            </a:r>
            <a:endParaRPr lang="en-US" altLang="ko-KR" sz="2400" dirty="0" smtClean="0"/>
          </a:p>
          <a:p>
            <a:r>
              <a:rPr lang="en-US" altLang="ko-KR" sz="2400" dirty="0" smtClean="0"/>
              <a:t>.</a:t>
            </a:r>
            <a:r>
              <a:rPr lang="en-US" altLang="ko-KR" sz="2400" dirty="0" err="1" smtClean="0"/>
              <a:t>btn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을 붙이고 원하는 스타일을 만들기 위해 </a:t>
            </a:r>
            <a:r>
              <a:rPr lang="en-US" altLang="ko-KR" sz="2400" dirty="0" smtClean="0"/>
              <a:t>.</a:t>
            </a:r>
            <a:r>
              <a:rPr lang="en-US" altLang="ko-KR" sz="2400" dirty="0" err="1" smtClean="0"/>
              <a:t>btn</a:t>
            </a:r>
            <a:r>
              <a:rPr lang="en-US" altLang="ko-KR" sz="2400" dirty="0" smtClean="0"/>
              <a:t>-</a:t>
            </a:r>
            <a:r>
              <a:rPr lang="ko-KR" altLang="en-US" sz="2400" dirty="0" smtClean="0"/>
              <a:t>색상테마 클래스명을 쓴다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pPr marL="457200" indent="-457200">
              <a:buAutoNum type="arabicPeriod" startAt="2"/>
            </a:pPr>
            <a:r>
              <a:rPr lang="ko-KR" altLang="en-US" sz="2400" dirty="0" smtClean="0"/>
              <a:t>버튼의 크기를 크거나 작게 변경하려면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-lg</a:t>
            </a:r>
            <a:r>
              <a:rPr lang="en-US" altLang="ko-KR" sz="2400" dirty="0" smtClean="0"/>
              <a:t>, </a:t>
            </a:r>
            <a:r>
              <a:rPr lang="en-US" altLang="ko-KR" sz="2400" dirty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-sm</a:t>
            </a:r>
            <a:r>
              <a:rPr lang="en-US" altLang="ko-KR" sz="2400" dirty="0" smtClean="0"/>
              <a:t>, </a:t>
            </a:r>
            <a:r>
              <a:rPr lang="en-US" altLang="ko-KR" sz="2400" dirty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-xs</a:t>
            </a:r>
            <a:r>
              <a:rPr lang="ko-KR" altLang="en-US" sz="2400" dirty="0" smtClean="0"/>
              <a:t>을 추가한다</a:t>
            </a:r>
            <a:r>
              <a:rPr lang="en-US" altLang="ko-KR" sz="2400" dirty="0" smtClean="0"/>
              <a:t>.</a:t>
            </a:r>
          </a:p>
          <a:p>
            <a:pPr marL="457200" indent="-457200">
              <a:buAutoNum type="arabicPeriod" startAt="2"/>
            </a:pPr>
            <a:endParaRPr lang="en-US" altLang="ko-KR" sz="2400" dirty="0"/>
          </a:p>
          <a:p>
            <a:pPr marL="457200" indent="-457200">
              <a:buAutoNum type="arabicPeriod" startAt="2"/>
            </a:pPr>
            <a:r>
              <a:rPr lang="en-US" altLang="ko-KR" sz="2400" dirty="0" smtClean="0"/>
              <a:t>.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-block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클래스명을 추가하면 가로가 꽉 찬 너비의 버튼을 만들 수 있다</a:t>
            </a:r>
            <a:r>
              <a:rPr lang="en-US" altLang="ko-KR" sz="2400" dirty="0" smtClean="0"/>
              <a:t>.</a:t>
            </a:r>
          </a:p>
          <a:p>
            <a:pPr marL="457200" indent="-457200">
              <a:buAutoNum type="arabicPeriod" startAt="2"/>
            </a:pPr>
            <a:endParaRPr lang="en-US" altLang="ko-KR" sz="2400" dirty="0"/>
          </a:p>
          <a:p>
            <a:pPr marL="457200" indent="-457200">
              <a:buAutoNum type="arabicPeriod" startAt="2"/>
            </a:pPr>
            <a:r>
              <a:rPr lang="ko-KR" altLang="en-US" sz="2400" dirty="0" smtClean="0"/>
              <a:t>일련의 버튼들을 버튼 그룹으로 같이 한 줄에 모으려면 </a:t>
            </a:r>
            <a:r>
              <a:rPr lang="en-US" altLang="ko-KR" sz="2400" dirty="0" smtClean="0"/>
              <a:t>.</a:t>
            </a:r>
            <a:r>
              <a:rPr lang="en-US" altLang="ko-KR" sz="2400" dirty="0" err="1" smtClean="0"/>
              <a:t>btn</a:t>
            </a:r>
            <a:r>
              <a:rPr lang="ko-KR" altLang="en-US" sz="2400" dirty="0" smtClean="0"/>
              <a:t>으로 된 일련의 </a:t>
            </a:r>
            <a:endParaRPr lang="en-US" altLang="ko-KR" sz="2400" dirty="0"/>
          </a:p>
          <a:p>
            <a:r>
              <a:rPr lang="ko-KR" altLang="en-US" sz="2400" dirty="0" smtClean="0"/>
              <a:t>버튼들을 </a:t>
            </a:r>
            <a:r>
              <a:rPr lang="en-US" altLang="ko-KR" sz="2400" dirty="0" smtClean="0"/>
              <a:t>div</a:t>
            </a:r>
            <a:r>
              <a:rPr lang="ko-KR" altLang="en-US" sz="2400" dirty="0" smtClean="0"/>
              <a:t>로 감싸고 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-group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클래스명을 붙여준다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pPr marL="457200" indent="-457200">
              <a:buAutoNum type="arabicPeriod" startAt="5"/>
            </a:pPr>
            <a:r>
              <a:rPr lang="ko-KR" altLang="en-US" sz="2400" dirty="0" smtClean="0"/>
              <a:t>버튼을 가지고 더 복합적인 버튼 </a:t>
            </a:r>
            <a:r>
              <a:rPr lang="ko-KR" altLang="en-US" sz="2400" dirty="0" err="1" smtClean="0"/>
              <a:t>툴바</a:t>
            </a:r>
            <a:r>
              <a:rPr lang="ko-KR" altLang="en-US" sz="2400" dirty="0" smtClean="0"/>
              <a:t> 형태의 </a:t>
            </a:r>
            <a:r>
              <a:rPr lang="ko-KR" altLang="en-US" sz="2400" dirty="0" err="1" smtClean="0"/>
              <a:t>콤포넌트를</a:t>
            </a:r>
            <a:r>
              <a:rPr lang="ko-KR" altLang="en-US" sz="2400" dirty="0" smtClean="0"/>
              <a:t> 만들려면 </a:t>
            </a:r>
            <a:r>
              <a:rPr lang="en-US" altLang="ko-KR" sz="2400" dirty="0" err="1" smtClean="0"/>
              <a:t>btn</a:t>
            </a:r>
            <a:r>
              <a:rPr lang="en-US" altLang="ko-KR" sz="2400" dirty="0" smtClean="0"/>
              <a:t>-group</a:t>
            </a:r>
          </a:p>
          <a:p>
            <a:r>
              <a:rPr lang="ko-KR" altLang="en-US" sz="2400" dirty="0" smtClean="0"/>
              <a:t>들을 모두 감싸는 </a:t>
            </a:r>
            <a:r>
              <a:rPr lang="en-US" altLang="ko-KR" sz="2400" dirty="0" smtClean="0"/>
              <a:t>div</a:t>
            </a:r>
            <a:r>
              <a:rPr lang="ko-KR" altLang="en-US" sz="2400" dirty="0" smtClean="0"/>
              <a:t>를 만들고</a:t>
            </a:r>
            <a:r>
              <a:rPr lang="ko-KR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-toolbar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클래스명을 붙여준다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r>
              <a:rPr lang="en-US" altLang="ko-KR" sz="2400" dirty="0" smtClean="0"/>
              <a:t>6. </a:t>
            </a:r>
            <a:r>
              <a:rPr lang="ko-KR" altLang="en-US" sz="2400" dirty="0" smtClean="0"/>
              <a:t>버튼 그룹이 수평이 아닌 수직으로 쌓이고 싶다면</a:t>
            </a:r>
            <a:r>
              <a:rPr lang="ko-KR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-group-vertical </a:t>
            </a:r>
            <a:r>
              <a:rPr lang="ko-KR" altLang="en-US" sz="2400" dirty="0" smtClean="0"/>
              <a:t>클래스명 </a:t>
            </a:r>
            <a:endParaRPr lang="en-US" altLang="ko-KR" sz="2400" dirty="0" smtClean="0"/>
          </a:p>
          <a:p>
            <a:r>
              <a:rPr lang="ko-KR" altLang="en-US" sz="2400" dirty="0" smtClean="0"/>
              <a:t>을 부여한다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520035" y="447833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999160" y="1156421"/>
            <a:ext cx="573504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5784621" y="1156421"/>
            <a:ext cx="1306291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7316424" y="1156421"/>
            <a:ext cx="1120210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6316887" y="2260602"/>
            <a:ext cx="3258433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944745" y="2985221"/>
            <a:ext cx="1487903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3497399" y="4123908"/>
            <a:ext cx="1636693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4672482" y="5245342"/>
            <a:ext cx="1800362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7618287" y="5918202"/>
            <a:ext cx="2716158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63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60746" y="1121915"/>
            <a:ext cx="11519628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400" dirty="0" smtClean="0"/>
              <a:t>간편하게 버튼을 만들기 위해 </a:t>
            </a:r>
            <a:r>
              <a:rPr lang="en-US" altLang="ko-KR" sz="2400" dirty="0" smtClean="0">
                <a:solidFill>
                  <a:srgbClr val="FF0000"/>
                </a:solidFill>
              </a:rPr>
              <a:t>&lt;a&gt;</a:t>
            </a:r>
            <a:r>
              <a:rPr lang="en-US" altLang="ko-KR" sz="2400" dirty="0" smtClean="0"/>
              <a:t>, </a:t>
            </a:r>
            <a:r>
              <a:rPr lang="en-US" altLang="ko-KR" sz="2400" dirty="0" smtClean="0">
                <a:solidFill>
                  <a:srgbClr val="FF0000"/>
                </a:solidFill>
              </a:rPr>
              <a:t>&lt;button&gt;</a:t>
            </a:r>
            <a:r>
              <a:rPr lang="en-US" altLang="ko-KR" sz="2400" dirty="0" smtClean="0"/>
              <a:t>, </a:t>
            </a:r>
            <a:r>
              <a:rPr lang="en-US" altLang="ko-KR" sz="2400" dirty="0" smtClean="0">
                <a:solidFill>
                  <a:srgbClr val="FF0000"/>
                </a:solidFill>
              </a:rPr>
              <a:t>&lt;input&gt;</a:t>
            </a:r>
            <a:r>
              <a:rPr lang="ko-KR" altLang="en-US" sz="2400" dirty="0" smtClean="0"/>
              <a:t>태그에 클래스명</a:t>
            </a:r>
            <a:endParaRPr lang="en-US" altLang="ko-KR" sz="2400" dirty="0" smtClean="0"/>
          </a:p>
          <a:p>
            <a:r>
              <a:rPr lang="en-US" altLang="ko-KR" sz="2400" dirty="0" smtClean="0"/>
              <a:t>.</a:t>
            </a:r>
            <a:r>
              <a:rPr lang="en-US" altLang="ko-KR" sz="2400" dirty="0" err="1" smtClean="0"/>
              <a:t>btn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을 붙이고 원하는 스타일을 만들기 위해 </a:t>
            </a:r>
            <a:r>
              <a:rPr lang="en-US" altLang="ko-KR" sz="2400" dirty="0" smtClean="0"/>
              <a:t>.</a:t>
            </a:r>
            <a:r>
              <a:rPr lang="en-US" altLang="ko-KR" sz="2400" dirty="0" err="1" smtClean="0"/>
              <a:t>btn</a:t>
            </a:r>
            <a:r>
              <a:rPr lang="en-US" altLang="ko-KR" sz="2400" dirty="0" smtClean="0"/>
              <a:t>-</a:t>
            </a:r>
            <a:r>
              <a:rPr lang="ko-KR" altLang="en-US" sz="2400" dirty="0" smtClean="0"/>
              <a:t>색상테마 클래스명을 쓴다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pPr marL="457200" indent="-457200">
              <a:buAutoNum type="arabicPeriod" startAt="2"/>
            </a:pPr>
            <a:r>
              <a:rPr lang="ko-KR" altLang="en-US" sz="2400" dirty="0" smtClean="0"/>
              <a:t>버튼의 크기를 크거나 작게 변경하려면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-lg</a:t>
            </a:r>
            <a:r>
              <a:rPr lang="en-US" altLang="ko-KR" sz="2400" dirty="0" smtClean="0"/>
              <a:t>, </a:t>
            </a:r>
            <a:r>
              <a:rPr lang="en-US" altLang="ko-KR" sz="2400" dirty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-sm</a:t>
            </a:r>
            <a:r>
              <a:rPr lang="en-US" altLang="ko-KR" sz="2400" dirty="0" smtClean="0"/>
              <a:t>, </a:t>
            </a:r>
            <a:r>
              <a:rPr lang="en-US" altLang="ko-KR" sz="2400" dirty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-xs</a:t>
            </a:r>
            <a:r>
              <a:rPr lang="ko-KR" altLang="en-US" sz="2400" dirty="0" smtClean="0"/>
              <a:t>을 추가한다</a:t>
            </a:r>
            <a:r>
              <a:rPr lang="en-US" altLang="ko-KR" sz="2400" dirty="0" smtClean="0"/>
              <a:t>.</a:t>
            </a:r>
          </a:p>
          <a:p>
            <a:pPr marL="457200" indent="-457200">
              <a:buAutoNum type="arabicPeriod" startAt="2"/>
            </a:pPr>
            <a:endParaRPr lang="en-US" altLang="ko-KR" sz="2400" dirty="0"/>
          </a:p>
          <a:p>
            <a:pPr marL="457200" indent="-457200">
              <a:buAutoNum type="arabicPeriod" startAt="2"/>
            </a:pPr>
            <a:r>
              <a:rPr lang="en-US" altLang="ko-KR" sz="2400" dirty="0" smtClean="0"/>
              <a:t>.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-block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클래스명을 추가하면 가로가 꽉 찬 너비의 버튼을 만들 수 있다</a:t>
            </a:r>
            <a:r>
              <a:rPr lang="en-US" altLang="ko-KR" sz="2400" dirty="0" smtClean="0"/>
              <a:t>.</a:t>
            </a:r>
          </a:p>
          <a:p>
            <a:pPr marL="457200" indent="-457200">
              <a:buAutoNum type="arabicPeriod" startAt="2"/>
            </a:pPr>
            <a:endParaRPr lang="en-US" altLang="ko-KR" sz="2400" dirty="0"/>
          </a:p>
          <a:p>
            <a:pPr marL="457200" indent="-457200">
              <a:buAutoNum type="arabicPeriod" startAt="2"/>
            </a:pPr>
            <a:r>
              <a:rPr lang="ko-KR" altLang="en-US" sz="2400" dirty="0" smtClean="0"/>
              <a:t>일련의 버튼들을 버튼 그룹으로 같이 한 줄에 모으려면 </a:t>
            </a:r>
            <a:r>
              <a:rPr lang="en-US" altLang="ko-KR" sz="2400" dirty="0" smtClean="0"/>
              <a:t>.</a:t>
            </a:r>
            <a:r>
              <a:rPr lang="en-US" altLang="ko-KR" sz="2400" dirty="0" err="1" smtClean="0"/>
              <a:t>btn</a:t>
            </a:r>
            <a:r>
              <a:rPr lang="ko-KR" altLang="en-US" sz="2400" dirty="0" smtClean="0"/>
              <a:t>으로 된 일련의 </a:t>
            </a:r>
            <a:endParaRPr lang="en-US" altLang="ko-KR" sz="2400" dirty="0"/>
          </a:p>
          <a:p>
            <a:r>
              <a:rPr lang="ko-KR" altLang="en-US" sz="2400" dirty="0" smtClean="0"/>
              <a:t>버튼들을 </a:t>
            </a:r>
            <a:r>
              <a:rPr lang="en-US" altLang="ko-KR" sz="2400" dirty="0" smtClean="0"/>
              <a:t>div</a:t>
            </a:r>
            <a:r>
              <a:rPr lang="ko-KR" altLang="en-US" sz="2400" dirty="0" smtClean="0"/>
              <a:t>로 감싸고 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-group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클래스명을 붙여준다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pPr marL="457200" indent="-457200">
              <a:buAutoNum type="arabicPeriod" startAt="5"/>
            </a:pPr>
            <a:r>
              <a:rPr lang="ko-KR" altLang="en-US" sz="2400" dirty="0" smtClean="0"/>
              <a:t>버튼을 가지고 더 복합적인 버튼 </a:t>
            </a:r>
            <a:r>
              <a:rPr lang="ko-KR" altLang="en-US" sz="2400" dirty="0" err="1" smtClean="0"/>
              <a:t>툴바</a:t>
            </a:r>
            <a:r>
              <a:rPr lang="ko-KR" altLang="en-US" sz="2400" dirty="0" smtClean="0"/>
              <a:t> 형태의 </a:t>
            </a:r>
            <a:r>
              <a:rPr lang="ko-KR" altLang="en-US" sz="2400" dirty="0" err="1" smtClean="0"/>
              <a:t>콤포넌트를</a:t>
            </a:r>
            <a:r>
              <a:rPr lang="ko-KR" altLang="en-US" sz="2400" dirty="0" smtClean="0"/>
              <a:t> 만들려면 </a:t>
            </a:r>
            <a:r>
              <a:rPr lang="en-US" altLang="ko-KR" sz="2400" dirty="0" err="1" smtClean="0"/>
              <a:t>btn</a:t>
            </a:r>
            <a:r>
              <a:rPr lang="en-US" altLang="ko-KR" sz="2400" dirty="0" smtClean="0"/>
              <a:t>-group</a:t>
            </a:r>
          </a:p>
          <a:p>
            <a:r>
              <a:rPr lang="ko-KR" altLang="en-US" sz="2400" dirty="0" smtClean="0"/>
              <a:t>들을 모두 감싸는 </a:t>
            </a:r>
            <a:r>
              <a:rPr lang="en-US" altLang="ko-KR" sz="2400" dirty="0" smtClean="0"/>
              <a:t>div</a:t>
            </a:r>
            <a:r>
              <a:rPr lang="ko-KR" altLang="en-US" sz="2400" dirty="0" smtClean="0"/>
              <a:t>를 만들고</a:t>
            </a:r>
            <a:r>
              <a:rPr lang="ko-KR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-toolbar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클래스명을 붙여준다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r>
              <a:rPr lang="en-US" altLang="ko-KR" sz="2400" dirty="0" smtClean="0"/>
              <a:t>6. </a:t>
            </a:r>
            <a:r>
              <a:rPr lang="ko-KR" altLang="en-US" sz="2400" dirty="0" smtClean="0"/>
              <a:t>버튼 그룹이 수평이 아닌 수직으로 쌓이고 싶다면</a:t>
            </a:r>
            <a:r>
              <a:rPr lang="ko-KR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-group-vertical </a:t>
            </a:r>
            <a:r>
              <a:rPr lang="ko-KR" altLang="en-US" sz="2400" dirty="0" smtClean="0"/>
              <a:t>클래스명 </a:t>
            </a:r>
            <a:endParaRPr lang="en-US" altLang="ko-KR" sz="2400" dirty="0" smtClean="0"/>
          </a:p>
          <a:p>
            <a:r>
              <a:rPr lang="ko-KR" altLang="en-US" sz="2400" dirty="0" smtClean="0"/>
              <a:t>을 부여한다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520035" y="447833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999160" y="1156421"/>
            <a:ext cx="573504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5784621" y="1156421"/>
            <a:ext cx="1306291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7316424" y="1156421"/>
            <a:ext cx="1120210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6316887" y="2260602"/>
            <a:ext cx="3258433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944745" y="2985221"/>
            <a:ext cx="1487903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3497399" y="4123908"/>
            <a:ext cx="1636693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4672482" y="5245342"/>
            <a:ext cx="1800362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7618287" y="5918202"/>
            <a:ext cx="2716158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89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60746" y="1121915"/>
            <a:ext cx="11519628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400" dirty="0" smtClean="0"/>
              <a:t>간편하게 버튼을 만들기 위해 </a:t>
            </a:r>
            <a:r>
              <a:rPr lang="en-US" altLang="ko-KR" sz="2400" dirty="0" smtClean="0">
                <a:solidFill>
                  <a:srgbClr val="FF0000"/>
                </a:solidFill>
              </a:rPr>
              <a:t>&lt;a&gt;</a:t>
            </a:r>
            <a:r>
              <a:rPr lang="en-US" altLang="ko-KR" sz="2400" dirty="0" smtClean="0"/>
              <a:t>, </a:t>
            </a:r>
            <a:r>
              <a:rPr lang="en-US" altLang="ko-KR" sz="2400" dirty="0" smtClean="0">
                <a:solidFill>
                  <a:srgbClr val="FF0000"/>
                </a:solidFill>
              </a:rPr>
              <a:t>&lt;button&gt;</a:t>
            </a:r>
            <a:r>
              <a:rPr lang="en-US" altLang="ko-KR" sz="2400" dirty="0" smtClean="0"/>
              <a:t>, </a:t>
            </a:r>
            <a:r>
              <a:rPr lang="en-US" altLang="ko-KR" sz="2400" dirty="0" smtClean="0">
                <a:solidFill>
                  <a:srgbClr val="FF0000"/>
                </a:solidFill>
              </a:rPr>
              <a:t>&lt;input&gt;</a:t>
            </a:r>
            <a:r>
              <a:rPr lang="ko-KR" altLang="en-US" sz="2400" dirty="0" smtClean="0"/>
              <a:t>태그에 클래스명</a:t>
            </a:r>
            <a:endParaRPr lang="en-US" altLang="ko-KR" sz="2400" dirty="0" smtClean="0"/>
          </a:p>
          <a:p>
            <a:r>
              <a:rPr lang="en-US" altLang="ko-KR" sz="2400" dirty="0" smtClean="0"/>
              <a:t>.</a:t>
            </a:r>
            <a:r>
              <a:rPr lang="en-US" altLang="ko-KR" sz="2400" dirty="0" err="1" smtClean="0"/>
              <a:t>btn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을 붙이고 원하는 스타일을 만들기 위해 </a:t>
            </a:r>
            <a:r>
              <a:rPr lang="en-US" altLang="ko-KR" sz="2400" dirty="0" smtClean="0"/>
              <a:t>.</a:t>
            </a:r>
            <a:r>
              <a:rPr lang="en-US" altLang="ko-KR" sz="2400" dirty="0" err="1" smtClean="0"/>
              <a:t>btn</a:t>
            </a:r>
            <a:r>
              <a:rPr lang="en-US" altLang="ko-KR" sz="2400" dirty="0" smtClean="0"/>
              <a:t>-</a:t>
            </a:r>
            <a:r>
              <a:rPr lang="ko-KR" altLang="en-US" sz="2400" dirty="0" smtClean="0"/>
              <a:t>색상테마 클래스명을 쓴다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pPr marL="457200" indent="-457200">
              <a:buAutoNum type="arabicPeriod" startAt="2"/>
            </a:pPr>
            <a:r>
              <a:rPr lang="ko-KR" altLang="en-US" sz="2400" dirty="0" smtClean="0"/>
              <a:t>버튼의 크기를 크거나 작게 변경하려면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-lg</a:t>
            </a:r>
            <a:r>
              <a:rPr lang="en-US" altLang="ko-KR" sz="2400" dirty="0" smtClean="0"/>
              <a:t>, </a:t>
            </a:r>
            <a:r>
              <a:rPr lang="en-US" altLang="ko-KR" sz="2400" dirty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-sm</a:t>
            </a:r>
            <a:r>
              <a:rPr lang="en-US" altLang="ko-KR" sz="2400" dirty="0" smtClean="0"/>
              <a:t>, </a:t>
            </a:r>
            <a:r>
              <a:rPr lang="en-US" altLang="ko-KR" sz="2400" dirty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-xs</a:t>
            </a:r>
            <a:r>
              <a:rPr lang="ko-KR" altLang="en-US" sz="2400" dirty="0" smtClean="0"/>
              <a:t>을 추가한다</a:t>
            </a:r>
            <a:r>
              <a:rPr lang="en-US" altLang="ko-KR" sz="2400" dirty="0" smtClean="0"/>
              <a:t>.</a:t>
            </a:r>
          </a:p>
          <a:p>
            <a:pPr marL="457200" indent="-457200">
              <a:buAutoNum type="arabicPeriod" startAt="2"/>
            </a:pPr>
            <a:endParaRPr lang="en-US" altLang="ko-KR" sz="2400" dirty="0"/>
          </a:p>
          <a:p>
            <a:pPr marL="457200" indent="-457200">
              <a:buAutoNum type="arabicPeriod" startAt="2"/>
            </a:pPr>
            <a:r>
              <a:rPr lang="en-US" altLang="ko-KR" sz="2400" dirty="0" smtClean="0"/>
              <a:t>.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-block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클래스명을 추가하면 가로가 꽉 찬 너비의 버튼을 만들 수 있다</a:t>
            </a:r>
            <a:r>
              <a:rPr lang="en-US" altLang="ko-KR" sz="2400" dirty="0" smtClean="0"/>
              <a:t>.</a:t>
            </a:r>
          </a:p>
          <a:p>
            <a:pPr marL="457200" indent="-457200">
              <a:buAutoNum type="arabicPeriod" startAt="2"/>
            </a:pPr>
            <a:endParaRPr lang="en-US" altLang="ko-KR" sz="2400" dirty="0"/>
          </a:p>
          <a:p>
            <a:pPr marL="457200" indent="-457200">
              <a:buAutoNum type="arabicPeriod" startAt="2"/>
            </a:pPr>
            <a:r>
              <a:rPr lang="ko-KR" altLang="en-US" sz="2400" dirty="0" smtClean="0"/>
              <a:t>일련의 버튼들을 버튼 그룹으로 같이 한 줄에 모으려면 </a:t>
            </a:r>
            <a:r>
              <a:rPr lang="en-US" altLang="ko-KR" sz="2400" dirty="0" smtClean="0"/>
              <a:t>.</a:t>
            </a:r>
            <a:r>
              <a:rPr lang="en-US" altLang="ko-KR" sz="2400" dirty="0" err="1" smtClean="0"/>
              <a:t>btn</a:t>
            </a:r>
            <a:r>
              <a:rPr lang="ko-KR" altLang="en-US" sz="2400" dirty="0" smtClean="0"/>
              <a:t>으로 된 일련의 </a:t>
            </a:r>
            <a:endParaRPr lang="en-US" altLang="ko-KR" sz="2400" dirty="0"/>
          </a:p>
          <a:p>
            <a:r>
              <a:rPr lang="ko-KR" altLang="en-US" sz="2400" dirty="0" smtClean="0"/>
              <a:t>버튼들을 </a:t>
            </a:r>
            <a:r>
              <a:rPr lang="en-US" altLang="ko-KR" sz="2400" dirty="0" smtClean="0"/>
              <a:t>div</a:t>
            </a:r>
            <a:r>
              <a:rPr lang="ko-KR" altLang="en-US" sz="2400" dirty="0" smtClean="0"/>
              <a:t>로 감싸고 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-group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클래스명을 붙여준다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pPr marL="457200" indent="-457200">
              <a:buAutoNum type="arabicPeriod" startAt="5"/>
            </a:pPr>
            <a:r>
              <a:rPr lang="ko-KR" altLang="en-US" sz="2400" dirty="0" smtClean="0"/>
              <a:t>버튼을 가지고 더 복합적인 버튼 </a:t>
            </a:r>
            <a:r>
              <a:rPr lang="ko-KR" altLang="en-US" sz="2400" dirty="0" err="1" smtClean="0"/>
              <a:t>툴바</a:t>
            </a:r>
            <a:r>
              <a:rPr lang="ko-KR" altLang="en-US" sz="2400" dirty="0" smtClean="0"/>
              <a:t> 형태의 </a:t>
            </a:r>
            <a:r>
              <a:rPr lang="ko-KR" altLang="en-US" sz="2400" dirty="0" err="1" smtClean="0"/>
              <a:t>콤포넌트를</a:t>
            </a:r>
            <a:r>
              <a:rPr lang="ko-KR" altLang="en-US" sz="2400" dirty="0" smtClean="0"/>
              <a:t> 만들려면 </a:t>
            </a:r>
            <a:r>
              <a:rPr lang="en-US" altLang="ko-KR" sz="2400" dirty="0" err="1" smtClean="0"/>
              <a:t>btn</a:t>
            </a:r>
            <a:r>
              <a:rPr lang="en-US" altLang="ko-KR" sz="2400" dirty="0" smtClean="0"/>
              <a:t>-group</a:t>
            </a:r>
          </a:p>
          <a:p>
            <a:r>
              <a:rPr lang="ko-KR" altLang="en-US" sz="2400" dirty="0" smtClean="0"/>
              <a:t>들을 모두 감싸는 </a:t>
            </a:r>
            <a:r>
              <a:rPr lang="en-US" altLang="ko-KR" sz="2400" dirty="0" smtClean="0"/>
              <a:t>div</a:t>
            </a:r>
            <a:r>
              <a:rPr lang="ko-KR" altLang="en-US" sz="2400" dirty="0" smtClean="0"/>
              <a:t>를 만들고</a:t>
            </a:r>
            <a:r>
              <a:rPr lang="ko-KR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-toolbar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클래스명을 붙여준다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r>
              <a:rPr lang="en-US" altLang="ko-KR" sz="2400" dirty="0" smtClean="0"/>
              <a:t>6. </a:t>
            </a:r>
            <a:r>
              <a:rPr lang="ko-KR" altLang="en-US" sz="2400" dirty="0" smtClean="0"/>
              <a:t>버튼 그룹이 수평이 아닌 수직으로 쌓이고 싶다면</a:t>
            </a:r>
            <a:r>
              <a:rPr lang="ko-KR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-group-vertical </a:t>
            </a:r>
            <a:r>
              <a:rPr lang="ko-KR" altLang="en-US" sz="2400" dirty="0" smtClean="0"/>
              <a:t>클래스명 </a:t>
            </a:r>
            <a:endParaRPr lang="en-US" altLang="ko-KR" sz="2400" dirty="0" smtClean="0"/>
          </a:p>
          <a:p>
            <a:r>
              <a:rPr lang="ko-KR" altLang="en-US" sz="2400" dirty="0" smtClean="0"/>
              <a:t>을 부여한다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520035" y="447833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999160" y="1156421"/>
            <a:ext cx="573504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5784621" y="1156421"/>
            <a:ext cx="1306291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7316424" y="1156421"/>
            <a:ext cx="1120210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6316887" y="2260602"/>
            <a:ext cx="3258433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944745" y="2985221"/>
            <a:ext cx="1487903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3497399" y="4123908"/>
            <a:ext cx="1636693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4672482" y="5245342"/>
            <a:ext cx="1800362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7618287" y="5918202"/>
            <a:ext cx="2716158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157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60746" y="1121915"/>
            <a:ext cx="11519628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400" dirty="0" smtClean="0"/>
              <a:t>간편하게 버튼을 만들기 위해 </a:t>
            </a:r>
            <a:r>
              <a:rPr lang="en-US" altLang="ko-KR" sz="2400" dirty="0" smtClean="0">
                <a:solidFill>
                  <a:srgbClr val="FF0000"/>
                </a:solidFill>
              </a:rPr>
              <a:t>&lt;a&gt;</a:t>
            </a:r>
            <a:r>
              <a:rPr lang="en-US" altLang="ko-KR" sz="2400" dirty="0" smtClean="0"/>
              <a:t>, </a:t>
            </a:r>
            <a:r>
              <a:rPr lang="en-US" altLang="ko-KR" sz="2400" dirty="0" smtClean="0">
                <a:solidFill>
                  <a:srgbClr val="FF0000"/>
                </a:solidFill>
              </a:rPr>
              <a:t>&lt;button&gt;</a:t>
            </a:r>
            <a:r>
              <a:rPr lang="en-US" altLang="ko-KR" sz="2400" dirty="0" smtClean="0"/>
              <a:t>, </a:t>
            </a:r>
            <a:r>
              <a:rPr lang="en-US" altLang="ko-KR" sz="2400" dirty="0" smtClean="0">
                <a:solidFill>
                  <a:srgbClr val="FF0000"/>
                </a:solidFill>
              </a:rPr>
              <a:t>&lt;input&gt;</a:t>
            </a:r>
            <a:r>
              <a:rPr lang="ko-KR" altLang="en-US" sz="2400" dirty="0" smtClean="0"/>
              <a:t>태그에 클래스명</a:t>
            </a:r>
            <a:endParaRPr lang="en-US" altLang="ko-KR" sz="2400" dirty="0" smtClean="0"/>
          </a:p>
          <a:p>
            <a:r>
              <a:rPr lang="en-US" altLang="ko-KR" sz="2400" dirty="0" smtClean="0"/>
              <a:t>.</a:t>
            </a:r>
            <a:r>
              <a:rPr lang="en-US" altLang="ko-KR" sz="2400" dirty="0" err="1" smtClean="0"/>
              <a:t>btn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을 붙이고 원하는 스타일을 만들기 위해 </a:t>
            </a:r>
            <a:r>
              <a:rPr lang="en-US" altLang="ko-KR" sz="2400" dirty="0" smtClean="0"/>
              <a:t>.</a:t>
            </a:r>
            <a:r>
              <a:rPr lang="en-US" altLang="ko-KR" sz="2400" dirty="0" err="1" smtClean="0"/>
              <a:t>btn</a:t>
            </a:r>
            <a:r>
              <a:rPr lang="en-US" altLang="ko-KR" sz="2400" dirty="0" smtClean="0"/>
              <a:t>-</a:t>
            </a:r>
            <a:r>
              <a:rPr lang="ko-KR" altLang="en-US" sz="2400" dirty="0" smtClean="0"/>
              <a:t>색상테마 클래스명을 쓴다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pPr marL="457200" indent="-457200">
              <a:buAutoNum type="arabicPeriod" startAt="2"/>
            </a:pPr>
            <a:r>
              <a:rPr lang="ko-KR" altLang="en-US" sz="2400" dirty="0" smtClean="0"/>
              <a:t>버튼의 크기를 크거나 작게 변경하려면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-lg</a:t>
            </a:r>
            <a:r>
              <a:rPr lang="en-US" altLang="ko-KR" sz="2400" dirty="0" smtClean="0"/>
              <a:t>, </a:t>
            </a:r>
            <a:r>
              <a:rPr lang="en-US" altLang="ko-KR" sz="2400" dirty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-sm</a:t>
            </a:r>
            <a:r>
              <a:rPr lang="en-US" altLang="ko-KR" sz="2400" dirty="0" smtClean="0"/>
              <a:t>, </a:t>
            </a:r>
            <a:r>
              <a:rPr lang="en-US" altLang="ko-KR" sz="2400" dirty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-xs</a:t>
            </a:r>
            <a:r>
              <a:rPr lang="ko-KR" altLang="en-US" sz="2400" dirty="0" smtClean="0"/>
              <a:t>을 추가한다</a:t>
            </a:r>
            <a:r>
              <a:rPr lang="en-US" altLang="ko-KR" sz="2400" dirty="0" smtClean="0"/>
              <a:t>.</a:t>
            </a:r>
          </a:p>
          <a:p>
            <a:pPr marL="457200" indent="-457200">
              <a:buAutoNum type="arabicPeriod" startAt="2"/>
            </a:pPr>
            <a:endParaRPr lang="en-US" altLang="ko-KR" sz="2400" dirty="0"/>
          </a:p>
          <a:p>
            <a:pPr marL="457200" indent="-457200">
              <a:buAutoNum type="arabicPeriod" startAt="2"/>
            </a:pPr>
            <a:r>
              <a:rPr lang="en-US" altLang="ko-KR" sz="2400" dirty="0" smtClean="0"/>
              <a:t>.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-block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클래스명을 추가하면 가로가 꽉 찬 너비의 버튼을 만들 수 있다</a:t>
            </a:r>
            <a:r>
              <a:rPr lang="en-US" altLang="ko-KR" sz="2400" dirty="0" smtClean="0"/>
              <a:t>.</a:t>
            </a:r>
          </a:p>
          <a:p>
            <a:pPr marL="457200" indent="-457200">
              <a:buAutoNum type="arabicPeriod" startAt="2"/>
            </a:pPr>
            <a:endParaRPr lang="en-US" altLang="ko-KR" sz="2400" dirty="0"/>
          </a:p>
          <a:p>
            <a:pPr marL="457200" indent="-457200">
              <a:buAutoNum type="arabicPeriod" startAt="2"/>
            </a:pPr>
            <a:r>
              <a:rPr lang="ko-KR" altLang="en-US" sz="2400" dirty="0" smtClean="0"/>
              <a:t>일련의 버튼들을 버튼 그룹으로 같이 한 줄에 모으려면 </a:t>
            </a:r>
            <a:r>
              <a:rPr lang="en-US" altLang="ko-KR" sz="2400" dirty="0" smtClean="0"/>
              <a:t>.</a:t>
            </a:r>
            <a:r>
              <a:rPr lang="en-US" altLang="ko-KR" sz="2400" dirty="0" err="1" smtClean="0"/>
              <a:t>btn</a:t>
            </a:r>
            <a:r>
              <a:rPr lang="ko-KR" altLang="en-US" sz="2400" dirty="0" smtClean="0"/>
              <a:t>으로 된 일련의 </a:t>
            </a:r>
            <a:endParaRPr lang="en-US" altLang="ko-KR" sz="2400" dirty="0"/>
          </a:p>
          <a:p>
            <a:r>
              <a:rPr lang="ko-KR" altLang="en-US" sz="2400" dirty="0" smtClean="0"/>
              <a:t>버튼들을 </a:t>
            </a:r>
            <a:r>
              <a:rPr lang="en-US" altLang="ko-KR" sz="2400" dirty="0" smtClean="0"/>
              <a:t>div</a:t>
            </a:r>
            <a:r>
              <a:rPr lang="ko-KR" altLang="en-US" sz="2400" dirty="0" smtClean="0"/>
              <a:t>로 감싸고 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-group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클래스명을 붙여준다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pPr marL="457200" indent="-457200">
              <a:buAutoNum type="arabicPeriod" startAt="5"/>
            </a:pPr>
            <a:r>
              <a:rPr lang="ko-KR" altLang="en-US" sz="2400" dirty="0" smtClean="0"/>
              <a:t>버튼을 가지고 더 복합적인 버튼 </a:t>
            </a:r>
            <a:r>
              <a:rPr lang="ko-KR" altLang="en-US" sz="2400" dirty="0" err="1" smtClean="0"/>
              <a:t>툴바</a:t>
            </a:r>
            <a:r>
              <a:rPr lang="ko-KR" altLang="en-US" sz="2400" dirty="0" smtClean="0"/>
              <a:t> 형태의 </a:t>
            </a:r>
            <a:r>
              <a:rPr lang="ko-KR" altLang="en-US" sz="2400" dirty="0" err="1" smtClean="0"/>
              <a:t>콤포넌트를</a:t>
            </a:r>
            <a:r>
              <a:rPr lang="ko-KR" altLang="en-US" sz="2400" dirty="0" smtClean="0"/>
              <a:t> 만들려면 </a:t>
            </a:r>
            <a:r>
              <a:rPr lang="en-US" altLang="ko-KR" sz="2400" dirty="0" err="1" smtClean="0"/>
              <a:t>btn</a:t>
            </a:r>
            <a:r>
              <a:rPr lang="en-US" altLang="ko-KR" sz="2400" dirty="0" smtClean="0"/>
              <a:t>-group</a:t>
            </a:r>
          </a:p>
          <a:p>
            <a:r>
              <a:rPr lang="ko-KR" altLang="en-US" sz="2400" dirty="0" smtClean="0"/>
              <a:t>들을 모두 감싸는 </a:t>
            </a:r>
            <a:r>
              <a:rPr lang="en-US" altLang="ko-KR" sz="2400" dirty="0" smtClean="0"/>
              <a:t>div</a:t>
            </a:r>
            <a:r>
              <a:rPr lang="ko-KR" altLang="en-US" sz="2400" dirty="0" smtClean="0"/>
              <a:t>를 만들고</a:t>
            </a:r>
            <a:r>
              <a:rPr lang="ko-KR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-toolbar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클래스명을 붙여준다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r>
              <a:rPr lang="en-US" altLang="ko-KR" sz="2400" dirty="0" smtClean="0"/>
              <a:t>6. </a:t>
            </a:r>
            <a:r>
              <a:rPr lang="ko-KR" altLang="en-US" sz="2400" dirty="0" smtClean="0"/>
              <a:t>버튼 그룹이 수평이 아닌 수직으로 쌓이고 싶다면</a:t>
            </a:r>
            <a:r>
              <a:rPr lang="ko-KR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-group-vertical </a:t>
            </a:r>
            <a:r>
              <a:rPr lang="ko-KR" altLang="en-US" sz="2400" dirty="0" smtClean="0"/>
              <a:t>클래스명 </a:t>
            </a:r>
            <a:endParaRPr lang="en-US" altLang="ko-KR" sz="2400" dirty="0" smtClean="0"/>
          </a:p>
          <a:p>
            <a:r>
              <a:rPr lang="ko-KR" altLang="en-US" sz="2400" dirty="0" smtClean="0"/>
              <a:t>을 부여한다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520035" y="447833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999160" y="1156421"/>
            <a:ext cx="573504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5784621" y="1156421"/>
            <a:ext cx="1306291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7316424" y="1156421"/>
            <a:ext cx="1120210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6316887" y="2260602"/>
            <a:ext cx="3258433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944745" y="2985221"/>
            <a:ext cx="1487903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3497399" y="4123908"/>
            <a:ext cx="1636693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4672482" y="5245342"/>
            <a:ext cx="1800362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7618287" y="5918202"/>
            <a:ext cx="2716158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971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60746" y="1121915"/>
            <a:ext cx="11519628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400" dirty="0" smtClean="0"/>
              <a:t>간편하게 버튼을 만들기 위해 </a:t>
            </a:r>
            <a:r>
              <a:rPr lang="en-US" altLang="ko-KR" sz="2400" dirty="0" smtClean="0">
                <a:solidFill>
                  <a:srgbClr val="FF0000"/>
                </a:solidFill>
              </a:rPr>
              <a:t>&lt;a&gt;</a:t>
            </a:r>
            <a:r>
              <a:rPr lang="en-US" altLang="ko-KR" sz="2400" dirty="0" smtClean="0"/>
              <a:t>, </a:t>
            </a:r>
            <a:r>
              <a:rPr lang="en-US" altLang="ko-KR" sz="2400" dirty="0" smtClean="0">
                <a:solidFill>
                  <a:srgbClr val="FF0000"/>
                </a:solidFill>
              </a:rPr>
              <a:t>&lt;button&gt;</a:t>
            </a:r>
            <a:r>
              <a:rPr lang="en-US" altLang="ko-KR" sz="2400" dirty="0" smtClean="0"/>
              <a:t>, </a:t>
            </a:r>
            <a:r>
              <a:rPr lang="en-US" altLang="ko-KR" sz="2400" dirty="0" smtClean="0">
                <a:solidFill>
                  <a:srgbClr val="FF0000"/>
                </a:solidFill>
              </a:rPr>
              <a:t>&lt;input&gt;</a:t>
            </a:r>
            <a:r>
              <a:rPr lang="ko-KR" altLang="en-US" sz="2400" dirty="0" smtClean="0"/>
              <a:t>태그에 클래스명</a:t>
            </a:r>
            <a:endParaRPr lang="en-US" altLang="ko-KR" sz="2400" dirty="0" smtClean="0"/>
          </a:p>
          <a:p>
            <a:r>
              <a:rPr lang="en-US" altLang="ko-KR" sz="2400" dirty="0" smtClean="0"/>
              <a:t>.</a:t>
            </a:r>
            <a:r>
              <a:rPr lang="en-US" altLang="ko-KR" sz="2400" dirty="0" err="1" smtClean="0"/>
              <a:t>btn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을 붙이고 원하는 스타일을 만들기 위해 </a:t>
            </a:r>
            <a:r>
              <a:rPr lang="en-US" altLang="ko-KR" sz="2400" dirty="0" smtClean="0"/>
              <a:t>.</a:t>
            </a:r>
            <a:r>
              <a:rPr lang="en-US" altLang="ko-KR" sz="2400" dirty="0" err="1" smtClean="0"/>
              <a:t>btn</a:t>
            </a:r>
            <a:r>
              <a:rPr lang="en-US" altLang="ko-KR" sz="2400" dirty="0" smtClean="0"/>
              <a:t>-</a:t>
            </a:r>
            <a:r>
              <a:rPr lang="ko-KR" altLang="en-US" sz="2400" dirty="0" smtClean="0"/>
              <a:t>색상테마 클래스명을 쓴다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pPr marL="457200" indent="-457200">
              <a:buAutoNum type="arabicPeriod" startAt="2"/>
            </a:pPr>
            <a:r>
              <a:rPr lang="ko-KR" altLang="en-US" sz="2400" dirty="0" smtClean="0"/>
              <a:t>버튼의 크기를 크거나 작게 변경하려면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-lg</a:t>
            </a:r>
            <a:r>
              <a:rPr lang="en-US" altLang="ko-KR" sz="2400" dirty="0" smtClean="0"/>
              <a:t>, </a:t>
            </a:r>
            <a:r>
              <a:rPr lang="en-US" altLang="ko-KR" sz="2400" dirty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-sm</a:t>
            </a:r>
            <a:r>
              <a:rPr lang="en-US" altLang="ko-KR" sz="2400" dirty="0" smtClean="0"/>
              <a:t>, </a:t>
            </a:r>
            <a:r>
              <a:rPr lang="en-US" altLang="ko-KR" sz="2400" dirty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-xs</a:t>
            </a:r>
            <a:r>
              <a:rPr lang="ko-KR" altLang="en-US" sz="2400" dirty="0" smtClean="0"/>
              <a:t>을 추가한다</a:t>
            </a:r>
            <a:r>
              <a:rPr lang="en-US" altLang="ko-KR" sz="2400" dirty="0" smtClean="0"/>
              <a:t>.</a:t>
            </a:r>
          </a:p>
          <a:p>
            <a:pPr marL="457200" indent="-457200">
              <a:buAutoNum type="arabicPeriod" startAt="2"/>
            </a:pPr>
            <a:endParaRPr lang="en-US" altLang="ko-KR" sz="2400" dirty="0"/>
          </a:p>
          <a:p>
            <a:pPr marL="457200" indent="-457200">
              <a:buAutoNum type="arabicPeriod" startAt="2"/>
            </a:pPr>
            <a:r>
              <a:rPr lang="en-US" altLang="ko-KR" sz="2400" dirty="0" smtClean="0"/>
              <a:t>.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-block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클래스명을 추가하면 가로가 꽉 찬 너비의 버튼을 만들 수 있다</a:t>
            </a:r>
            <a:r>
              <a:rPr lang="en-US" altLang="ko-KR" sz="2400" dirty="0" smtClean="0"/>
              <a:t>.</a:t>
            </a:r>
          </a:p>
          <a:p>
            <a:pPr marL="457200" indent="-457200">
              <a:buAutoNum type="arabicPeriod" startAt="2"/>
            </a:pPr>
            <a:endParaRPr lang="en-US" altLang="ko-KR" sz="2400" dirty="0"/>
          </a:p>
          <a:p>
            <a:pPr marL="457200" indent="-457200">
              <a:buAutoNum type="arabicPeriod" startAt="2"/>
            </a:pPr>
            <a:r>
              <a:rPr lang="ko-KR" altLang="en-US" sz="2400" dirty="0" smtClean="0"/>
              <a:t>일련의 버튼들을 버튼 그룹으로 같이 한 줄에 모으려면 </a:t>
            </a:r>
            <a:r>
              <a:rPr lang="en-US" altLang="ko-KR" sz="2400" dirty="0" smtClean="0"/>
              <a:t>.</a:t>
            </a:r>
            <a:r>
              <a:rPr lang="en-US" altLang="ko-KR" sz="2400" dirty="0" err="1" smtClean="0"/>
              <a:t>btn</a:t>
            </a:r>
            <a:r>
              <a:rPr lang="ko-KR" altLang="en-US" sz="2400" dirty="0" smtClean="0"/>
              <a:t>으로 된 일련의 </a:t>
            </a:r>
            <a:endParaRPr lang="en-US" altLang="ko-KR" sz="2400" dirty="0"/>
          </a:p>
          <a:p>
            <a:r>
              <a:rPr lang="ko-KR" altLang="en-US" sz="2400" dirty="0" smtClean="0"/>
              <a:t>버튼들을 </a:t>
            </a:r>
            <a:r>
              <a:rPr lang="en-US" altLang="ko-KR" sz="2400" dirty="0" smtClean="0"/>
              <a:t>div</a:t>
            </a:r>
            <a:r>
              <a:rPr lang="ko-KR" altLang="en-US" sz="2400" dirty="0" smtClean="0"/>
              <a:t>로 감싸고 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-group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클래스명을 붙여준다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pPr marL="457200" indent="-457200">
              <a:buAutoNum type="arabicPeriod" startAt="5"/>
            </a:pPr>
            <a:r>
              <a:rPr lang="ko-KR" altLang="en-US" sz="2400" dirty="0" smtClean="0"/>
              <a:t>버튼을 가지고 더 복합적인 버튼 </a:t>
            </a:r>
            <a:r>
              <a:rPr lang="ko-KR" altLang="en-US" sz="2400" dirty="0" err="1" smtClean="0"/>
              <a:t>툴바</a:t>
            </a:r>
            <a:r>
              <a:rPr lang="ko-KR" altLang="en-US" sz="2400" dirty="0" smtClean="0"/>
              <a:t> 형태의 </a:t>
            </a:r>
            <a:r>
              <a:rPr lang="ko-KR" altLang="en-US" sz="2400" dirty="0" err="1" smtClean="0"/>
              <a:t>콤포넌트를</a:t>
            </a:r>
            <a:r>
              <a:rPr lang="ko-KR" altLang="en-US" sz="2400" dirty="0" smtClean="0"/>
              <a:t> 만들려면 </a:t>
            </a:r>
            <a:r>
              <a:rPr lang="en-US" altLang="ko-KR" sz="2400" dirty="0" err="1" smtClean="0"/>
              <a:t>btn</a:t>
            </a:r>
            <a:r>
              <a:rPr lang="en-US" altLang="ko-KR" sz="2400" dirty="0" smtClean="0"/>
              <a:t>-group</a:t>
            </a:r>
          </a:p>
          <a:p>
            <a:r>
              <a:rPr lang="ko-KR" altLang="en-US" sz="2400" dirty="0" smtClean="0"/>
              <a:t>들을 모두 감싸는 </a:t>
            </a:r>
            <a:r>
              <a:rPr lang="en-US" altLang="ko-KR" sz="2400" dirty="0" smtClean="0"/>
              <a:t>div</a:t>
            </a:r>
            <a:r>
              <a:rPr lang="ko-KR" altLang="en-US" sz="2400" dirty="0" smtClean="0"/>
              <a:t>를 만들고</a:t>
            </a:r>
            <a:r>
              <a:rPr lang="ko-KR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-toolbar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클래스명을 붙여준다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r>
              <a:rPr lang="en-US" altLang="ko-KR" sz="2400" dirty="0" smtClean="0"/>
              <a:t>6. </a:t>
            </a:r>
            <a:r>
              <a:rPr lang="ko-KR" altLang="en-US" sz="2400" dirty="0" smtClean="0"/>
              <a:t>버튼 그룹이 수평이 아닌 수직으로 쌓이고 싶다면</a:t>
            </a:r>
            <a:r>
              <a:rPr lang="ko-KR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-group-vertical </a:t>
            </a:r>
            <a:r>
              <a:rPr lang="ko-KR" altLang="en-US" sz="2400" dirty="0" smtClean="0"/>
              <a:t>클래스명 </a:t>
            </a:r>
            <a:endParaRPr lang="en-US" altLang="ko-KR" sz="2400" dirty="0" smtClean="0"/>
          </a:p>
          <a:p>
            <a:r>
              <a:rPr lang="ko-KR" altLang="en-US" sz="2400" dirty="0" smtClean="0"/>
              <a:t>을 부여한다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520035" y="447833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999160" y="1156421"/>
            <a:ext cx="573504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5784621" y="1156421"/>
            <a:ext cx="1306291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7316424" y="1156421"/>
            <a:ext cx="1120210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6316887" y="2260602"/>
            <a:ext cx="3258433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944745" y="2985221"/>
            <a:ext cx="1487903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3497399" y="4123908"/>
            <a:ext cx="1636693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4672482" y="5245342"/>
            <a:ext cx="1800362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7618287" y="5918202"/>
            <a:ext cx="2716158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155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60746" y="1121915"/>
            <a:ext cx="11519628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400" dirty="0" smtClean="0"/>
              <a:t>간편하게 버튼을 만들기 위해 </a:t>
            </a:r>
            <a:r>
              <a:rPr lang="en-US" altLang="ko-KR" sz="2400" dirty="0" smtClean="0">
                <a:solidFill>
                  <a:srgbClr val="FF0000"/>
                </a:solidFill>
              </a:rPr>
              <a:t>&lt;a&gt;</a:t>
            </a:r>
            <a:r>
              <a:rPr lang="en-US" altLang="ko-KR" sz="2400" dirty="0" smtClean="0"/>
              <a:t>, </a:t>
            </a:r>
            <a:r>
              <a:rPr lang="en-US" altLang="ko-KR" sz="2400" dirty="0" smtClean="0">
                <a:solidFill>
                  <a:srgbClr val="FF0000"/>
                </a:solidFill>
              </a:rPr>
              <a:t>&lt;button&gt;</a:t>
            </a:r>
            <a:r>
              <a:rPr lang="en-US" altLang="ko-KR" sz="2400" dirty="0" smtClean="0"/>
              <a:t>, </a:t>
            </a:r>
            <a:r>
              <a:rPr lang="en-US" altLang="ko-KR" sz="2400" dirty="0" smtClean="0">
                <a:solidFill>
                  <a:srgbClr val="FF0000"/>
                </a:solidFill>
              </a:rPr>
              <a:t>&lt;input&gt;</a:t>
            </a:r>
            <a:r>
              <a:rPr lang="ko-KR" altLang="en-US" sz="2400" dirty="0" smtClean="0"/>
              <a:t>태그에 클래스명</a:t>
            </a:r>
            <a:endParaRPr lang="en-US" altLang="ko-KR" sz="2400" dirty="0" smtClean="0"/>
          </a:p>
          <a:p>
            <a:r>
              <a:rPr lang="en-US" altLang="ko-KR" sz="2400" dirty="0" smtClean="0"/>
              <a:t>.</a:t>
            </a:r>
            <a:r>
              <a:rPr lang="en-US" altLang="ko-KR" sz="2400" dirty="0" err="1" smtClean="0"/>
              <a:t>btn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을 붙이고 원하는 스타일을 만들기 위해 </a:t>
            </a:r>
            <a:r>
              <a:rPr lang="en-US" altLang="ko-KR" sz="2400" dirty="0" smtClean="0"/>
              <a:t>.</a:t>
            </a:r>
            <a:r>
              <a:rPr lang="en-US" altLang="ko-KR" sz="2400" dirty="0" err="1" smtClean="0"/>
              <a:t>btn</a:t>
            </a:r>
            <a:r>
              <a:rPr lang="en-US" altLang="ko-KR" sz="2400" dirty="0" smtClean="0"/>
              <a:t>-</a:t>
            </a:r>
            <a:r>
              <a:rPr lang="ko-KR" altLang="en-US" sz="2400" dirty="0" smtClean="0"/>
              <a:t>색상테마 클래스명을 쓴다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pPr marL="457200" indent="-457200">
              <a:buAutoNum type="arabicPeriod" startAt="2"/>
            </a:pPr>
            <a:r>
              <a:rPr lang="ko-KR" altLang="en-US" sz="2400" dirty="0" smtClean="0"/>
              <a:t>버튼의 크기를 크거나 작게 변경하려면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-lg</a:t>
            </a:r>
            <a:r>
              <a:rPr lang="en-US" altLang="ko-KR" sz="2400" dirty="0" smtClean="0"/>
              <a:t>, </a:t>
            </a:r>
            <a:r>
              <a:rPr lang="en-US" altLang="ko-KR" sz="2400" dirty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-sm</a:t>
            </a:r>
            <a:r>
              <a:rPr lang="en-US" altLang="ko-KR" sz="2400" dirty="0" smtClean="0"/>
              <a:t>, </a:t>
            </a:r>
            <a:r>
              <a:rPr lang="en-US" altLang="ko-KR" sz="2400" dirty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-xs</a:t>
            </a:r>
            <a:r>
              <a:rPr lang="ko-KR" altLang="en-US" sz="2400" dirty="0" smtClean="0"/>
              <a:t>을 추가한다</a:t>
            </a:r>
            <a:r>
              <a:rPr lang="en-US" altLang="ko-KR" sz="2400" dirty="0" smtClean="0"/>
              <a:t>.</a:t>
            </a:r>
          </a:p>
          <a:p>
            <a:pPr marL="457200" indent="-457200">
              <a:buAutoNum type="arabicPeriod" startAt="2"/>
            </a:pPr>
            <a:endParaRPr lang="en-US" altLang="ko-KR" sz="2400" dirty="0"/>
          </a:p>
          <a:p>
            <a:pPr marL="457200" indent="-457200">
              <a:buAutoNum type="arabicPeriod" startAt="2"/>
            </a:pPr>
            <a:r>
              <a:rPr lang="en-US" altLang="ko-KR" sz="2400" dirty="0" smtClean="0"/>
              <a:t>.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-block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클래스명을 추가하면 가로가 꽉 찬 너비의 버튼을 만들 수 있다</a:t>
            </a:r>
            <a:r>
              <a:rPr lang="en-US" altLang="ko-KR" sz="2400" dirty="0" smtClean="0"/>
              <a:t>.</a:t>
            </a:r>
          </a:p>
          <a:p>
            <a:pPr marL="457200" indent="-457200">
              <a:buAutoNum type="arabicPeriod" startAt="2"/>
            </a:pPr>
            <a:endParaRPr lang="en-US" altLang="ko-KR" sz="2400" dirty="0"/>
          </a:p>
          <a:p>
            <a:pPr marL="457200" indent="-457200">
              <a:buAutoNum type="arabicPeriod" startAt="2"/>
            </a:pPr>
            <a:r>
              <a:rPr lang="ko-KR" altLang="en-US" sz="2400" dirty="0" smtClean="0"/>
              <a:t>일련의 버튼들을 버튼 그룹으로 같이 한 줄에 모으려면 </a:t>
            </a:r>
            <a:r>
              <a:rPr lang="en-US" altLang="ko-KR" sz="2400" dirty="0" smtClean="0"/>
              <a:t>.</a:t>
            </a:r>
            <a:r>
              <a:rPr lang="en-US" altLang="ko-KR" sz="2400" dirty="0" err="1" smtClean="0"/>
              <a:t>btn</a:t>
            </a:r>
            <a:r>
              <a:rPr lang="ko-KR" altLang="en-US" sz="2400" dirty="0" smtClean="0"/>
              <a:t>으로 된 일련의 </a:t>
            </a:r>
            <a:endParaRPr lang="en-US" altLang="ko-KR" sz="2400" dirty="0"/>
          </a:p>
          <a:p>
            <a:r>
              <a:rPr lang="ko-KR" altLang="en-US" sz="2400" dirty="0" smtClean="0"/>
              <a:t>버튼들을 </a:t>
            </a:r>
            <a:r>
              <a:rPr lang="en-US" altLang="ko-KR" sz="2400" dirty="0" smtClean="0"/>
              <a:t>div</a:t>
            </a:r>
            <a:r>
              <a:rPr lang="ko-KR" altLang="en-US" sz="2400" dirty="0" smtClean="0"/>
              <a:t>로 감싸고 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-group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클래스명을 붙여준다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pPr marL="457200" indent="-457200">
              <a:buAutoNum type="arabicPeriod" startAt="5"/>
            </a:pPr>
            <a:r>
              <a:rPr lang="ko-KR" altLang="en-US" sz="2400" dirty="0" smtClean="0"/>
              <a:t>버튼을 가지고 더 복합적인 버튼 </a:t>
            </a:r>
            <a:r>
              <a:rPr lang="ko-KR" altLang="en-US" sz="2400" dirty="0" err="1" smtClean="0"/>
              <a:t>툴바</a:t>
            </a:r>
            <a:r>
              <a:rPr lang="ko-KR" altLang="en-US" sz="2400" dirty="0" smtClean="0"/>
              <a:t> 형태의 </a:t>
            </a:r>
            <a:r>
              <a:rPr lang="ko-KR" altLang="en-US" sz="2400" dirty="0" err="1" smtClean="0"/>
              <a:t>콤포넌트를</a:t>
            </a:r>
            <a:r>
              <a:rPr lang="ko-KR" altLang="en-US" sz="2400" dirty="0" smtClean="0"/>
              <a:t> 만들려면 </a:t>
            </a:r>
            <a:r>
              <a:rPr lang="en-US" altLang="ko-KR" sz="2400" dirty="0" err="1" smtClean="0"/>
              <a:t>btn</a:t>
            </a:r>
            <a:r>
              <a:rPr lang="en-US" altLang="ko-KR" sz="2400" dirty="0" smtClean="0"/>
              <a:t>-group</a:t>
            </a:r>
          </a:p>
          <a:p>
            <a:r>
              <a:rPr lang="ko-KR" altLang="en-US" sz="2400" dirty="0" smtClean="0"/>
              <a:t>들을 모두 감싸는 </a:t>
            </a:r>
            <a:r>
              <a:rPr lang="en-US" altLang="ko-KR" sz="2400" dirty="0" smtClean="0"/>
              <a:t>div</a:t>
            </a:r>
            <a:r>
              <a:rPr lang="ko-KR" altLang="en-US" sz="2400" dirty="0" smtClean="0"/>
              <a:t>를 만들고</a:t>
            </a:r>
            <a:r>
              <a:rPr lang="ko-KR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-toolbar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클래스명을 붙여준다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r>
              <a:rPr lang="en-US" altLang="ko-KR" sz="2400" dirty="0" smtClean="0"/>
              <a:t>6. </a:t>
            </a:r>
            <a:r>
              <a:rPr lang="ko-KR" altLang="en-US" sz="2400" dirty="0" smtClean="0"/>
              <a:t>버튼 그룹이 수평이 아닌 수직으로 쌓이고 싶다면</a:t>
            </a:r>
            <a:r>
              <a:rPr lang="ko-KR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-group-vertical </a:t>
            </a:r>
            <a:r>
              <a:rPr lang="ko-KR" altLang="en-US" sz="2400" dirty="0" smtClean="0"/>
              <a:t>클래스명 </a:t>
            </a:r>
            <a:endParaRPr lang="en-US" altLang="ko-KR" sz="2400" dirty="0" smtClean="0"/>
          </a:p>
          <a:p>
            <a:r>
              <a:rPr lang="ko-KR" altLang="en-US" sz="2400" dirty="0" smtClean="0"/>
              <a:t>을 부여한다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520035" y="447833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999160" y="1156421"/>
            <a:ext cx="573504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5784621" y="1156421"/>
            <a:ext cx="1306291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7316424" y="1156421"/>
            <a:ext cx="1120210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6316887" y="2260602"/>
            <a:ext cx="3258433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944745" y="2985221"/>
            <a:ext cx="1487903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3497399" y="4123908"/>
            <a:ext cx="1636693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4672482" y="5245342"/>
            <a:ext cx="1800362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7618287" y="5918202"/>
            <a:ext cx="2716158" cy="3982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952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부트스트랩이란</a:t>
            </a:r>
            <a:r>
              <a:rPr lang="en-US" altLang="ko-KR" smtClean="0"/>
              <a:t>?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60746" y="1121915"/>
            <a:ext cx="11519628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400" dirty="0" smtClean="0"/>
              <a:t>간편하게 버튼을 만들기 위해 </a:t>
            </a:r>
            <a:r>
              <a:rPr lang="en-US" altLang="ko-KR" sz="2400" dirty="0" smtClean="0">
                <a:solidFill>
                  <a:srgbClr val="FF0000"/>
                </a:solidFill>
              </a:rPr>
              <a:t>&lt;a&gt;</a:t>
            </a:r>
            <a:r>
              <a:rPr lang="en-US" altLang="ko-KR" sz="2400" dirty="0" smtClean="0"/>
              <a:t>, </a:t>
            </a:r>
            <a:r>
              <a:rPr lang="en-US" altLang="ko-KR" sz="2400" dirty="0" smtClean="0">
                <a:solidFill>
                  <a:srgbClr val="FF0000"/>
                </a:solidFill>
              </a:rPr>
              <a:t>&lt;button&gt;</a:t>
            </a:r>
            <a:r>
              <a:rPr lang="en-US" altLang="ko-KR" sz="2400" dirty="0" smtClean="0"/>
              <a:t>, </a:t>
            </a:r>
            <a:r>
              <a:rPr lang="en-US" altLang="ko-KR" sz="2400" dirty="0" smtClean="0">
                <a:solidFill>
                  <a:srgbClr val="FF0000"/>
                </a:solidFill>
              </a:rPr>
              <a:t>&lt;input&gt;</a:t>
            </a:r>
            <a:r>
              <a:rPr lang="ko-KR" altLang="en-US" sz="2400" dirty="0" smtClean="0"/>
              <a:t>태그에 클래스명</a:t>
            </a:r>
            <a:endParaRPr lang="en-US" altLang="ko-KR" sz="2400" dirty="0" smtClean="0"/>
          </a:p>
          <a:p>
            <a:r>
              <a:rPr lang="en-US" altLang="ko-KR" sz="2400" dirty="0" smtClean="0"/>
              <a:t>.</a:t>
            </a:r>
            <a:r>
              <a:rPr lang="en-US" altLang="ko-KR" sz="2400" dirty="0" err="1" smtClean="0"/>
              <a:t>btn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을 붙이고 원하는 스타일을 만들기 위해 </a:t>
            </a:r>
            <a:r>
              <a:rPr lang="en-US" altLang="ko-KR" sz="2400" dirty="0" smtClean="0"/>
              <a:t>.</a:t>
            </a:r>
            <a:r>
              <a:rPr lang="en-US" altLang="ko-KR" sz="2400" dirty="0" err="1" smtClean="0"/>
              <a:t>btn</a:t>
            </a:r>
            <a:r>
              <a:rPr lang="en-US" altLang="ko-KR" sz="2400" dirty="0" smtClean="0"/>
              <a:t>-</a:t>
            </a:r>
            <a:r>
              <a:rPr lang="ko-KR" altLang="en-US" sz="2400" dirty="0" smtClean="0"/>
              <a:t>색상테마 클래스명을 쓴다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pPr marL="457200" indent="-457200">
              <a:buAutoNum type="arabicPeriod" startAt="2"/>
            </a:pPr>
            <a:r>
              <a:rPr lang="ko-KR" altLang="en-US" sz="2400" dirty="0" smtClean="0"/>
              <a:t>버튼의 크기를 크거나 작게 변경하려면 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-lg</a:t>
            </a:r>
            <a:r>
              <a:rPr lang="en-US" altLang="ko-KR" sz="2400" dirty="0" smtClean="0"/>
              <a:t>, </a:t>
            </a:r>
            <a:r>
              <a:rPr lang="en-US" altLang="ko-KR" sz="2400" dirty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-sm</a:t>
            </a:r>
            <a:r>
              <a:rPr lang="en-US" altLang="ko-KR" sz="2400" dirty="0" smtClean="0"/>
              <a:t>, </a:t>
            </a:r>
            <a:r>
              <a:rPr lang="en-US" altLang="ko-KR" sz="2400" dirty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-xs</a:t>
            </a:r>
            <a:r>
              <a:rPr lang="ko-KR" altLang="en-US" sz="2400" dirty="0" smtClean="0"/>
              <a:t>을 추가한다</a:t>
            </a:r>
            <a:r>
              <a:rPr lang="en-US" altLang="ko-KR" sz="2400" dirty="0" smtClean="0"/>
              <a:t>.</a:t>
            </a:r>
          </a:p>
          <a:p>
            <a:pPr marL="457200" indent="-457200">
              <a:buAutoNum type="arabicPeriod" startAt="2"/>
            </a:pPr>
            <a:endParaRPr lang="en-US" altLang="ko-KR" sz="2400" dirty="0"/>
          </a:p>
          <a:p>
            <a:pPr marL="457200" indent="-457200">
              <a:buAutoNum type="arabicPeriod" startAt="2"/>
            </a:pPr>
            <a:r>
              <a:rPr lang="en-US" altLang="ko-KR" sz="2400" dirty="0" smtClean="0"/>
              <a:t>.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-block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클래스명을 추가하면 가로가 꽉 찬 너비의 버튼을 만들 수 있다</a:t>
            </a:r>
            <a:r>
              <a:rPr lang="en-US" altLang="ko-KR" sz="2400" dirty="0" smtClean="0"/>
              <a:t>.</a:t>
            </a:r>
          </a:p>
          <a:p>
            <a:pPr marL="457200" indent="-457200">
              <a:buAutoNum type="arabicPeriod" startAt="2"/>
            </a:pPr>
            <a:endParaRPr lang="en-US" altLang="ko-KR" sz="2400" dirty="0"/>
          </a:p>
          <a:p>
            <a:pPr marL="457200" indent="-457200">
              <a:buAutoNum type="arabicPeriod" startAt="2"/>
            </a:pPr>
            <a:r>
              <a:rPr lang="ko-KR" altLang="en-US" sz="2400" dirty="0" smtClean="0"/>
              <a:t>일련의 버튼들을 버튼 그룹으로 같이 한 줄에 모으려면 </a:t>
            </a:r>
            <a:r>
              <a:rPr lang="en-US" altLang="ko-KR" sz="2400" dirty="0" smtClean="0"/>
              <a:t>.</a:t>
            </a:r>
            <a:r>
              <a:rPr lang="en-US" altLang="ko-KR" sz="2400" dirty="0" err="1" smtClean="0"/>
              <a:t>btn</a:t>
            </a:r>
            <a:r>
              <a:rPr lang="ko-KR" altLang="en-US" sz="2400" dirty="0" smtClean="0"/>
              <a:t>으로 된 일련의 </a:t>
            </a:r>
            <a:endParaRPr lang="en-US" altLang="ko-KR" sz="2400" dirty="0"/>
          </a:p>
          <a:p>
            <a:r>
              <a:rPr lang="ko-KR" altLang="en-US" sz="2400" dirty="0" smtClean="0"/>
              <a:t>버튼들을 </a:t>
            </a:r>
            <a:r>
              <a:rPr lang="en-US" altLang="ko-KR" sz="2400" dirty="0" smtClean="0"/>
              <a:t>div</a:t>
            </a:r>
            <a:r>
              <a:rPr lang="ko-KR" altLang="en-US" sz="2400" dirty="0" smtClean="0"/>
              <a:t>로 감싸고 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-group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클래스명을 붙여준다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pPr marL="457200" indent="-457200">
              <a:buAutoNum type="arabicPeriod" startAt="5"/>
            </a:pPr>
            <a:r>
              <a:rPr lang="ko-KR" altLang="en-US" sz="2400" dirty="0" smtClean="0"/>
              <a:t>버튼을 가지고 더 복합적인 버튼 </a:t>
            </a:r>
            <a:r>
              <a:rPr lang="ko-KR" altLang="en-US" sz="2400" dirty="0" err="1" smtClean="0"/>
              <a:t>툴바</a:t>
            </a:r>
            <a:r>
              <a:rPr lang="ko-KR" altLang="en-US" sz="2400" dirty="0" smtClean="0"/>
              <a:t> 형태의 </a:t>
            </a:r>
            <a:r>
              <a:rPr lang="ko-KR" altLang="en-US" sz="2400" dirty="0" err="1" smtClean="0"/>
              <a:t>콤포넌트를</a:t>
            </a:r>
            <a:r>
              <a:rPr lang="ko-KR" altLang="en-US" sz="2400" dirty="0" smtClean="0"/>
              <a:t> 만들려면 </a:t>
            </a:r>
            <a:r>
              <a:rPr lang="en-US" altLang="ko-KR" sz="2400" dirty="0" err="1" smtClean="0"/>
              <a:t>btn</a:t>
            </a:r>
            <a:r>
              <a:rPr lang="en-US" altLang="ko-KR" sz="2400" dirty="0" smtClean="0"/>
              <a:t>-group</a:t>
            </a:r>
          </a:p>
          <a:p>
            <a:r>
              <a:rPr lang="ko-KR" altLang="en-US" sz="2400" dirty="0" smtClean="0"/>
              <a:t>들을 모두 감싸는 </a:t>
            </a:r>
            <a:r>
              <a:rPr lang="en-US" altLang="ko-KR" sz="2400" dirty="0" smtClean="0"/>
              <a:t>div</a:t>
            </a:r>
            <a:r>
              <a:rPr lang="ko-KR" altLang="en-US" sz="2400" dirty="0" smtClean="0"/>
              <a:t>를 만들고</a:t>
            </a:r>
            <a:r>
              <a:rPr lang="ko-KR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-toolbar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클래스명을 붙여준다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/>
          </a:p>
          <a:p>
            <a:r>
              <a:rPr lang="en-US" altLang="ko-KR" sz="2400" dirty="0" smtClean="0"/>
              <a:t>6. </a:t>
            </a:r>
            <a:r>
              <a:rPr lang="ko-KR" altLang="en-US" sz="2400" dirty="0" smtClean="0"/>
              <a:t>버튼 그룹이 수평이 아닌 수직으로 쌓이고 싶다면</a:t>
            </a:r>
            <a:r>
              <a:rPr lang="ko-KR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btn</a:t>
            </a:r>
            <a:r>
              <a:rPr lang="en-US" altLang="ko-KR" sz="2400" dirty="0" smtClean="0">
                <a:solidFill>
                  <a:srgbClr val="FF0000"/>
                </a:solidFill>
              </a:rPr>
              <a:t>-group-vertical </a:t>
            </a:r>
            <a:r>
              <a:rPr lang="ko-KR" altLang="en-US" sz="2400" dirty="0" smtClean="0"/>
              <a:t>클래스명 </a:t>
            </a:r>
            <a:endParaRPr lang="en-US" altLang="ko-KR" sz="2400" dirty="0" smtClean="0"/>
          </a:p>
          <a:p>
            <a:r>
              <a:rPr lang="ko-KR" altLang="en-US" sz="2400" dirty="0" smtClean="0"/>
              <a:t>을 부여한다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520035" y="447833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ko-KR" altLang="en-US" sz="2800" b="1" cap="all" dirty="0" smtClean="0">
                <a:ln w="0"/>
                <a:solidFill>
                  <a:srgbClr val="0070C0"/>
                </a:solidFill>
                <a:effectLst>
                  <a:reflection blurRad="12700" stA="50000" endPos="50000" dist="5000" dir="5400000" sy="-100000" rotWithShape="0"/>
                </a:effectLst>
              </a:rPr>
              <a:t>꼭 기억해야 할 포인트 정리</a:t>
            </a:r>
            <a:endParaRPr lang="ko-KR" altLang="en-US" sz="2800" b="1" cap="all" dirty="0">
              <a:ln w="0"/>
              <a:solidFill>
                <a:srgbClr val="0070C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999160" y="1156421"/>
            <a:ext cx="573504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5784621" y="1156421"/>
            <a:ext cx="1306291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7316424" y="1156421"/>
            <a:ext cx="1120210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6316887" y="2260602"/>
            <a:ext cx="3258433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944745" y="2985221"/>
            <a:ext cx="1487903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3497399" y="4123908"/>
            <a:ext cx="1636693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4689735" y="5210836"/>
            <a:ext cx="1800362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7618287" y="5918202"/>
            <a:ext cx="2716158" cy="3982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986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JAVASCRIPT</a:t>
            </a:r>
            <a:endParaRPr lang="ko-KR" altLang="en-US"/>
          </a:p>
        </p:txBody>
      </p:sp>
      <p:pic>
        <p:nvPicPr>
          <p:cNvPr id="3075" name="Picture 3" descr="D:\camtasia\end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757" y="1702699"/>
            <a:ext cx="3171825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BC98-553E-45DD-9F6C-B6C341F9C339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499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1643</TotalTime>
  <Words>945</Words>
  <Application>Microsoft Office PowerPoint</Application>
  <PresentationFormat>사용자 지정</PresentationFormat>
  <Paragraphs>158</Paragraphs>
  <Slides>14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5" baseType="lpstr">
      <vt:lpstr>Office 테마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부트스트랩이란?</vt:lpstr>
      <vt:lpstr>JAVASCRIPT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Hello! Bootstrap</dc:title>
  <dc:creator>Media4th</dc:creator>
  <cp:lastModifiedBy>Windows 사용자</cp:lastModifiedBy>
  <cp:revision>148</cp:revision>
  <dcterms:created xsi:type="dcterms:W3CDTF">2014-03-13T01:44:49Z</dcterms:created>
  <dcterms:modified xsi:type="dcterms:W3CDTF">2020-04-18T06:57:00Z</dcterms:modified>
</cp:coreProperties>
</file>